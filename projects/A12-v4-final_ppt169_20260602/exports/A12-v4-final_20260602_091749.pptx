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各位评委老师好，我们的参赛作品是"泛雅 AI 互动智课系统"。核心是把静态PPT、PDF课件变成可讲授、可问答、可续接的动态学习内容。前30秒请抓住两个词——"节点化底座"和"教学闭环"。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说三个核心能力。第一，上传即生成讲稿——三阶段解耦解析：先拆页、再识别、后聚合。第二，学生提问时，先检索当前页内容再逐级扩大范围。第三，问答结束自动判定理解程度，三种模式精确续接。五环不是并列的，而是因果链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教育数字化背景下，泛雅平台沉淀了大量课件资源。但单点调用大模型解决不了教学闭环问题——需要编排、降级和续接的系统能力。这是出发点。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三类角色的核心痛点。教师端学情看不见、补讲不精准；学生端打断后进度丢、问答不精准；平台端静态课件智化难。根因是同一个——静态课件只有展示层。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"一套底座，两端分工"。两个设计要点：编排层不做AI推理——AI推理延迟不可控；双引擎降级保障课堂不中断。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教师端五步流程。重点说两步：智课生成是三阶段解耦，每阶段独立优化。学情查看是四维加权评分，精准定位班级共性卡点。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学生端三个重点。第一，三级级联上下文构建，精确优先。第二，苏格拉底式约束——禁止直接给答案。第三，断点续学不是"继续播放"，而是三态判定。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用一条故事链把两端串起来。从上传到解析到学习到问答到续接到学情回传，完整闭环。一气呵成讲完，45秒内。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三层编排加一层支撑。核心是编排与能力分离——编排层不做AI推理。5个Dify工作流覆盖全部场景，Dify挂了自动降级。镇场页，90秒。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四个设计决策。每个决策都是在开发中面对真实问题做出的。编排分离、能力降级、节点语言、知识优先——共同支撑韧性、扩展性和教学一致性。镇场页，90秒。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三阶段解耦和节点双重结构。阶段独立可优化——Stage1遗忘不影响Stage2。节点不是扁平标签，而包含知识图谱和脚本片段双重结构。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解析链的技术深度。VLM渐进增强——文本提取始终可用，视觉做可选增强。标准化校验+引用一致性修复保证数据质量。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问答续接两条流。问答流：三级上下文→课程知识优先→苏格拉底回答→SSE三事件。续接流：理解程度判定→三态决策→节点级恢复。60秒。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三大模块全覆盖赛题要求。智课生成、实时问答、进度续接各对应独立算法实现。表格展示，快速过，45秒。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项目进展真实可查。已完成端到端闭环开发，已进入学校推广阶段。用真实部署背书。60秒。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DeepCore团队，五人在线全员攻坚。主责锚点+全员协同模式。各角色一句话讲清能回答什么问题。注意停顿，让评委看清楚团队结构。60秒。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谢谢观看。结尾重新点明三个技术关键词：节点化底座、编排与能力分离、教学闭环。欢迎提问。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3E86"/>
              </a:gs>
              <a:gs pos="40000">
                <a:srgbClr val="3A3FA0"/>
              </a:gs>
              <a:gs pos="100000">
                <a:srgbClr val="5B3FB0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" y="381000"/>
            <a:ext cx="1143000" cy="1143000"/>
          </a:xfrm>
          <a:prstGeom prst="ellipse">
            <a:avLst/>
          </a:prstGeom>
          <a:noFill/>
          <a:ln w="19050">
            <a:solidFill>
              <a:srgbClr val="FFFFFF">
                <a:alpha val="6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571500" y="-381000"/>
            <a:ext cx="2286000" cy="22860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9715500" y="4953000"/>
            <a:ext cx="1524000" cy="1524000"/>
          </a:xfrm>
          <a:prstGeom prst="ellipse">
            <a:avLst/>
          </a:prstGeom>
          <a:noFill/>
          <a:ln w="19050">
            <a:solidFill>
              <a:srgbClr val="FFFFFF">
                <a:alpha val="6000"/>
              </a:srgbClr>
            </a:solidFill>
          </a:ln>
        </p:spPr>
      </p:sp>
      <p:sp>
        <p:nvSpPr>
          <p:cNvPr id="6" name="Ellipse 6"/>
          <p:cNvSpPr/>
          <p:nvPr/>
        </p:nvSpPr>
        <p:spPr>
          <a:xfrm>
            <a:off x="8667750" y="4191000"/>
            <a:ext cx="2667000" cy="26670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7" name="Ellipse 7"/>
          <p:cNvSpPr/>
          <p:nvPr/>
        </p:nvSpPr>
        <p:spPr>
          <a:xfrm>
            <a:off x="11049000" y="762000"/>
            <a:ext cx="762000" cy="762000"/>
          </a:xfrm>
          <a:prstGeom prst="ellipse">
            <a:avLst/>
          </a:prstGeom>
          <a:noFill/>
          <a:ln w="14288">
            <a:solidFill>
              <a:srgbClr val="FFFFFF">
                <a:alpha val="5000"/>
              </a:srgbClr>
            </a:solidFill>
          </a:ln>
        </p:spPr>
      </p:sp>
      <p:sp>
        <p:nvSpPr>
          <p:cNvPr id="8" name="Ellipse 8"/>
          <p:cNvSpPr/>
          <p:nvPr/>
        </p:nvSpPr>
        <p:spPr>
          <a:xfrm>
            <a:off x="285750" y="5905500"/>
            <a:ext cx="571500" cy="571500"/>
          </a:xfrm>
          <a:prstGeom prst="ellipse">
            <a:avLst/>
          </a:prstGeom>
          <a:noFill/>
          <a:ln w="14288">
            <a:solidFill>
              <a:srgbClr val="FFFFFF">
                <a:alpha val="5000"/>
              </a:srgbClr>
            </a:solidFill>
          </a:ln>
        </p:spPr>
      </p:sp>
      <p:grpSp>
        <p:nvGrpSpPr>
          <p:cNvPr id="18" name="Group 18"/>
          <p:cNvGrpSpPr/>
          <p:nvPr/>
        </p:nvGrpSpPr>
        <p:grpSpPr>
          <a:xfrm>
            <a:off x="923925" y="1409700"/>
            <a:ext cx="10058400" cy="4800600"/>
            <a:chOff x="923925" y="1409700"/>
            <a:chExt cx="10058400" cy="4800600"/>
          </a:xfrm>
        </p:grpSpPr>
        <p:sp>
          <p:nvSpPr>
            <p:cNvPr id="9" name="Ellipse 9"/>
            <p:cNvSpPr/>
            <p:nvPr/>
          </p:nvSpPr>
          <p:spPr>
            <a:xfrm>
              <a:off x="923925" y="1876425"/>
              <a:ext cx="57150" cy="5715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885950" y="2362200"/>
              <a:ext cx="38100" cy="381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2828925" y="1685925"/>
              <a:ext cx="57150" cy="5715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505950" y="1409700"/>
              <a:ext cx="38100" cy="381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0448925" y="1876425"/>
              <a:ext cx="57150" cy="5715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8553450" y="2362200"/>
              <a:ext cx="38100" cy="381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9982200" y="4743450"/>
              <a:ext cx="38100" cy="381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0925175" y="5210175"/>
              <a:ext cx="57150" cy="5715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9029700" y="6172200"/>
              <a:ext cx="38100" cy="381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</p:grpSp>
      <p:sp>
        <p:nvSpPr>
          <p:cNvPr id="19" name="Rectangle 19"/>
          <p:cNvSpPr/>
          <p:nvPr/>
        </p:nvSpPr>
        <p:spPr>
          <a:xfrm>
            <a:off x="4667250" y="1143000"/>
            <a:ext cx="2857500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183053" y="1229678"/>
            <a:ext cx="18258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Mod val="85000"/>
                  </a:srgbClr>
                </a:solidFill>
                <a:latin typeface="Arial"/>
                <a:ea typeface="Microsoft YaHei"/>
                <a:cs typeface="Arial"/>
              </a:rPr>
              <a:t>服创大赛 A12 · 智能计算赛道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59443" y="1863090"/>
            <a:ext cx="6473114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143500" y="2619375"/>
            <a:ext cx="1905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E8C80"/>
              </a:gs>
              <a:gs pos="100000">
                <a:srgbClr val="7B5BE0"/>
              </a:gs>
            </a:gsLst>
            <a:lin ang="0" scaled="1"/>
          </a:gra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2311479" y="2981325"/>
            <a:ext cx="756904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FFFF">
                    <a:alphaMod val="85000"/>
                  </a:srgbClr>
                </a:solidFill>
                <a:latin typeface="Arial"/>
                <a:ea typeface="Microsoft YaHei"/>
                <a:cs typeface="Arial"/>
              </a:rPr>
              <a:t>以节点化内容底座为核心，实现课件解析→智能讲授→上下文问答→断点续接的教学闭环</a:t>
            </a:r>
          </a:p>
        </p:txBody>
      </p:sp>
      <p:sp>
        <p:nvSpPr>
          <p:cNvPr id="24" name="Rectangle 24"/>
          <p:cNvSpPr/>
          <p:nvPr/>
        </p:nvSpPr>
        <p:spPr>
          <a:xfrm>
            <a:off x="1905000" y="4286250"/>
            <a:ext cx="838200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5360670" y="4537710"/>
            <a:ext cx="14706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命题企业：超星集团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960620" y="4775835"/>
            <a:ext cx="22707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应用场景：高校通识课自主学习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543679" y="5108258"/>
            <a:ext cx="110464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DEEPCORE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823585" y="5371624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参赛团队</a:t>
            </a:r>
          </a:p>
        </p:txBody>
      </p:sp>
      <p:sp>
        <p:nvSpPr>
          <p:cNvPr id="29" name="Rectangle 29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0E8C80">
              <a:alpha val="3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方案总览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7210" y="661035"/>
            <a:ext cx="800757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一份课件，秒变会讲课、能答疑、可续接的智课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095375"/>
            <a:ext cx="7620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428750"/>
            <a:ext cx="3429000" cy="2667000"/>
          </a:xfrm>
          <a:prstGeom prst="roundRect">
            <a:avLst>
              <a:gd name="adj" fmla="val 4286"/>
            </a:avLst>
          </a:prstGeom>
          <a:gradFill>
            <a:gsLst>
              <a:gs pos="0">
                <a:srgbClr val="FFFFFF"/>
              </a:gs>
              <a:gs pos="100000">
                <a:srgbClr val="F8FAFC"/>
              </a:gs>
            </a:gsLst>
            <a:lin ang="5400000" scaled="1"/>
          </a:gradFill>
          <a:ln w="14288">
            <a:solidFill>
              <a:srgbClr val="D0D7E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1428750"/>
            <a:ext cx="3429000" cy="57150"/>
          </a:xfrm>
          <a:prstGeom prst="roundRect">
            <a:avLst>
              <a:gd name="adj" fmla="val 50000"/>
            </a:avLst>
          </a:prstGeom>
          <a:solidFill>
            <a:srgbClr val="1E6FE0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901699" y="1736725"/>
            <a:ext cx="177802" cy="222251"/>
            <a:chOff x="901699" y="1736725"/>
            <a:chExt cx="177802" cy="222251"/>
          </a:xfrm>
        </p:grpSpPr>
        <p:sp>
          <p:nvSpPr>
            <p:cNvPr id="10" name="Freeform 10"/>
            <p:cNvSpPr/>
            <p:nvPr/>
          </p:nvSpPr>
          <p:spPr>
            <a:xfrm>
              <a:off x="901699" y="1736725"/>
              <a:ext cx="177802" cy="222251"/>
            </a:xfrm>
            <a:custGeom>
              <a:avLst/>
              <a:gdLst/>
              <a:ahLst/>
              <a:cxnLst/>
              <a:rect l="l" t="t" r="r" b="b"/>
              <a:pathLst>
                <a:path w="177802" h="222251">
                  <a:moveTo>
                    <a:pt x="88901" y="0"/>
                  </a:moveTo>
                  <a:lnTo>
                    <a:pt x="90201" y="78"/>
                  </a:lnTo>
                  <a:cubicBezTo>
                    <a:pt x="95307" y="680"/>
                    <a:pt x="99334" y="4706"/>
                    <a:pt x="99936" y="9812"/>
                  </a:cubicBezTo>
                  <a:lnTo>
                    <a:pt x="100013" y="11112"/>
                  </a:lnTo>
                  <a:lnTo>
                    <a:pt x="100013" y="55562"/>
                  </a:lnTo>
                  <a:lnTo>
                    <a:pt x="100069" y="57229"/>
                  </a:lnTo>
                  <a:cubicBezTo>
                    <a:pt x="100891" y="68163"/>
                    <a:pt x="109563" y="76864"/>
                    <a:pt x="120494" y="77721"/>
                  </a:cubicBezTo>
                  <a:lnTo>
                    <a:pt x="122238" y="77787"/>
                  </a:lnTo>
                  <a:lnTo>
                    <a:pt x="166688" y="77787"/>
                  </a:lnTo>
                  <a:lnTo>
                    <a:pt x="167989" y="77865"/>
                  </a:lnTo>
                  <a:cubicBezTo>
                    <a:pt x="173095" y="78467"/>
                    <a:pt x="177121" y="82494"/>
                    <a:pt x="177723" y="87600"/>
                  </a:cubicBezTo>
                  <a:lnTo>
                    <a:pt x="177801" y="88900"/>
                  </a:lnTo>
                  <a:lnTo>
                    <a:pt x="177801" y="188912"/>
                  </a:lnTo>
                  <a:cubicBezTo>
                    <a:pt x="177802" y="206565"/>
                    <a:pt x="164042" y="221159"/>
                    <a:pt x="146419" y="222194"/>
                  </a:cubicBezTo>
                  <a:lnTo>
                    <a:pt x="144463" y="222250"/>
                  </a:lnTo>
                  <a:lnTo>
                    <a:pt x="33338" y="222250"/>
                  </a:lnTo>
                  <a:cubicBezTo>
                    <a:pt x="15686" y="222251"/>
                    <a:pt x="1092" y="208491"/>
                    <a:pt x="57" y="190868"/>
                  </a:cubicBezTo>
                  <a:lnTo>
                    <a:pt x="1" y="188913"/>
                  </a:lnTo>
                  <a:lnTo>
                    <a:pt x="1" y="33338"/>
                  </a:lnTo>
                  <a:cubicBezTo>
                    <a:pt x="0" y="15685"/>
                    <a:pt x="13760" y="1091"/>
                    <a:pt x="31383" y="56"/>
                  </a:cubicBezTo>
                  <a:lnTo>
                    <a:pt x="33338" y="0"/>
                  </a:lnTo>
                  <a:close/>
                  <a:moveTo>
                    <a:pt x="122238" y="155575"/>
                  </a:moveTo>
                  <a:lnTo>
                    <a:pt x="55563" y="155575"/>
                  </a:lnTo>
                  <a:cubicBezTo>
                    <a:pt x="49426" y="155575"/>
                    <a:pt x="44451" y="160550"/>
                    <a:pt x="44451" y="166688"/>
                  </a:cubicBezTo>
                  <a:cubicBezTo>
                    <a:pt x="44451" y="172825"/>
                    <a:pt x="49426" y="177800"/>
                    <a:pt x="55563" y="177800"/>
                  </a:cubicBezTo>
                  <a:lnTo>
                    <a:pt x="122238" y="177800"/>
                  </a:lnTo>
                  <a:cubicBezTo>
                    <a:pt x="128376" y="177800"/>
                    <a:pt x="133351" y="172825"/>
                    <a:pt x="133351" y="166688"/>
                  </a:cubicBezTo>
                  <a:cubicBezTo>
                    <a:pt x="133351" y="160550"/>
                    <a:pt x="128376" y="155575"/>
                    <a:pt x="122238" y="155575"/>
                  </a:cubicBezTo>
                  <a:moveTo>
                    <a:pt x="122238" y="111125"/>
                  </a:moveTo>
                  <a:lnTo>
                    <a:pt x="55563" y="111125"/>
                  </a:lnTo>
                  <a:cubicBezTo>
                    <a:pt x="49426" y="111125"/>
                    <a:pt x="44451" y="116100"/>
                    <a:pt x="44451" y="122237"/>
                  </a:cubicBezTo>
                  <a:cubicBezTo>
                    <a:pt x="44451" y="128375"/>
                    <a:pt x="49426" y="133350"/>
                    <a:pt x="55563" y="133350"/>
                  </a:cubicBezTo>
                  <a:lnTo>
                    <a:pt x="122238" y="133350"/>
                  </a:lnTo>
                  <a:cubicBezTo>
                    <a:pt x="128376" y="133350"/>
                    <a:pt x="133351" y="128375"/>
                    <a:pt x="133351" y="122237"/>
                  </a:cubicBezTo>
                  <a:cubicBezTo>
                    <a:pt x="133351" y="116100"/>
                    <a:pt x="128376" y="111125"/>
                    <a:pt x="122238" y="111125"/>
                  </a:cubicBezTo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023926" y="1747826"/>
              <a:ext cx="44461" cy="44461"/>
            </a:xfrm>
            <a:custGeom>
              <a:avLst/>
              <a:gdLst/>
              <a:ahLst/>
              <a:cxnLst/>
              <a:rect l="l" t="t" r="r" b="b"/>
              <a:pathLst>
                <a:path w="44461" h="44461">
                  <a:moveTo>
                    <a:pt x="44461" y="44461"/>
                  </a:moveTo>
                  <a:lnTo>
                    <a:pt x="11" y="444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219200" y="174307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传即生成讲稿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2962" y="2164556"/>
            <a:ext cx="24288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三阶段解耦解析，从文本提取到跨页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2962" y="2393156"/>
            <a:ext cx="24288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语义聚合，自动生成可编辑的结构化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2962" y="262175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讲授脚本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57250" y="3238500"/>
            <a:ext cx="28575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44868" y="3371374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核心机制：三阶段解耦管线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5820" y="3617595"/>
            <a:ext cx="25551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Markdown理解 → 节点树构建 → 逐节点脚本生成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381500" y="1428750"/>
            <a:ext cx="3429000" cy="2667000"/>
          </a:xfrm>
          <a:prstGeom prst="roundRect">
            <a:avLst>
              <a:gd name="adj" fmla="val 4286"/>
            </a:avLst>
          </a:prstGeom>
          <a:gradFill>
            <a:gsLst>
              <a:gs pos="0">
                <a:srgbClr val="FFFFFF"/>
              </a:gs>
              <a:gs pos="100000">
                <a:srgbClr val="F8FAFC"/>
              </a:gs>
            </a:gsLst>
            <a:lin ang="5400000" scaled="1"/>
          </a:gradFill>
          <a:ln w="14288">
            <a:solidFill>
              <a:srgbClr val="D0D7E2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4381500" y="1428750"/>
            <a:ext cx="3429000" cy="57150"/>
          </a:xfrm>
          <a:prstGeom prst="roundRect">
            <a:avLst>
              <a:gd name="adj" fmla="val 50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4689475" y="1747838"/>
            <a:ext cx="222250" cy="211657"/>
          </a:xfrm>
          <a:custGeom>
            <a:avLst/>
            <a:gdLst/>
            <a:ahLst/>
            <a:cxnLst/>
            <a:rect l="l" t="t" r="r" b="b"/>
            <a:pathLst>
              <a:path w="222250" h="211657">
                <a:moveTo>
                  <a:pt x="177800" y="0"/>
                </a:moveTo>
                <a:cubicBezTo>
                  <a:pt x="202349" y="0"/>
                  <a:pt x="222250" y="19901"/>
                  <a:pt x="222250" y="44450"/>
                </a:cubicBezTo>
                <a:lnTo>
                  <a:pt x="222250" y="133350"/>
                </a:lnTo>
                <a:cubicBezTo>
                  <a:pt x="222250" y="157899"/>
                  <a:pt x="202349" y="177800"/>
                  <a:pt x="177800" y="177800"/>
                </a:cubicBezTo>
                <a:lnTo>
                  <a:pt x="125305" y="177800"/>
                </a:lnTo>
                <a:lnTo>
                  <a:pt x="72387" y="209548"/>
                </a:lnTo>
                <a:cubicBezTo>
                  <a:pt x="69149" y="211492"/>
                  <a:pt x="65145" y="211657"/>
                  <a:pt x="61757" y="209988"/>
                </a:cubicBezTo>
                <a:cubicBezTo>
                  <a:pt x="58370" y="208319"/>
                  <a:pt x="56061" y="205044"/>
                  <a:pt x="55629" y="201292"/>
                </a:cubicBezTo>
                <a:lnTo>
                  <a:pt x="55563" y="200025"/>
                </a:lnTo>
                <a:lnTo>
                  <a:pt x="55563" y="177800"/>
                </a:lnTo>
                <a:lnTo>
                  <a:pt x="44450" y="177800"/>
                </a:lnTo>
                <a:cubicBezTo>
                  <a:pt x="20765" y="177800"/>
                  <a:pt x="1240" y="159228"/>
                  <a:pt x="56" y="135573"/>
                </a:cubicBezTo>
                <a:lnTo>
                  <a:pt x="0" y="133350"/>
                </a:lnTo>
                <a:lnTo>
                  <a:pt x="0" y="44450"/>
                </a:lnTo>
                <a:cubicBezTo>
                  <a:pt x="0" y="19901"/>
                  <a:pt x="19901" y="0"/>
                  <a:pt x="44450" y="0"/>
                </a:cubicBezTo>
                <a:close/>
                <a:moveTo>
                  <a:pt x="133350" y="100012"/>
                </a:moveTo>
                <a:lnTo>
                  <a:pt x="66675" y="100012"/>
                </a:lnTo>
                <a:cubicBezTo>
                  <a:pt x="60538" y="100012"/>
                  <a:pt x="55563" y="104988"/>
                  <a:pt x="55563" y="111125"/>
                </a:cubicBezTo>
                <a:cubicBezTo>
                  <a:pt x="55563" y="117262"/>
                  <a:pt x="60538" y="122238"/>
                  <a:pt x="66675" y="122238"/>
                </a:cubicBezTo>
                <a:lnTo>
                  <a:pt x="133350" y="122238"/>
                </a:lnTo>
                <a:cubicBezTo>
                  <a:pt x="139487" y="122238"/>
                  <a:pt x="144463" y="117262"/>
                  <a:pt x="144463" y="111125"/>
                </a:cubicBezTo>
                <a:cubicBezTo>
                  <a:pt x="144463" y="104988"/>
                  <a:pt x="139487" y="100012"/>
                  <a:pt x="133350" y="100012"/>
                </a:cubicBezTo>
                <a:moveTo>
                  <a:pt x="155575" y="55563"/>
                </a:moveTo>
                <a:lnTo>
                  <a:pt x="66675" y="55563"/>
                </a:lnTo>
                <a:cubicBezTo>
                  <a:pt x="60538" y="55563"/>
                  <a:pt x="55563" y="60538"/>
                  <a:pt x="55563" y="66675"/>
                </a:cubicBezTo>
                <a:cubicBezTo>
                  <a:pt x="55563" y="72812"/>
                  <a:pt x="60538" y="77787"/>
                  <a:pt x="66675" y="77787"/>
                </a:cubicBezTo>
                <a:lnTo>
                  <a:pt x="155575" y="77787"/>
                </a:lnTo>
                <a:cubicBezTo>
                  <a:pt x="161712" y="77787"/>
                  <a:pt x="166688" y="72812"/>
                  <a:pt x="166688" y="66675"/>
                </a:cubicBezTo>
                <a:cubicBezTo>
                  <a:pt x="166688" y="60538"/>
                  <a:pt x="161712" y="55563"/>
                  <a:pt x="155575" y="55563"/>
                </a:cubicBezTo>
              </a:path>
            </a:pathLst>
          </a:custGeom>
          <a:solidFill>
            <a:srgbClr val="1E6FE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029200" y="174307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问答秒级响应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52962" y="2164556"/>
            <a:ext cx="24513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本页优先检索 + 溯源生成，回答绑定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52962" y="2393156"/>
            <a:ext cx="21288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课件页码，避免退化成开放聊天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667250" y="3238500"/>
            <a:ext cx="28575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654868" y="3371374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核心机制：三级级联上下文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655820" y="3617595"/>
            <a:ext cx="17390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节点脚本 → 页面内容 → 全页拼接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191500" y="1428750"/>
            <a:ext cx="3429000" cy="2667000"/>
          </a:xfrm>
          <a:prstGeom prst="roundRect">
            <a:avLst>
              <a:gd name="adj" fmla="val 4286"/>
            </a:avLst>
          </a:prstGeom>
          <a:gradFill>
            <a:gsLst>
              <a:gs pos="0">
                <a:srgbClr val="FFFFFF"/>
              </a:gs>
              <a:gs pos="100000">
                <a:srgbClr val="F8FAFC"/>
              </a:gs>
            </a:gsLst>
            <a:lin ang="5400000" scaled="1"/>
          </a:gradFill>
          <a:ln w="14288">
            <a:solidFill>
              <a:srgbClr val="D0D7E2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8191500" y="1428750"/>
            <a:ext cx="3429000" cy="57150"/>
          </a:xfrm>
          <a:prstGeom prst="roundRect">
            <a:avLst>
              <a:gd name="adj" fmla="val 50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31" name="Freeform 31"/>
          <p:cNvSpPr/>
          <p:nvPr/>
        </p:nvSpPr>
        <p:spPr>
          <a:xfrm>
            <a:off x="8543924" y="1747283"/>
            <a:ext cx="166694" cy="201135"/>
          </a:xfrm>
          <a:custGeom>
            <a:avLst/>
            <a:gdLst/>
            <a:ahLst/>
            <a:cxnLst/>
            <a:rect l="l" t="t" r="r" b="b"/>
            <a:pathLst>
              <a:path w="166694" h="201135">
                <a:moveTo>
                  <a:pt x="1" y="11667"/>
                </a:moveTo>
                <a:lnTo>
                  <a:pt x="1" y="189467"/>
                </a:lnTo>
                <a:cubicBezTo>
                  <a:pt x="0" y="193494"/>
                  <a:pt x="2177" y="197206"/>
                  <a:pt x="5691" y="199170"/>
                </a:cubicBezTo>
                <a:cubicBezTo>
                  <a:pt x="9205" y="201135"/>
                  <a:pt x="13507" y="201045"/>
                  <a:pt x="16937" y="198935"/>
                </a:cubicBezTo>
                <a:lnTo>
                  <a:pt x="161399" y="110035"/>
                </a:lnTo>
                <a:cubicBezTo>
                  <a:pt x="164689" y="108014"/>
                  <a:pt x="166694" y="104429"/>
                  <a:pt x="166694" y="100567"/>
                </a:cubicBezTo>
                <a:cubicBezTo>
                  <a:pt x="166694" y="96706"/>
                  <a:pt x="164689" y="93121"/>
                  <a:pt x="161399" y="91100"/>
                </a:cubicBezTo>
                <a:lnTo>
                  <a:pt x="16937" y="2200"/>
                </a:lnTo>
                <a:cubicBezTo>
                  <a:pt x="13507" y="90"/>
                  <a:pt x="9205" y="0"/>
                  <a:pt x="5691" y="1965"/>
                </a:cubicBezTo>
                <a:cubicBezTo>
                  <a:pt x="2177" y="3929"/>
                  <a:pt x="0" y="7641"/>
                  <a:pt x="1" y="11667"/>
                </a:cubicBezTo>
                <a:close/>
              </a:path>
            </a:pathLst>
          </a:custGeom>
          <a:solidFill>
            <a:srgbClr val="1E6FE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839200" y="1743075"/>
            <a:ext cx="15082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打断后自动续接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462962" y="2164556"/>
            <a:ext cx="26013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理解程度三态判定 + 节点级续接定位，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462962" y="2393156"/>
            <a:ext cx="1378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确保学习主线不中断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477250" y="3238500"/>
            <a:ext cx="28575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8464868" y="3371374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核心机制：三态续接模式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465820" y="3617595"/>
            <a:ext cx="20871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none→重讲 / partial→补充 / full→跳过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4476750"/>
            <a:ext cx="11049000" cy="104775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724525" y="4617720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五环教学闭环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1562100" y="4800600"/>
            <a:ext cx="7353300" cy="685800"/>
            <a:chOff x="1562100" y="4800600"/>
            <a:chExt cx="7353300" cy="685800"/>
          </a:xfrm>
        </p:grpSpPr>
        <p:sp>
          <p:nvSpPr>
            <p:cNvPr id="40" name="Ellipse 40"/>
            <p:cNvSpPr/>
            <p:nvPr/>
          </p:nvSpPr>
          <p:spPr>
            <a:xfrm>
              <a:off x="1562100" y="4800600"/>
              <a:ext cx="685800" cy="685800"/>
            </a:xfrm>
            <a:prstGeom prst="ellipse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756100" y="5085874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可讲</a:t>
              </a:r>
            </a:p>
          </p:txBody>
        </p:sp>
        <p:sp>
          <p:nvSpPr>
            <p:cNvPr id="42" name="Polygon 42"/>
            <p:cNvSpPr/>
            <p:nvPr/>
          </p:nvSpPr>
          <p:spPr>
            <a:xfrm>
              <a:off x="2362200" y="50768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2895600" y="4800600"/>
              <a:ext cx="685800" cy="685800"/>
            </a:xfrm>
            <a:prstGeom prst="ellipse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089600" y="5085874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可学</a:t>
              </a:r>
            </a:p>
          </p:txBody>
        </p:sp>
        <p:sp>
          <p:nvSpPr>
            <p:cNvPr id="45" name="Polygon 45"/>
            <p:cNvSpPr/>
            <p:nvPr/>
          </p:nvSpPr>
          <p:spPr>
            <a:xfrm>
              <a:off x="3695700" y="50768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4229100" y="4800600"/>
              <a:ext cx="685800" cy="685800"/>
            </a:xfrm>
            <a:prstGeom prst="ellipse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423100" y="5085874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可问</a:t>
              </a:r>
            </a:p>
          </p:txBody>
        </p:sp>
        <p:sp>
          <p:nvSpPr>
            <p:cNvPr id="48" name="Polygon 48"/>
            <p:cNvSpPr/>
            <p:nvPr/>
          </p:nvSpPr>
          <p:spPr>
            <a:xfrm>
              <a:off x="5029200" y="50768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5562600" y="4800600"/>
              <a:ext cx="685800" cy="685800"/>
            </a:xfrm>
            <a:prstGeom prst="ellipse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756600" y="5085874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可续</a:t>
              </a:r>
            </a:p>
          </p:txBody>
        </p:sp>
        <p:sp>
          <p:nvSpPr>
            <p:cNvPr id="51" name="Polygon 51"/>
            <p:cNvSpPr/>
            <p:nvPr/>
          </p:nvSpPr>
          <p:spPr>
            <a:xfrm>
              <a:off x="6362700" y="50768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6896100" y="4800600"/>
              <a:ext cx="685800" cy="685800"/>
            </a:xfrm>
            <a:prstGeom prst="ellipse">
              <a:avLst/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090100" y="5085874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可评</a:t>
              </a:r>
            </a:p>
          </p:txBody>
        </p:sp>
        <p:sp>
          <p:nvSpPr>
            <p:cNvPr id="54" name="Polygon 54"/>
            <p:cNvSpPr/>
            <p:nvPr/>
          </p:nvSpPr>
          <p:spPr>
            <a:xfrm>
              <a:off x="7696200" y="50768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8229600" y="4800600"/>
              <a:ext cx="685800" cy="685800"/>
            </a:xfrm>
            <a:prstGeom prst="ellipse">
              <a:avLst/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423600" y="5085874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可优</a:t>
              </a: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4539829" y="5292566"/>
            <a:ext cx="311234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五环不是孤立环节——解析是问答的前提，问答产出是续接的输入</a:t>
            </a:r>
          </a:p>
        </p:txBody>
      </p:sp>
      <p:sp>
        <p:nvSpPr>
          <p:cNvPr id="59" name="Rectangle 59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背景分析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15514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泛雅沉淀海量课件，却“可看不可讲”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428750"/>
            <a:ext cx="4572000" cy="4476750"/>
          </a:xfrm>
          <a:prstGeom prst="roundRect">
            <a:avLst>
              <a:gd name="adj" fmla="val 2553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952500" y="1619250"/>
            <a:ext cx="1524000" cy="1524000"/>
          </a:xfrm>
          <a:prstGeom prst="ellipse">
            <a:avLst/>
          </a:prstGeom>
          <a:solidFill>
            <a:srgbClr val="1E6FE0">
              <a:alpha val="10000"/>
            </a:srgb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2381250" y="2190750"/>
            <a:ext cx="952500" cy="952500"/>
          </a:xfrm>
          <a:prstGeom prst="ellipse">
            <a:avLst/>
          </a:prstGeom>
          <a:solidFill>
            <a:srgbClr val="1E6FE0">
              <a:alpha val="8000"/>
            </a:srgb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524000" y="2762250"/>
            <a:ext cx="1143000" cy="1143000"/>
          </a:xfrm>
          <a:prstGeom prst="ellipse">
            <a:avLst/>
          </a:prstGeom>
          <a:solidFill>
            <a:srgbClr val="1E6FE0">
              <a:alpha val="6000"/>
            </a:srgbClr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1595438" y="2278633"/>
            <a:ext cx="238125" cy="198399"/>
          </a:xfrm>
          <a:custGeom>
            <a:avLst/>
            <a:gdLst/>
            <a:ahLst/>
            <a:cxnLst/>
            <a:rect l="l" t="t" r="r" b="b"/>
            <a:pathLst>
              <a:path w="238125" h="198399">
                <a:moveTo>
                  <a:pt x="232172" y="20869"/>
                </a:moveTo>
                <a:cubicBezTo>
                  <a:pt x="235423" y="22746"/>
                  <a:pt x="237599" y="26047"/>
                  <a:pt x="238042" y="29775"/>
                </a:cubicBezTo>
                <a:lnTo>
                  <a:pt x="238125" y="31180"/>
                </a:lnTo>
                <a:lnTo>
                  <a:pt x="238125" y="185961"/>
                </a:lnTo>
                <a:cubicBezTo>
                  <a:pt x="238125" y="190215"/>
                  <a:pt x="235856" y="194145"/>
                  <a:pt x="232172" y="196272"/>
                </a:cubicBezTo>
                <a:cubicBezTo>
                  <a:pt x="228488" y="198399"/>
                  <a:pt x="223949" y="198399"/>
                  <a:pt x="220266" y="196272"/>
                </a:cubicBezTo>
                <a:cubicBezTo>
                  <a:pt x="192872" y="180454"/>
                  <a:pt x="159414" y="179267"/>
                  <a:pt x="130969" y="193105"/>
                </a:cubicBezTo>
                <a:lnTo>
                  <a:pt x="130969" y="12439"/>
                </a:lnTo>
                <a:cubicBezTo>
                  <a:pt x="164270" y="0"/>
                  <a:pt x="201387" y="3092"/>
                  <a:pt x="232172" y="20869"/>
                </a:cubicBezTo>
                <a:moveTo>
                  <a:pt x="107156" y="12451"/>
                </a:moveTo>
                <a:lnTo>
                  <a:pt x="107168" y="193117"/>
                </a:lnTo>
                <a:cubicBezTo>
                  <a:pt x="79876" y="179831"/>
                  <a:pt x="47886" y="180348"/>
                  <a:pt x="21038" y="194510"/>
                </a:cubicBezTo>
                <a:lnTo>
                  <a:pt x="17145" y="196653"/>
                </a:lnTo>
                <a:lnTo>
                  <a:pt x="15919" y="197177"/>
                </a:lnTo>
                <a:lnTo>
                  <a:pt x="15335" y="197367"/>
                </a:lnTo>
                <a:lnTo>
                  <a:pt x="14026" y="197677"/>
                </a:lnTo>
                <a:lnTo>
                  <a:pt x="13299" y="197796"/>
                </a:lnTo>
                <a:lnTo>
                  <a:pt x="11906" y="197867"/>
                </a:lnTo>
                <a:lnTo>
                  <a:pt x="11406" y="197867"/>
                </a:lnTo>
                <a:lnTo>
                  <a:pt x="10097" y="197724"/>
                </a:lnTo>
                <a:lnTo>
                  <a:pt x="9180" y="197558"/>
                </a:lnTo>
                <a:lnTo>
                  <a:pt x="7894" y="197177"/>
                </a:lnTo>
                <a:lnTo>
                  <a:pt x="6394" y="196510"/>
                </a:lnTo>
                <a:lnTo>
                  <a:pt x="5263" y="195843"/>
                </a:lnTo>
                <a:lnTo>
                  <a:pt x="4203" y="195045"/>
                </a:lnTo>
                <a:lnTo>
                  <a:pt x="3489" y="194379"/>
                </a:lnTo>
                <a:lnTo>
                  <a:pt x="2619" y="193402"/>
                </a:lnTo>
                <a:lnTo>
                  <a:pt x="1857" y="192343"/>
                </a:lnTo>
                <a:lnTo>
                  <a:pt x="1595" y="191914"/>
                </a:lnTo>
                <a:lnTo>
                  <a:pt x="1214" y="191200"/>
                </a:lnTo>
                <a:lnTo>
                  <a:pt x="691" y="189973"/>
                </a:lnTo>
                <a:lnTo>
                  <a:pt x="500" y="189390"/>
                </a:lnTo>
                <a:lnTo>
                  <a:pt x="191" y="188080"/>
                </a:lnTo>
                <a:lnTo>
                  <a:pt x="71" y="187354"/>
                </a:lnTo>
                <a:lnTo>
                  <a:pt x="24" y="186771"/>
                </a:lnTo>
                <a:lnTo>
                  <a:pt x="0" y="31180"/>
                </a:lnTo>
                <a:cubicBezTo>
                  <a:pt x="0" y="26926"/>
                  <a:pt x="2269" y="22996"/>
                  <a:pt x="5953" y="20869"/>
                </a:cubicBezTo>
                <a:cubicBezTo>
                  <a:pt x="36739" y="3096"/>
                  <a:pt x="73857" y="8"/>
                  <a:pt x="107156" y="12451"/>
                </a:cubicBezTo>
              </a:path>
            </a:pathLst>
          </a:custGeom>
          <a:solidFill>
            <a:srgbClr val="1E6FE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651760" y="2299335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泛雅平台现状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9165" y="2744152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泛雅平台沉淀了海量课件资源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9165" y="3010852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但当前仅支持静态浏览和下载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9165" y="3277552"/>
            <a:ext cx="19939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“可看不可讲”——缺少AI交互能力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52500" y="3810000"/>
            <a:ext cx="3810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41070" y="3950970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三大技术基础已具备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130618" y="4228624"/>
            <a:ext cx="1045393" cy="674370"/>
            <a:chOff x="1130618" y="4228624"/>
            <a:chExt cx="1045393" cy="674370"/>
          </a:xfrm>
        </p:grpSpPr>
        <p:sp>
          <p:nvSpPr>
            <p:cNvPr id="18" name="TextBox 18"/>
            <p:cNvSpPr txBox="1"/>
            <p:nvPr/>
          </p:nvSpPr>
          <p:spPr>
            <a:xfrm>
              <a:off x="1130618" y="4228624"/>
              <a:ext cx="1045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✓ 大模型推理能力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0618" y="4466749"/>
              <a:ext cx="1045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✓ 多模态理解能力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0618" y="4704874"/>
              <a:ext cx="9153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✓ 语音合成能力</a:t>
              </a:r>
            </a:p>
          </p:txBody>
        </p:sp>
      </p:grpSp>
      <p:sp>
        <p:nvSpPr>
          <p:cNvPr id="22" name="Rectangle 22"/>
          <p:cNvSpPr/>
          <p:nvPr/>
        </p:nvSpPr>
        <p:spPr>
          <a:xfrm>
            <a:off x="5524500" y="1428750"/>
            <a:ext cx="6096000" cy="4476750"/>
          </a:xfrm>
          <a:prstGeom prst="roundRect">
            <a:avLst>
              <a:gd name="adj" fmla="val 2553"/>
            </a:avLst>
          </a:prstGeom>
          <a:solidFill>
            <a:srgbClr val="E8EDF5"/>
          </a:solidFill>
          <a:ln w="14288">
            <a:solidFill>
              <a:srgbClr val="0E8C8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888355" y="17592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核心判断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891212" y="2164556"/>
            <a:ext cx="27439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单点调用大模型无法支撑完整教学闭环——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891212" y="2431256"/>
            <a:ext cx="21288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需要可编排、可降级、可续接的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891212" y="269795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系统能力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905500" y="3143250"/>
            <a:ext cx="5334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891212" y="3307556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三大技术缺口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5905500" y="3667125"/>
            <a:ext cx="5048250" cy="1200150"/>
            <a:chOff x="5905500" y="3667125"/>
            <a:chExt cx="5048250" cy="1200150"/>
          </a:xfrm>
        </p:grpSpPr>
        <p:sp>
          <p:nvSpPr>
            <p:cNvPr id="29" name="Rectangle 29"/>
            <p:cNvSpPr/>
            <p:nvPr/>
          </p:nvSpPr>
          <p:spPr>
            <a:xfrm>
              <a:off x="5905500" y="3667125"/>
              <a:ext cx="504825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82665" y="377285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缺口一：编排能力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59165" y="3772852"/>
              <a:ext cx="12378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多阶段流程N/A编排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905500" y="4095750"/>
              <a:ext cx="504825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82665" y="4201478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缺口二：容错能力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59165" y="420147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单引擎故障无法降级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905500" y="4524375"/>
              <a:ext cx="504825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082665" y="463010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缺口三：续接能力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59165" y="46301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打断后无法精确恢复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痛点分析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34710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三类角色，三道断点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428750"/>
            <a:ext cx="3429000" cy="3619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428750"/>
            <a:ext cx="3429000" cy="952500"/>
          </a:xfrm>
          <a:prstGeom prst="roundRect">
            <a:avLst>
              <a:gd name="adj" fmla="val 12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2266950"/>
            <a:ext cx="3429000" cy="11430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2047875" y="1685925"/>
            <a:ext cx="133350" cy="190500"/>
            <a:chOff x="2047875" y="1685925"/>
            <a:chExt cx="133350" cy="190500"/>
          </a:xfrm>
        </p:grpSpPr>
        <p:sp>
          <p:nvSpPr>
            <p:cNvPr id="10" name="Freeform 10"/>
            <p:cNvSpPr/>
            <p:nvPr/>
          </p:nvSpPr>
          <p:spPr>
            <a:xfrm>
              <a:off x="2066925" y="16859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cubicBezTo>
                    <a:pt x="73928" y="0"/>
                    <a:pt x="95250" y="21322"/>
                    <a:pt x="95250" y="47625"/>
                  </a:cubicBezTo>
                  <a:cubicBezTo>
                    <a:pt x="95250" y="73928"/>
                    <a:pt x="73928" y="95250"/>
                    <a:pt x="47625" y="95250"/>
                  </a:cubicBezTo>
                  <a:cubicBezTo>
                    <a:pt x="21322" y="95250"/>
                    <a:pt x="0" y="73928"/>
                    <a:pt x="0" y="47625"/>
                  </a:cubicBezTo>
                  <a:lnTo>
                    <a:pt x="48" y="45558"/>
                  </a:lnTo>
                  <a:cubicBezTo>
                    <a:pt x="1154" y="20084"/>
                    <a:pt x="22127" y="1"/>
                    <a:pt x="476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047875" y="1800225"/>
              <a:ext cx="133350" cy="76200"/>
            </a:xfrm>
            <a:custGeom>
              <a:avLst/>
              <a:gdLst/>
              <a:ahLst/>
              <a:cxnLst/>
              <a:rect l="l" t="t" r="r" b="b"/>
              <a:pathLst>
                <a:path w="133350" h="76200">
                  <a:moveTo>
                    <a:pt x="85725" y="0"/>
                  </a:moveTo>
                  <a:cubicBezTo>
                    <a:pt x="112028" y="0"/>
                    <a:pt x="133350" y="21322"/>
                    <a:pt x="133350" y="47625"/>
                  </a:cubicBezTo>
                  <a:lnTo>
                    <a:pt x="133350" y="57150"/>
                  </a:lnTo>
                  <a:cubicBezTo>
                    <a:pt x="133350" y="67671"/>
                    <a:pt x="124821" y="76200"/>
                    <a:pt x="114300" y="76200"/>
                  </a:cubicBezTo>
                  <a:lnTo>
                    <a:pt x="19050" y="76200"/>
                  </a:lnTo>
                  <a:cubicBezTo>
                    <a:pt x="8529" y="76200"/>
                    <a:pt x="0" y="67671"/>
                    <a:pt x="0" y="57150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lnTo>
                    <a:pt x="857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2266950" y="1695450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教师端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4855" y="2711768"/>
            <a:ext cx="1735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断点一：学情看不见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8665" y="3077528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备课耗时：每课需逐字撰写讲稿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8665" y="3325178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学情缺失：不知道学生哪里卡住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8665" y="3572828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补讲不精准：无法定位薄弱环节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4000500"/>
            <a:ext cx="3048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50570" y="4141470"/>
            <a:ext cx="21831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根源：静态课件只有展示层，无学情反馈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381500" y="1428750"/>
            <a:ext cx="3429000" cy="3619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4381500" y="1428750"/>
            <a:ext cx="3429000" cy="952500"/>
          </a:xfrm>
          <a:prstGeom prst="roundRect">
            <a:avLst>
              <a:gd name="adj" fmla="val 12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4381500" y="2266950"/>
            <a:ext cx="342900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grpSp>
        <p:nvGrpSpPr>
          <p:cNvPr id="25" name="Group 25"/>
          <p:cNvGrpSpPr/>
          <p:nvPr/>
        </p:nvGrpSpPr>
        <p:grpSpPr>
          <a:xfrm>
            <a:off x="5857875" y="1685925"/>
            <a:ext cx="133350" cy="190500"/>
            <a:chOff x="5857875" y="1685925"/>
            <a:chExt cx="133350" cy="190500"/>
          </a:xfrm>
        </p:grpSpPr>
        <p:sp>
          <p:nvSpPr>
            <p:cNvPr id="23" name="Freeform 23"/>
            <p:cNvSpPr/>
            <p:nvPr/>
          </p:nvSpPr>
          <p:spPr>
            <a:xfrm>
              <a:off x="5876925" y="16859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cubicBezTo>
                    <a:pt x="73928" y="0"/>
                    <a:pt x="95250" y="21322"/>
                    <a:pt x="95250" y="47625"/>
                  </a:cubicBezTo>
                  <a:cubicBezTo>
                    <a:pt x="95250" y="73928"/>
                    <a:pt x="73928" y="95250"/>
                    <a:pt x="47625" y="95250"/>
                  </a:cubicBezTo>
                  <a:cubicBezTo>
                    <a:pt x="21322" y="95250"/>
                    <a:pt x="0" y="73928"/>
                    <a:pt x="0" y="47625"/>
                  </a:cubicBezTo>
                  <a:lnTo>
                    <a:pt x="48" y="45558"/>
                  </a:lnTo>
                  <a:cubicBezTo>
                    <a:pt x="1154" y="20084"/>
                    <a:pt x="22127" y="1"/>
                    <a:pt x="476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5857875" y="1800225"/>
              <a:ext cx="133350" cy="76200"/>
            </a:xfrm>
            <a:custGeom>
              <a:avLst/>
              <a:gdLst/>
              <a:ahLst/>
              <a:cxnLst/>
              <a:rect l="l" t="t" r="r" b="b"/>
              <a:pathLst>
                <a:path w="133350" h="76200">
                  <a:moveTo>
                    <a:pt x="85725" y="0"/>
                  </a:moveTo>
                  <a:cubicBezTo>
                    <a:pt x="112028" y="0"/>
                    <a:pt x="133350" y="21322"/>
                    <a:pt x="133350" y="47625"/>
                  </a:cubicBezTo>
                  <a:lnTo>
                    <a:pt x="133350" y="57150"/>
                  </a:lnTo>
                  <a:cubicBezTo>
                    <a:pt x="133350" y="67671"/>
                    <a:pt x="124821" y="76200"/>
                    <a:pt x="114300" y="76200"/>
                  </a:cubicBezTo>
                  <a:lnTo>
                    <a:pt x="19050" y="76200"/>
                  </a:lnTo>
                  <a:cubicBezTo>
                    <a:pt x="8529" y="76200"/>
                    <a:pt x="0" y="67671"/>
                    <a:pt x="0" y="57150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lnTo>
                    <a:pt x="857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6076950" y="1695450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学生端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54855" y="2711768"/>
            <a:ext cx="1735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断点二：进度易脱节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58665" y="3077528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传统方案只有页级翻页，打断后只能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58665" y="332517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从头重看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58665" y="3572828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通用大模型回答缺乏课程知识约束，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58665" y="3820478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容易产生偏离教材的幻觉答案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558665" y="4068128"/>
            <a:ext cx="1706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无个性化辅导，学习效率低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572000" y="4000500"/>
            <a:ext cx="3048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4560570" y="4141470"/>
            <a:ext cx="1823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根源：缺少节点级定位和知识约束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191500" y="1428750"/>
            <a:ext cx="3429000" cy="3619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8191500" y="1428750"/>
            <a:ext cx="3429000" cy="952500"/>
          </a:xfrm>
          <a:prstGeom prst="roundRect">
            <a:avLst>
              <a:gd name="adj" fmla="val 12000"/>
            </a:avLst>
          </a:prstGeom>
          <a:solidFill>
            <a:srgbClr val="5A6478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8191500" y="2266950"/>
            <a:ext cx="3429000" cy="114300"/>
          </a:xfrm>
          <a:prstGeom prst="rect">
            <a:avLst/>
          </a:prstGeom>
          <a:solidFill>
            <a:srgbClr val="5A6478"/>
          </a:solidFill>
          <a:ln>
            <a:noFill/>
          </a:ln>
        </p:spPr>
      </p:sp>
      <p:sp>
        <p:nvSpPr>
          <p:cNvPr id="38" name="Freeform 38"/>
          <p:cNvSpPr/>
          <p:nvPr/>
        </p:nvSpPr>
        <p:spPr>
          <a:xfrm>
            <a:off x="9648825" y="1724025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142875" y="0"/>
                </a:moveTo>
                <a:cubicBezTo>
                  <a:pt x="158657" y="0"/>
                  <a:pt x="171450" y="12793"/>
                  <a:pt x="171450" y="28575"/>
                </a:cubicBezTo>
                <a:lnTo>
                  <a:pt x="171450" y="114300"/>
                </a:lnTo>
                <a:cubicBezTo>
                  <a:pt x="171450" y="124821"/>
                  <a:pt x="162921" y="133350"/>
                  <a:pt x="152400" y="133350"/>
                </a:cubicBezTo>
                <a:lnTo>
                  <a:pt x="133350" y="133350"/>
                </a:lnTo>
                <a:cubicBezTo>
                  <a:pt x="122829" y="133350"/>
                  <a:pt x="114300" y="124821"/>
                  <a:pt x="114300" y="114300"/>
                </a:cubicBezTo>
                <a:lnTo>
                  <a:pt x="114300" y="95250"/>
                </a:lnTo>
                <a:cubicBezTo>
                  <a:pt x="114300" y="79468"/>
                  <a:pt x="101507" y="66675"/>
                  <a:pt x="85725" y="66675"/>
                </a:cubicBezTo>
                <a:cubicBezTo>
                  <a:pt x="69943" y="66675"/>
                  <a:pt x="57150" y="79468"/>
                  <a:pt x="57150" y="95250"/>
                </a:cubicBezTo>
                <a:lnTo>
                  <a:pt x="57150" y="114300"/>
                </a:lnTo>
                <a:cubicBezTo>
                  <a:pt x="57150" y="124821"/>
                  <a:pt x="48621" y="133350"/>
                  <a:pt x="38100" y="133350"/>
                </a:cubicBezTo>
                <a:lnTo>
                  <a:pt x="19050" y="133350"/>
                </a:lnTo>
                <a:cubicBezTo>
                  <a:pt x="8529" y="133350"/>
                  <a:pt x="0" y="124821"/>
                  <a:pt x="0" y="11430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886950" y="1695450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平台端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64855" y="271176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断点三：智化难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368665" y="3077528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海量静态课件无法直接转化为可交互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368665" y="332517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教学内容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368665" y="3572828"/>
            <a:ext cx="21409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文本提取不等于内容理解——需要多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368665" y="3820478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阶段解耦才能生成结构化教案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382000" y="4000500"/>
            <a:ext cx="3048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370570" y="414147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根源：缺少结构化内容底座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71500" y="5334000"/>
            <a:ext cx="11049000" cy="762000"/>
          </a:xfrm>
          <a:prstGeom prst="roundRect">
            <a:avLst>
              <a:gd name="adj" fmla="val 12500"/>
            </a:avLst>
          </a:prstGeom>
          <a:solidFill>
            <a:srgbClr val="1E6FE0">
              <a:alpha val="6000"/>
            </a:srgbClr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3080962" y="5498306"/>
            <a:ext cx="60300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三个痛点的根因是同一个——静态课件只有展示层，没有被系统理解成可定位的教学节点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509296" y="5781199"/>
            <a:ext cx="51734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节点化内容底座 = 教师脚本编辑 + 学生问答溯源 + 断点续接定位 + 学情统计的共享语义层</a:t>
            </a:r>
          </a:p>
        </p:txBody>
      </p:sp>
      <p:sp>
        <p:nvSpPr>
          <p:cNvPr id="50" name="Rectangle 50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方案概述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34710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一套底座，两端分工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428750"/>
            <a:ext cx="3810000" cy="4762500"/>
          </a:xfrm>
          <a:prstGeom prst="roundRect">
            <a:avLst>
              <a:gd name="adj" fmla="val 3000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16640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设计思路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8665" y="2029778"/>
            <a:ext cx="20149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“一套底座，两端分工”——底层是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8665" y="2277428"/>
            <a:ext cx="23859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统一的AI能力中台，上层分别为教师和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8665" y="2525078"/>
            <a:ext cx="1426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学生提供专属功能入口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62000" y="2952750"/>
            <a:ext cx="342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46760" y="310896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两个关键设计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" y="3524250"/>
            <a:ext cx="34290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E6FE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940118" y="3638074"/>
            <a:ext cx="23260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❶ 编排层不做AI推理，保证响应延迟可控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62000" y="3952875"/>
            <a:ext cx="34290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E6FE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40118" y="4066699"/>
            <a:ext cx="28591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❷ 双引擎降级，Dify不可用时自动切备用推理引擎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667250" y="1428750"/>
            <a:ext cx="6953250" cy="47625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4842510" y="1632585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底座架构示意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048250" y="2000250"/>
            <a:ext cx="6381750" cy="438150"/>
          </a:xfrm>
          <a:prstGeom prst="roundRect">
            <a:avLst>
              <a:gd name="adj" fmla="val 17391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496309" y="2145506"/>
            <a:ext cx="14856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业务编排层 · Go后端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26912" y="2319338"/>
            <a:ext cx="302442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学习状态机 | SSE流式转发 | 课件上传管道 | 任务调度 | OpenAPI适配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229225" y="2033588"/>
            <a:ext cx="740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★</a:t>
            </a:r>
          </a:p>
        </p:txBody>
      </p:sp>
      <p:sp>
        <p:nvSpPr>
          <p:cNvPr id="24" name="Polygon 24"/>
          <p:cNvSpPr/>
          <p:nvPr/>
        </p:nvSpPr>
        <p:spPr>
          <a:xfrm>
            <a:off x="8143875" y="2476500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95250" y="0"/>
                </a:moveTo>
                <a:lnTo>
                  <a:pt x="0" y="95250"/>
                </a:lnTo>
                <a:lnTo>
                  <a:pt x="190500" y="95250"/>
                </a:lnTo>
                <a:close/>
              </a:path>
            </a:pathLst>
          </a:custGeom>
          <a:solidFill>
            <a:srgbClr val="9AA3B5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5048250" y="2619375"/>
            <a:ext cx="6381750" cy="438150"/>
          </a:xfrm>
          <a:prstGeom prst="roundRect">
            <a:avLst>
              <a:gd name="adj" fmla="val 17391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539377" y="2764631"/>
            <a:ext cx="33994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AI能力中台 · Dify工作流 + Python备用推理引擎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049452" y="2938462"/>
            <a:ext cx="237934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课件解析 | 知识入库 | 智能问答 | 脚本生成 | 语音合成</a:t>
            </a:r>
          </a:p>
        </p:txBody>
      </p:sp>
      <p:sp>
        <p:nvSpPr>
          <p:cNvPr id="28" name="Polygon 28"/>
          <p:cNvSpPr/>
          <p:nvPr/>
        </p:nvSpPr>
        <p:spPr>
          <a:xfrm>
            <a:off x="8143875" y="3095625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95250" y="0"/>
                </a:moveTo>
                <a:lnTo>
                  <a:pt x="0" y="95250"/>
                </a:lnTo>
                <a:lnTo>
                  <a:pt x="190500" y="95250"/>
                </a:lnTo>
                <a:close/>
              </a:path>
            </a:pathLst>
          </a:custGeom>
          <a:solidFill>
            <a:srgbClr val="9AA3B5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5048250" y="3238500"/>
            <a:ext cx="6381750" cy="438150"/>
          </a:xfrm>
          <a:prstGeom prst="roundRect">
            <a:avLst>
              <a:gd name="adj" fmla="val 17391"/>
            </a:avLst>
          </a:prstGeom>
          <a:solidFill>
            <a:srgbClr val="5A6478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831038" y="3383756"/>
            <a:ext cx="8161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数据支撑层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719411" y="3557588"/>
            <a:ext cx="303942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PostgreSQL（结构化） | Redis（缓存/队列） | MinIO（对象存储）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048250" y="3905250"/>
            <a:ext cx="6381750" cy="342900"/>
          </a:xfrm>
          <a:prstGeom prst="roundRect">
            <a:avLst>
              <a:gd name="adj" fmla="val 16667"/>
            </a:avLst>
          </a:prstGeom>
          <a:solidFill>
            <a:srgbClr val="E8EDF5"/>
          </a:solidFill>
          <a:ln w="9525">
            <a:solidFill>
              <a:srgbClr val="0E8C80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226368" y="4019074"/>
            <a:ext cx="43868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↻ 双引擎降级：主引擎(工作流编排) → 故障自动切换 → 本地Python引擎（）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048250" y="4429125"/>
            <a:ext cx="3095625" cy="666750"/>
          </a:xfrm>
          <a:prstGeom prst="roundRect">
            <a:avLst>
              <a:gd name="adj" fmla="val 11429"/>
            </a:avLst>
          </a:prstGeom>
          <a:solidFill>
            <a:srgbClr val="DDE6FF"/>
          </a:solidFill>
          <a:ln>
            <a:noFill/>
          </a:ln>
        </p:spPr>
      </p:sp>
      <p:grpSp>
        <p:nvGrpSpPr>
          <p:cNvPr id="37" name="Group 37"/>
          <p:cNvGrpSpPr/>
          <p:nvPr/>
        </p:nvGrpSpPr>
        <p:grpSpPr>
          <a:xfrm>
            <a:off x="5278438" y="4635500"/>
            <a:ext cx="111125" cy="158750"/>
            <a:chOff x="5278438" y="4635500"/>
            <a:chExt cx="111125" cy="158750"/>
          </a:xfrm>
        </p:grpSpPr>
        <p:sp>
          <p:nvSpPr>
            <p:cNvPr id="35" name="Freeform 35"/>
            <p:cNvSpPr/>
            <p:nvPr/>
          </p:nvSpPr>
          <p:spPr>
            <a:xfrm>
              <a:off x="5294312" y="4635500"/>
              <a:ext cx="79375" cy="79375"/>
            </a:xfrm>
            <a:custGeom>
              <a:avLst/>
              <a:gdLst/>
              <a:ahLst/>
              <a:cxnLst/>
              <a:rect l="l" t="t" r="r" b="b"/>
              <a:pathLst>
                <a:path w="79375" h="79375">
                  <a:moveTo>
                    <a:pt x="39687" y="0"/>
                  </a:moveTo>
                  <a:cubicBezTo>
                    <a:pt x="61606" y="0"/>
                    <a:pt x="79375" y="17769"/>
                    <a:pt x="79375" y="39687"/>
                  </a:cubicBezTo>
                  <a:cubicBezTo>
                    <a:pt x="79375" y="61606"/>
                    <a:pt x="61606" y="79375"/>
                    <a:pt x="39687" y="79375"/>
                  </a:cubicBezTo>
                  <a:cubicBezTo>
                    <a:pt x="17769" y="79375"/>
                    <a:pt x="0" y="61606"/>
                    <a:pt x="0" y="39687"/>
                  </a:cubicBezTo>
                  <a:lnTo>
                    <a:pt x="40" y="37965"/>
                  </a:lnTo>
                  <a:cubicBezTo>
                    <a:pt x="962" y="16737"/>
                    <a:pt x="18439" y="1"/>
                    <a:pt x="39687" y="0"/>
                  </a:cubicBez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5278438" y="4730750"/>
              <a:ext cx="111125" cy="63500"/>
            </a:xfrm>
            <a:custGeom>
              <a:avLst/>
              <a:gdLst/>
              <a:ahLst/>
              <a:cxnLst/>
              <a:rect l="l" t="t" r="r" b="b"/>
              <a:pathLst>
                <a:path w="111125" h="63500">
                  <a:moveTo>
                    <a:pt x="71438" y="0"/>
                  </a:moveTo>
                  <a:cubicBezTo>
                    <a:pt x="93356" y="0"/>
                    <a:pt x="111125" y="17769"/>
                    <a:pt x="111125" y="39687"/>
                  </a:cubicBezTo>
                  <a:lnTo>
                    <a:pt x="111125" y="47625"/>
                  </a:lnTo>
                  <a:cubicBezTo>
                    <a:pt x="111125" y="56393"/>
                    <a:pt x="104018" y="63500"/>
                    <a:pt x="95250" y="63500"/>
                  </a:cubicBezTo>
                  <a:lnTo>
                    <a:pt x="15875" y="63500"/>
                  </a:lnTo>
                  <a:cubicBezTo>
                    <a:pt x="7107" y="63500"/>
                    <a:pt x="0" y="56393"/>
                    <a:pt x="0" y="47625"/>
                  </a:cubicBezTo>
                  <a:lnTo>
                    <a:pt x="0" y="39687"/>
                  </a:lnTo>
                  <a:cubicBezTo>
                    <a:pt x="0" y="17769"/>
                    <a:pt x="17769" y="0"/>
                    <a:pt x="39688" y="0"/>
                  </a:cubicBezTo>
                  <a:lnTo>
                    <a:pt x="71438" y="0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</p:grpSp>
      <p:sp>
        <p:nvSpPr>
          <p:cNvPr id="38" name="TextBox 38"/>
          <p:cNvSpPr txBox="1"/>
          <p:nvPr/>
        </p:nvSpPr>
        <p:spPr>
          <a:xfrm>
            <a:off x="5511165" y="4649152"/>
            <a:ext cx="467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教师端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514022" y="4863941"/>
            <a:ext cx="21607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课件管理 · 脚本编辑 · 发布授课 · 学情分析</a:t>
            </a:r>
          </a:p>
        </p:txBody>
      </p:sp>
      <p:sp>
        <p:nvSpPr>
          <p:cNvPr id="40" name="Rectangle 40"/>
          <p:cNvSpPr/>
          <p:nvPr/>
        </p:nvSpPr>
        <p:spPr>
          <a:xfrm>
            <a:off x="8334375" y="4429125"/>
            <a:ext cx="3095625" cy="666750"/>
          </a:xfrm>
          <a:prstGeom prst="roundRect">
            <a:avLst>
              <a:gd name="adj" fmla="val 11429"/>
            </a:avLst>
          </a:prstGeom>
          <a:solidFill>
            <a:srgbClr val="D6DEF5"/>
          </a:solidFill>
          <a:ln>
            <a:noFill/>
          </a:ln>
        </p:spPr>
      </p:sp>
      <p:grpSp>
        <p:nvGrpSpPr>
          <p:cNvPr id="43" name="Group 43"/>
          <p:cNvGrpSpPr/>
          <p:nvPr/>
        </p:nvGrpSpPr>
        <p:grpSpPr>
          <a:xfrm>
            <a:off x="8564562" y="4635500"/>
            <a:ext cx="111125" cy="158750"/>
            <a:chOff x="8564562" y="4635500"/>
            <a:chExt cx="111125" cy="158750"/>
          </a:xfrm>
        </p:grpSpPr>
        <p:sp>
          <p:nvSpPr>
            <p:cNvPr id="41" name="Freeform 41"/>
            <p:cNvSpPr/>
            <p:nvPr/>
          </p:nvSpPr>
          <p:spPr>
            <a:xfrm>
              <a:off x="8580438" y="4635500"/>
              <a:ext cx="79375" cy="79375"/>
            </a:xfrm>
            <a:custGeom>
              <a:avLst/>
              <a:gdLst/>
              <a:ahLst/>
              <a:cxnLst/>
              <a:rect l="l" t="t" r="r" b="b"/>
              <a:pathLst>
                <a:path w="79375" h="79375">
                  <a:moveTo>
                    <a:pt x="39687" y="0"/>
                  </a:moveTo>
                  <a:cubicBezTo>
                    <a:pt x="61606" y="0"/>
                    <a:pt x="79375" y="17769"/>
                    <a:pt x="79375" y="39687"/>
                  </a:cubicBezTo>
                  <a:cubicBezTo>
                    <a:pt x="79375" y="61606"/>
                    <a:pt x="61606" y="79375"/>
                    <a:pt x="39687" y="79375"/>
                  </a:cubicBezTo>
                  <a:cubicBezTo>
                    <a:pt x="17769" y="79375"/>
                    <a:pt x="0" y="61606"/>
                    <a:pt x="0" y="39687"/>
                  </a:cubicBezTo>
                  <a:lnTo>
                    <a:pt x="40" y="37965"/>
                  </a:lnTo>
                  <a:cubicBezTo>
                    <a:pt x="962" y="16737"/>
                    <a:pt x="18439" y="1"/>
                    <a:pt x="39687" y="0"/>
                  </a:cubicBezTo>
                  <a:close/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8564562" y="4730750"/>
              <a:ext cx="111125" cy="63500"/>
            </a:xfrm>
            <a:custGeom>
              <a:avLst/>
              <a:gdLst/>
              <a:ahLst/>
              <a:cxnLst/>
              <a:rect l="l" t="t" r="r" b="b"/>
              <a:pathLst>
                <a:path w="111125" h="63500">
                  <a:moveTo>
                    <a:pt x="71438" y="0"/>
                  </a:moveTo>
                  <a:cubicBezTo>
                    <a:pt x="93356" y="0"/>
                    <a:pt x="111125" y="17769"/>
                    <a:pt x="111125" y="39687"/>
                  </a:cubicBezTo>
                  <a:lnTo>
                    <a:pt x="111125" y="47625"/>
                  </a:lnTo>
                  <a:cubicBezTo>
                    <a:pt x="111125" y="56393"/>
                    <a:pt x="104018" y="63500"/>
                    <a:pt x="95250" y="63500"/>
                  </a:cubicBezTo>
                  <a:lnTo>
                    <a:pt x="15875" y="63500"/>
                  </a:lnTo>
                  <a:cubicBezTo>
                    <a:pt x="7107" y="63500"/>
                    <a:pt x="0" y="56393"/>
                    <a:pt x="0" y="47625"/>
                  </a:cubicBezTo>
                  <a:lnTo>
                    <a:pt x="0" y="39687"/>
                  </a:lnTo>
                  <a:cubicBezTo>
                    <a:pt x="0" y="17769"/>
                    <a:pt x="17769" y="0"/>
                    <a:pt x="39688" y="0"/>
                  </a:cubicBezTo>
                  <a:lnTo>
                    <a:pt x="71438" y="0"/>
                  </a:lnTo>
                  <a:close/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</p:grpSp>
      <p:sp>
        <p:nvSpPr>
          <p:cNvPr id="44" name="TextBox 44"/>
          <p:cNvSpPr txBox="1"/>
          <p:nvPr/>
        </p:nvSpPr>
        <p:spPr>
          <a:xfrm>
            <a:off x="8797290" y="4649152"/>
            <a:ext cx="467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学生端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800148" y="4863941"/>
            <a:ext cx="23807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课程学习 · 上下文问答 · 断点续学 · 掌握度分析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467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教师端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770513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教师端：把备课从“逐字撰写”变成“编辑确认”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grpSp>
        <p:nvGrpSpPr>
          <p:cNvPr id="31" name="Group 31"/>
          <p:cNvGrpSpPr/>
          <p:nvPr/>
        </p:nvGrpSpPr>
        <p:grpSpPr>
          <a:xfrm>
            <a:off x="571500" y="1428750"/>
            <a:ext cx="10668000" cy="857250"/>
            <a:chOff x="571500" y="1428750"/>
            <a:chExt cx="10668000" cy="857250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1905000" cy="857250"/>
            </a:xfrm>
            <a:prstGeom prst="roundRect">
              <a:avLst>
                <a:gd name="adj" fmla="val 11111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5830" y="1468755"/>
              <a:ext cx="30327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0118" y="1799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智课生成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2975" y="199548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三阶段解耦管线</a:t>
              </a:r>
            </a:p>
          </p:txBody>
        </p:sp>
        <p:sp>
          <p:nvSpPr>
            <p:cNvPr id="11" name="Polygon 11"/>
            <p:cNvSpPr/>
            <p:nvPr/>
          </p:nvSpPr>
          <p:spPr>
            <a:xfrm>
              <a:off x="2571750" y="17907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762250" y="1428750"/>
              <a:ext cx="1905000" cy="857250"/>
            </a:xfrm>
            <a:prstGeom prst="roundRect">
              <a:avLst>
                <a:gd name="adj" fmla="val 11111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116580" y="1468755"/>
              <a:ext cx="3767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30868" y="1799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脚本编辑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33725" y="1995488"/>
              <a:ext cx="8191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节点粒度编辑确认</a:t>
              </a:r>
            </a:p>
          </p:txBody>
        </p:sp>
        <p:sp>
          <p:nvSpPr>
            <p:cNvPr id="16" name="Polygon 16"/>
            <p:cNvSpPr/>
            <p:nvPr/>
          </p:nvSpPr>
          <p:spPr>
            <a:xfrm>
              <a:off x="4762500" y="17907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0" y="1428750"/>
              <a:ext cx="1905000" cy="857250"/>
            </a:xfrm>
            <a:prstGeom prst="roundRect">
              <a:avLst>
                <a:gd name="adj" fmla="val 11111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307330" y="1468755"/>
              <a:ext cx="3767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321618" y="1799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发布授课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24475" y="1995488"/>
              <a:ext cx="83915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TTS语音合成+播放</a:t>
              </a:r>
            </a:p>
          </p:txBody>
        </p:sp>
        <p:sp>
          <p:nvSpPr>
            <p:cNvPr id="21" name="Polygon 21"/>
            <p:cNvSpPr/>
            <p:nvPr/>
          </p:nvSpPr>
          <p:spPr>
            <a:xfrm>
              <a:off x="6953250" y="17907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143750" y="1428750"/>
              <a:ext cx="1905000" cy="857250"/>
            </a:xfrm>
            <a:prstGeom prst="roundRect">
              <a:avLst>
                <a:gd name="adj" fmla="val 11111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498080" y="1468755"/>
              <a:ext cx="3767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12368" y="1799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学情查看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15225" y="1995488"/>
              <a:ext cx="8191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四维加权难度指数</a:t>
              </a:r>
            </a:p>
          </p:txBody>
        </p:sp>
        <p:sp>
          <p:nvSpPr>
            <p:cNvPr id="26" name="Polygon 26"/>
            <p:cNvSpPr/>
            <p:nvPr/>
          </p:nvSpPr>
          <p:spPr>
            <a:xfrm>
              <a:off x="9144000" y="17907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334500" y="1428750"/>
              <a:ext cx="1905000" cy="857250"/>
            </a:xfrm>
            <a:prstGeom prst="roundRect">
              <a:avLst>
                <a:gd name="adj" fmla="val 11111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688830" y="1468755"/>
              <a:ext cx="3767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03118" y="1799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讲稿优化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05975" y="1995488"/>
              <a:ext cx="6191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学情驱动迭代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56260" y="263271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关键技术细节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2952750"/>
            <a:ext cx="533400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571500" y="2952750"/>
            <a:ext cx="5334000" cy="47625"/>
          </a:xfrm>
          <a:prstGeom prst="roundRect">
            <a:avLst>
              <a:gd name="adj" fmla="val 50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747712" y="3164681"/>
            <a:ext cx="14462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三阶段解耦生成管线</a:t>
            </a:r>
          </a:p>
        </p:txBody>
      </p:sp>
      <p:sp>
        <p:nvSpPr>
          <p:cNvPr id="36" name="Rectangle 36"/>
          <p:cNvSpPr/>
          <p:nvPr/>
        </p:nvSpPr>
        <p:spPr>
          <a:xfrm>
            <a:off x="762000" y="3476625"/>
            <a:ext cx="1524000" cy="285750"/>
          </a:xfrm>
          <a:prstGeom prst="roundRect">
            <a:avLst>
              <a:gd name="adj" fmla="val 20000"/>
            </a:avLst>
          </a:prstGeom>
          <a:solidFill>
            <a:srgbClr val="DDE6FF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55203" y="3578066"/>
            <a:ext cx="11375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Stage1 Markdown理解</a:t>
            </a:r>
          </a:p>
        </p:txBody>
      </p:sp>
      <p:sp>
        <p:nvSpPr>
          <p:cNvPr id="38" name="Rectangle 38"/>
          <p:cNvSpPr/>
          <p:nvPr/>
        </p:nvSpPr>
        <p:spPr>
          <a:xfrm>
            <a:off x="2381250" y="3476625"/>
            <a:ext cx="1524000" cy="285750"/>
          </a:xfrm>
          <a:prstGeom prst="roundRect">
            <a:avLst>
              <a:gd name="adj" fmla="val 20000"/>
            </a:avLst>
          </a:prstGeom>
          <a:solidFill>
            <a:srgbClr val="DDE6FF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2659713" y="3578066"/>
            <a:ext cx="9670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Stage2 节点树构建</a:t>
            </a:r>
          </a:p>
        </p:txBody>
      </p:sp>
      <p:sp>
        <p:nvSpPr>
          <p:cNvPr id="40" name="Rectangle 40"/>
          <p:cNvSpPr/>
          <p:nvPr/>
        </p:nvSpPr>
        <p:spPr>
          <a:xfrm>
            <a:off x="4000500" y="3476625"/>
            <a:ext cx="1714500" cy="285750"/>
          </a:xfrm>
          <a:prstGeom prst="roundRect">
            <a:avLst>
              <a:gd name="adj" fmla="val 20000"/>
            </a:avLst>
          </a:prstGeom>
          <a:solidFill>
            <a:srgbClr val="DDE6F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4264200" y="3578066"/>
            <a:ext cx="11871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Stage3 逐节点脚本生成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0570" y="3903345"/>
            <a:ext cx="41273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每阶段独立可优化，单节点失败不影响整体。JSON Schema强制结构化输出。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50570" y="4093845"/>
            <a:ext cx="21831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教师可在节点粒度上编辑调整脚本内容。</a:t>
            </a:r>
          </a:p>
        </p:txBody>
      </p:sp>
      <p:sp>
        <p:nvSpPr>
          <p:cNvPr id="44" name="Rectangle 44"/>
          <p:cNvSpPr/>
          <p:nvPr/>
        </p:nvSpPr>
        <p:spPr>
          <a:xfrm>
            <a:off x="6191250" y="2952750"/>
            <a:ext cx="542925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6191250" y="2952750"/>
            <a:ext cx="5429250" cy="4762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367462" y="3164681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多维加权难度指数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6381750" y="3476625"/>
            <a:ext cx="4953000" cy="285750"/>
            <a:chOff x="6381750" y="3476625"/>
            <a:chExt cx="4953000" cy="285750"/>
          </a:xfrm>
        </p:grpSpPr>
        <p:sp>
          <p:nvSpPr>
            <p:cNvPr id="47" name="Rectangle 47"/>
            <p:cNvSpPr/>
            <p:nvPr/>
          </p:nvSpPr>
          <p:spPr>
            <a:xfrm>
              <a:off x="6381750" y="3476625"/>
              <a:ext cx="1143000" cy="285750"/>
            </a:xfrm>
            <a:prstGeom prst="roundRect">
              <a:avLst>
                <a:gd name="adj" fmla="val 2000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89788" y="35604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提问频次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620000" y="3476625"/>
              <a:ext cx="1143000" cy="285750"/>
            </a:xfrm>
            <a:prstGeom prst="roundRect">
              <a:avLst>
                <a:gd name="adj" fmla="val 2000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865031" y="3560445"/>
              <a:ext cx="652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需重讲次数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858250" y="3476625"/>
              <a:ext cx="1143000" cy="285750"/>
            </a:xfrm>
            <a:prstGeom prst="roundRect">
              <a:avLst>
                <a:gd name="adj" fmla="val 2000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229296" y="3560445"/>
              <a:ext cx="4009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会话数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096500" y="3476625"/>
              <a:ext cx="1238250" cy="285750"/>
            </a:xfrm>
            <a:prstGeom prst="roundRect">
              <a:avLst>
                <a:gd name="adj" fmla="val 2000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389156" y="3560445"/>
              <a:ext cx="652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停留时长比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6370320" y="3950970"/>
            <a:ext cx="31552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综合四维加权 → 难度指数（0-10），精确定位班级共性卡点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370320" y="4141470"/>
            <a:ext cx="36293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掌握度模型：答对+0.08 / 答错-0.06 / 快速响应+0.02，区间[0,1]</a:t>
            </a:r>
          </a:p>
        </p:txBody>
      </p:sp>
      <p:sp>
        <p:nvSpPr>
          <p:cNvPr id="58" name="Rectangle 58"/>
          <p:cNvSpPr/>
          <p:nvPr/>
        </p:nvSpPr>
        <p:spPr>
          <a:xfrm>
            <a:off x="571500" y="4762500"/>
            <a:ext cx="11049000" cy="13335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748665" y="49349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学情看板</a:t>
            </a:r>
          </a:p>
        </p:txBody>
      </p:sp>
      <p:grpSp>
        <p:nvGrpSpPr>
          <p:cNvPr id="67" name="Group 67"/>
          <p:cNvGrpSpPr/>
          <p:nvPr/>
        </p:nvGrpSpPr>
        <p:grpSpPr>
          <a:xfrm>
            <a:off x="762000" y="5323999"/>
            <a:ext cx="5527428" cy="445770"/>
            <a:chOff x="762000" y="5323999"/>
            <a:chExt cx="5527428" cy="445770"/>
          </a:xfrm>
        </p:grpSpPr>
        <p:sp>
          <p:nvSpPr>
            <p:cNvPr id="60" name="Ellipse 60"/>
            <p:cNvSpPr/>
            <p:nvPr/>
          </p:nvSpPr>
          <p:spPr>
            <a:xfrm>
              <a:off x="1276350" y="5324475"/>
              <a:ext cx="114300" cy="114300"/>
            </a:xfrm>
            <a:prstGeom prst="ellipse">
              <a:avLst/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463992" y="5323999"/>
              <a:ext cx="19035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掌握度 &gt; 0.7的知识点占比：72%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4705350" y="5324475"/>
              <a:ext cx="114300" cy="114300"/>
            </a:xfrm>
            <a:prstGeom prst="ellipse">
              <a:avLst/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892992" y="5323999"/>
              <a:ext cx="13964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需重讲的知识点数：3个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62000" y="5619750"/>
              <a:ext cx="2476500" cy="57150"/>
            </a:xfrm>
            <a:prstGeom prst="roundRect">
              <a:avLst>
                <a:gd name="adj" fmla="val 50000"/>
              </a:avLst>
            </a:prstGeom>
            <a:solidFill>
              <a:srgbClr val="D0D7E2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62000" y="5619750"/>
              <a:ext cx="1714500" cy="5715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3416618" y="5571649"/>
              <a:ext cx="12599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班级平均掌握度 0.72</a:t>
              </a:r>
            </a:p>
          </p:txBody>
        </p:sp>
      </p:grpSp>
      <p:sp>
        <p:nvSpPr>
          <p:cNvPr id="68" name="Rectangle 68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467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学生端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87343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学生端：边听讲边提问，问完自动接着学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35242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333500"/>
            <a:ext cx="3524250" cy="47625"/>
          </a:xfrm>
          <a:prstGeom prst="roundRect">
            <a:avLst>
              <a:gd name="adj" fmla="val 50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876300" y="1600200"/>
            <a:ext cx="190500" cy="181421"/>
          </a:xfrm>
          <a:custGeom>
            <a:avLst/>
            <a:gdLst/>
            <a:ahLst/>
            <a:cxnLst/>
            <a:rect l="l" t="t" r="r" b="b"/>
            <a:pathLst>
              <a:path w="190500" h="181421">
                <a:moveTo>
                  <a:pt x="152400" y="0"/>
                </a:moveTo>
                <a:cubicBezTo>
                  <a:pt x="173442" y="0"/>
                  <a:pt x="190500" y="17058"/>
                  <a:pt x="190500" y="38100"/>
                </a:cubicBezTo>
                <a:lnTo>
                  <a:pt x="190500" y="114300"/>
                </a:lnTo>
                <a:cubicBezTo>
                  <a:pt x="190500" y="135342"/>
                  <a:pt x="173442" y="152400"/>
                  <a:pt x="152400" y="152400"/>
                </a:cubicBezTo>
                <a:lnTo>
                  <a:pt x="107404" y="152400"/>
                </a:lnTo>
                <a:lnTo>
                  <a:pt x="62046" y="179613"/>
                </a:lnTo>
                <a:cubicBezTo>
                  <a:pt x="59270" y="181279"/>
                  <a:pt x="55839" y="181421"/>
                  <a:pt x="52935" y="179990"/>
                </a:cubicBezTo>
                <a:cubicBezTo>
                  <a:pt x="50031" y="178559"/>
                  <a:pt x="48053" y="175752"/>
                  <a:pt x="47682" y="172536"/>
                </a:cubicBezTo>
                <a:lnTo>
                  <a:pt x="47625" y="171450"/>
                </a:lnTo>
                <a:lnTo>
                  <a:pt x="47625" y="152400"/>
                </a:lnTo>
                <a:lnTo>
                  <a:pt x="38100" y="152400"/>
                </a:lnTo>
                <a:cubicBezTo>
                  <a:pt x="17798" y="152400"/>
                  <a:pt x="1063" y="136481"/>
                  <a:pt x="48" y="116205"/>
                </a:cubicBezTo>
                <a:lnTo>
                  <a:pt x="0" y="114300"/>
                </a:ln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  <a:moveTo>
                  <a:pt x="114300" y="85725"/>
                </a:moveTo>
                <a:lnTo>
                  <a:pt x="57150" y="85725"/>
                </a:lnTo>
                <a:cubicBezTo>
                  <a:pt x="51889" y="85725"/>
                  <a:pt x="47625" y="89989"/>
                  <a:pt x="47625" y="95250"/>
                </a:cubicBezTo>
                <a:cubicBezTo>
                  <a:pt x="47625" y="100511"/>
                  <a:pt x="51889" y="104775"/>
                  <a:pt x="57150" y="104775"/>
                </a:cubicBezTo>
                <a:lnTo>
                  <a:pt x="114300" y="104775"/>
                </a:lnTo>
                <a:cubicBezTo>
                  <a:pt x="119561" y="104775"/>
                  <a:pt x="123825" y="100511"/>
                  <a:pt x="123825" y="95250"/>
                </a:cubicBezTo>
                <a:cubicBezTo>
                  <a:pt x="123825" y="89989"/>
                  <a:pt x="119561" y="85725"/>
                  <a:pt x="114300" y="85725"/>
                </a:cubicBezTo>
                <a:moveTo>
                  <a:pt x="133350" y="47625"/>
                </a:moveTo>
                <a:lnTo>
                  <a:pt x="57150" y="47625"/>
                </a:lnTo>
                <a:cubicBezTo>
                  <a:pt x="51889" y="47625"/>
                  <a:pt x="47625" y="51889"/>
                  <a:pt x="47625" y="57150"/>
                </a:cubicBezTo>
                <a:cubicBezTo>
                  <a:pt x="47625" y="62411"/>
                  <a:pt x="51889" y="66675"/>
                  <a:pt x="57150" y="66675"/>
                </a:cubicBezTo>
                <a:lnTo>
                  <a:pt x="133350" y="66675"/>
                </a:lnTo>
                <a:cubicBezTo>
                  <a:pt x="138611" y="66675"/>
                  <a:pt x="142875" y="62411"/>
                  <a:pt x="142875" y="57150"/>
                </a:cubicBezTo>
                <a:cubicBezTo>
                  <a:pt x="142875" y="51889"/>
                  <a:pt x="138611" y="47625"/>
                  <a:pt x="133350" y="47625"/>
                </a:cubicBezTo>
              </a:path>
            </a:pathLst>
          </a:custGeom>
          <a:solidFill>
            <a:srgbClr val="1E6F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74432" y="1605439"/>
            <a:ext cx="9249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上下文问答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9618" y="1990249"/>
            <a:ext cx="13249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三级级联上下文构建：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9618" y="2218849"/>
            <a:ext cx="162396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L1 目标节点脚本 → 精确聚焦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9618" y="2447449"/>
            <a:ext cx="19165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L2 当前页面全部节点 → 范围扩大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9618" y="2676049"/>
            <a:ext cx="16564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L3 全页文本拼接 → 最终兜底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9618" y="2904649"/>
            <a:ext cx="21050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苏格拉底式引导：禁止直接给答案，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9618" y="31332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先确认学生卡点，再逐步引导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3810000"/>
            <a:ext cx="3143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51522" y="3911441"/>
            <a:ext cx="20012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核心：课程知识优先，回答绑定溯源页码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333875" y="1333500"/>
            <a:ext cx="35242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4333875" y="1333500"/>
            <a:ext cx="3524250" cy="4762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4676774" y="1599724"/>
            <a:ext cx="142880" cy="172401"/>
          </a:xfrm>
          <a:custGeom>
            <a:avLst/>
            <a:gdLst/>
            <a:ahLst/>
            <a:cxnLst/>
            <a:rect l="l" t="t" r="r" b="b"/>
            <a:pathLst>
              <a:path w="142880" h="172401">
                <a:moveTo>
                  <a:pt x="1" y="10001"/>
                </a:moveTo>
                <a:lnTo>
                  <a:pt x="1" y="162401"/>
                </a:lnTo>
                <a:cubicBezTo>
                  <a:pt x="0" y="165852"/>
                  <a:pt x="1866" y="169033"/>
                  <a:pt x="4878" y="170717"/>
                </a:cubicBezTo>
                <a:cubicBezTo>
                  <a:pt x="7890" y="172401"/>
                  <a:pt x="11578" y="172324"/>
                  <a:pt x="14517" y="170516"/>
                </a:cubicBezTo>
                <a:lnTo>
                  <a:pt x="138342" y="94316"/>
                </a:lnTo>
                <a:cubicBezTo>
                  <a:pt x="141162" y="92583"/>
                  <a:pt x="142880" y="89511"/>
                  <a:pt x="142880" y="86201"/>
                </a:cubicBezTo>
                <a:cubicBezTo>
                  <a:pt x="142880" y="82891"/>
                  <a:pt x="141162" y="79818"/>
                  <a:pt x="138342" y="78085"/>
                </a:cubicBezTo>
                <a:lnTo>
                  <a:pt x="14517" y="1885"/>
                </a:lnTo>
                <a:cubicBezTo>
                  <a:pt x="11578" y="77"/>
                  <a:pt x="7890" y="0"/>
                  <a:pt x="4878" y="1684"/>
                </a:cubicBezTo>
                <a:cubicBezTo>
                  <a:pt x="1866" y="3368"/>
                  <a:pt x="0" y="6550"/>
                  <a:pt x="1" y="10001"/>
                </a:cubicBezTo>
                <a:close/>
              </a:path>
            </a:pathLst>
          </a:custGeom>
          <a:solidFill>
            <a:srgbClr val="0E8C8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936808" y="1605439"/>
            <a:ext cx="7464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断点续学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11992" y="1990249"/>
            <a:ext cx="19750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理解程度三态判定驱动续接策略：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11992" y="2218849"/>
            <a:ext cx="17019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none（未理解）→ 回退重讲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11992" y="2447449"/>
            <a:ext cx="19815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partial（部分理解）→ 补充讲解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11992" y="2676049"/>
            <a:ext cx="16369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full（已理解）→ 跳过继续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11992" y="29046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精确定位到续接页码与节点，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11992" y="313324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确保学习主线不中断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524375" y="3810000"/>
            <a:ext cx="3143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513898" y="3911441"/>
            <a:ext cx="17481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核心：节点级续接 vs 传统页级翻页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096250" y="1333500"/>
            <a:ext cx="35242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8096250" y="1333500"/>
            <a:ext cx="3524250" cy="4762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33" name="Freeform 33"/>
          <p:cNvSpPr/>
          <p:nvPr/>
        </p:nvSpPr>
        <p:spPr>
          <a:xfrm>
            <a:off x="8410575" y="16002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42875" y="0"/>
                </a:moveTo>
                <a:cubicBezTo>
                  <a:pt x="158657" y="0"/>
                  <a:pt x="171450" y="12793"/>
                  <a:pt x="171450" y="28575"/>
                </a:cubicBezTo>
                <a:lnTo>
                  <a:pt x="171450" y="142875"/>
                </a:lnTo>
                <a:cubicBezTo>
                  <a:pt x="171450" y="158657"/>
                  <a:pt x="158657" y="171450"/>
                  <a:pt x="142875" y="171450"/>
                </a:cubicBezTo>
                <a:lnTo>
                  <a:pt x="28575" y="171450"/>
                </a:lnTo>
                <a:cubicBezTo>
                  <a:pt x="12793" y="171450"/>
                  <a:pt x="0" y="158657"/>
                  <a:pt x="0" y="1428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lnTo>
                  <a:pt x="142875" y="0"/>
                </a:lnTo>
                <a:close/>
                <a:moveTo>
                  <a:pt x="121034" y="59941"/>
                </a:moveTo>
                <a:cubicBezTo>
                  <a:pt x="117315" y="56222"/>
                  <a:pt x="111285" y="56222"/>
                  <a:pt x="107566" y="59941"/>
                </a:cubicBezTo>
                <a:lnTo>
                  <a:pt x="85725" y="81772"/>
                </a:lnTo>
                <a:lnTo>
                  <a:pt x="73409" y="69466"/>
                </a:lnTo>
                <a:cubicBezTo>
                  <a:pt x="69690" y="65747"/>
                  <a:pt x="63660" y="65747"/>
                  <a:pt x="59941" y="69466"/>
                </a:cubicBezTo>
                <a:lnTo>
                  <a:pt x="31366" y="98041"/>
                </a:lnTo>
                <a:cubicBezTo>
                  <a:pt x="27647" y="101760"/>
                  <a:pt x="27647" y="107790"/>
                  <a:pt x="31366" y="111509"/>
                </a:cubicBezTo>
                <a:lnTo>
                  <a:pt x="32261" y="112300"/>
                </a:lnTo>
                <a:cubicBezTo>
                  <a:pt x="36053" y="115241"/>
                  <a:pt x="41441" y="114902"/>
                  <a:pt x="44834" y="111509"/>
                </a:cubicBezTo>
                <a:lnTo>
                  <a:pt x="66675" y="89678"/>
                </a:lnTo>
                <a:lnTo>
                  <a:pt x="78991" y="101984"/>
                </a:lnTo>
                <a:lnTo>
                  <a:pt x="79886" y="102775"/>
                </a:lnTo>
                <a:cubicBezTo>
                  <a:pt x="83678" y="105716"/>
                  <a:pt x="89066" y="105377"/>
                  <a:pt x="92459" y="101984"/>
                </a:cubicBezTo>
                <a:lnTo>
                  <a:pt x="114300" y="80153"/>
                </a:lnTo>
                <a:lnTo>
                  <a:pt x="126616" y="92459"/>
                </a:lnTo>
                <a:cubicBezTo>
                  <a:pt x="130353" y="96069"/>
                  <a:pt x="136294" y="96017"/>
                  <a:pt x="139968" y="92343"/>
                </a:cubicBezTo>
                <a:cubicBezTo>
                  <a:pt x="143642" y="88669"/>
                  <a:pt x="143694" y="82728"/>
                  <a:pt x="140084" y="78991"/>
                </a:cubicBezTo>
                <a:lnTo>
                  <a:pt x="121034" y="59941"/>
                </a:lnTo>
                <a:close/>
              </a:path>
            </a:pathLst>
          </a:custGeom>
          <a:solidFill>
            <a:srgbClr val="0E8C80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8699182" y="1605439"/>
            <a:ext cx="9249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薄弱点强化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274368" y="199024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知识点掌握度追踪：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274368" y="2218849"/>
            <a:ext cx="14874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答对 +0.08 / 答错 -0.06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274368" y="2447449"/>
            <a:ext cx="161096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快速响应(≤5000ms) +0.02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274368" y="2676049"/>
            <a:ext cx="14679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掌握度区间维持在 [0, 1]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274368" y="2904649"/>
            <a:ext cx="22350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薄弱点自动检测，生成针对性练习题，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274368" y="3133249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复习计划智能排期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286750" y="3810000"/>
            <a:ext cx="3143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276272" y="3911441"/>
            <a:ext cx="17921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核心：全量掌握度+薄弱点+复习闭环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4667250"/>
            <a:ext cx="11049000" cy="142875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748665" y="4839652"/>
            <a:ext cx="129837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SSE三事件流式协议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762000" y="5143500"/>
            <a:ext cx="6762750" cy="342900"/>
            <a:chOff x="762000" y="5143500"/>
            <a:chExt cx="6762750" cy="342900"/>
          </a:xfrm>
        </p:grpSpPr>
        <p:sp>
          <p:nvSpPr>
            <p:cNvPr id="45" name="Rectangle 45"/>
            <p:cNvSpPr/>
            <p:nvPr/>
          </p:nvSpPr>
          <p:spPr>
            <a:xfrm>
              <a:off x="762000" y="5143500"/>
              <a:ext cx="190500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258864" y="5265420"/>
              <a:ext cx="9112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token 逐词推送</a:t>
              </a:r>
            </a:p>
          </p:txBody>
        </p:sp>
        <p:sp>
          <p:nvSpPr>
            <p:cNvPr id="47" name="Polygon 47"/>
            <p:cNvSpPr/>
            <p:nvPr/>
          </p:nvSpPr>
          <p:spPr>
            <a:xfrm>
              <a:off x="2762250" y="52482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2952750" y="5143500"/>
              <a:ext cx="190500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345651" y="5265420"/>
              <a:ext cx="11191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sentence 完整文本</a:t>
              </a:r>
            </a:p>
          </p:txBody>
        </p:sp>
        <p:sp>
          <p:nvSpPr>
            <p:cNvPr id="50" name="Polygon 50"/>
            <p:cNvSpPr/>
            <p:nvPr/>
          </p:nvSpPr>
          <p:spPr>
            <a:xfrm>
              <a:off x="4953000" y="52482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143500" y="5143500"/>
              <a:ext cx="2381250" cy="342900"/>
            </a:xfrm>
            <a:prstGeom prst="roundRect">
              <a:avLst>
                <a:gd name="adj" fmla="val 16667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783978" y="5265420"/>
              <a:ext cx="11002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final 结构化元数据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751522" y="5625941"/>
            <a:ext cx="63577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首包 &lt; 500ms | final事件携带：understanding_level | resume_page | resume_node_id | resume_sec | follow_up_suggestion</a:t>
            </a:r>
          </a:p>
        </p:txBody>
      </p:sp>
      <p:sp>
        <p:nvSpPr>
          <p:cNvPr id="55" name="Rectangle 55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业务闭环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49538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一条故事链，把两端串成真实学习闭环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grpSp>
        <p:nvGrpSpPr>
          <p:cNvPr id="40" name="Group 40"/>
          <p:cNvGrpSpPr/>
          <p:nvPr/>
        </p:nvGrpSpPr>
        <p:grpSpPr>
          <a:xfrm>
            <a:off x="571500" y="1524000"/>
            <a:ext cx="10477500" cy="952500"/>
            <a:chOff x="571500" y="1524000"/>
            <a:chExt cx="10477500" cy="952500"/>
          </a:xfrm>
        </p:grpSpPr>
        <p:sp>
          <p:nvSpPr>
            <p:cNvPr id="7" name="Rectangle 7"/>
            <p:cNvSpPr/>
            <p:nvPr/>
          </p:nvSpPr>
          <p:spPr>
            <a:xfrm>
              <a:off x="571500" y="1524000"/>
              <a:ext cx="1333500" cy="9525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6316" y="1752124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教师上传课件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06197" y="1966912"/>
              <a:ext cx="46410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PPT / PDF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8700" y="2157412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原始文件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905000" y="200025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286000" y="1524000"/>
              <a:ext cx="1524000" cy="9525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557808" y="1704499"/>
              <a:ext cx="9803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三阶段解耦解析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98432" y="1919288"/>
              <a:ext cx="69913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Markdown理解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45938" y="2062162"/>
              <a:ext cx="60412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↓ 节点树构建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645926" y="2205038"/>
              <a:ext cx="80414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↓ 逐节点脚本生成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810000" y="200025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191000" y="1524000"/>
              <a:ext cx="1333500" cy="952500"/>
            </a:xfrm>
            <a:prstGeom prst="roundRect">
              <a:avLst>
                <a:gd name="adj" fmla="val 10000"/>
              </a:avLst>
            </a:prstGeom>
            <a:solidFill>
              <a:srgbClr val="D6DEF5"/>
            </a:solidFill>
            <a:ln w="14288">
              <a:solidFill>
                <a:srgbClr val="0E8C8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35816" y="1752124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学生播放学习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48188" y="1966912"/>
              <a:ext cx="6191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节点级播放器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20684" y="2157412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语音+文本同步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524500" y="200025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905500" y="1524000"/>
              <a:ext cx="1333500" cy="952500"/>
            </a:xfrm>
            <a:prstGeom prst="roundRect">
              <a:avLst>
                <a:gd name="adj" fmla="val 10000"/>
              </a:avLst>
            </a:prstGeom>
            <a:solidFill>
              <a:srgbClr val="D6DEF5"/>
            </a:solidFill>
            <a:ln w="14288">
              <a:solidFill>
                <a:srgbClr val="0E8C8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6833" y="17044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遇疑提问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681" y="191928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三级级联上下文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2681" y="2062162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苏格拉底式回答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30183" y="2205038"/>
              <a:ext cx="68413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SSE三事件推送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239000" y="200025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620000" y="1524000"/>
              <a:ext cx="1524000" cy="952500"/>
            </a:xfrm>
            <a:prstGeom prst="roundRect">
              <a:avLst>
                <a:gd name="adj" fmla="val 10000"/>
              </a:avLst>
            </a:prstGeom>
            <a:solidFill>
              <a:srgbClr val="D6DEF5"/>
            </a:solidFill>
            <a:ln w="14288">
              <a:solidFill>
                <a:srgbClr val="0E8C8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60066" y="170449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理解程度判定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79938" y="1919288"/>
              <a:ext cx="60412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LLM判定优先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22431" y="2062162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关键词降级兜底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54923" y="2205038"/>
              <a:ext cx="85415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none/partial/full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9144000" y="200025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525000" y="1524000"/>
              <a:ext cx="1524000" cy="9525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14288">
              <a:solidFill>
                <a:srgbClr val="0E8C8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001583" y="17044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三态续接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039945" y="1919288"/>
              <a:ext cx="49410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none→重讲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82438" y="2062162"/>
              <a:ext cx="60912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partial→补充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64948" y="2205038"/>
              <a:ext cx="44410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full→跳过</a:t>
              </a:r>
            </a:p>
          </p:txBody>
        </p:sp>
      </p:grpSp>
      <p:sp>
        <p:nvSpPr>
          <p:cNvPr id="41" name="Freeform 41"/>
          <p:cNvSpPr/>
          <p:nvPr/>
        </p:nvSpPr>
        <p:spPr>
          <a:xfrm>
            <a:off x="4857750" y="2476500"/>
            <a:ext cx="5429250" cy="476250"/>
          </a:xfrm>
          <a:custGeom>
            <a:avLst/>
            <a:gdLst/>
            <a:ahLst/>
            <a:cxnLst/>
            <a:rect l="l" t="t" r="r" b="b"/>
            <a:pathLst>
              <a:path w="5429250" h="476250">
                <a:moveTo>
                  <a:pt x="5429250" y="0"/>
                </a:moveTo>
                <a:lnTo>
                  <a:pt x="5429250" y="476250"/>
                </a:lnTo>
                <a:lnTo>
                  <a:pt x="0" y="47625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9AA3B5"/>
            </a:solidFill>
            <a:prstDash val="dash"/>
            <a:tailEnd type="triangle" w="lg" len="lg"/>
          </a:ln>
        </p:spPr>
      </p:sp>
      <p:sp>
        <p:nvSpPr>
          <p:cNvPr id="42" name="TextBox 42"/>
          <p:cNvSpPr txBox="1"/>
          <p:nvPr/>
        </p:nvSpPr>
        <p:spPr>
          <a:xfrm>
            <a:off x="7224474" y="3006566"/>
            <a:ext cx="7910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续接后继续学习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3619500"/>
            <a:ext cx="11049000" cy="1524000"/>
          </a:xfrm>
          <a:prstGeom prst="roundRect">
            <a:avLst>
              <a:gd name="adj" fmla="val 6250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747712" y="3831431"/>
            <a:ext cx="17612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四维学情数据回传教师端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762000" y="4143375"/>
            <a:ext cx="10668000" cy="381000"/>
            <a:chOff x="762000" y="4143375"/>
            <a:chExt cx="10668000" cy="381000"/>
          </a:xfrm>
        </p:grpSpPr>
        <p:sp>
          <p:nvSpPr>
            <p:cNvPr id="45" name="Rectangle 45"/>
            <p:cNvSpPr/>
            <p:nvPr/>
          </p:nvSpPr>
          <p:spPr>
            <a:xfrm>
              <a:off x="762000" y="4143375"/>
              <a:ext cx="24765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20750" y="4262438"/>
              <a:ext cx="158750" cy="151184"/>
            </a:xfrm>
            <a:custGeom>
              <a:avLst/>
              <a:gdLst/>
              <a:ahLst/>
              <a:cxnLst/>
              <a:rect l="l" t="t" r="r" b="b"/>
              <a:pathLst>
                <a:path w="158750" h="151184">
                  <a:moveTo>
                    <a:pt x="127000" y="0"/>
                  </a:moveTo>
                  <a:cubicBezTo>
                    <a:pt x="144535" y="0"/>
                    <a:pt x="158750" y="14215"/>
                    <a:pt x="158750" y="31750"/>
                  </a:cubicBezTo>
                  <a:lnTo>
                    <a:pt x="158750" y="95250"/>
                  </a:lnTo>
                  <a:cubicBezTo>
                    <a:pt x="158750" y="112785"/>
                    <a:pt x="144535" y="127000"/>
                    <a:pt x="127000" y="127000"/>
                  </a:cubicBezTo>
                  <a:lnTo>
                    <a:pt x="89503" y="127000"/>
                  </a:lnTo>
                  <a:lnTo>
                    <a:pt x="51705" y="149677"/>
                  </a:lnTo>
                  <a:cubicBezTo>
                    <a:pt x="49392" y="151066"/>
                    <a:pt x="46532" y="151184"/>
                    <a:pt x="44112" y="149992"/>
                  </a:cubicBezTo>
                  <a:cubicBezTo>
                    <a:pt x="41693" y="148799"/>
                    <a:pt x="40044" y="146460"/>
                    <a:pt x="39735" y="143780"/>
                  </a:cubicBezTo>
                  <a:lnTo>
                    <a:pt x="39687" y="142875"/>
                  </a:lnTo>
                  <a:lnTo>
                    <a:pt x="39687" y="127000"/>
                  </a:lnTo>
                  <a:lnTo>
                    <a:pt x="31750" y="127000"/>
                  </a:lnTo>
                  <a:cubicBezTo>
                    <a:pt x="14832" y="127000"/>
                    <a:pt x="886" y="113734"/>
                    <a:pt x="40" y="96838"/>
                  </a:cubicBezTo>
                  <a:lnTo>
                    <a:pt x="0" y="95250"/>
                  </a:ln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  <a:moveTo>
                    <a:pt x="95250" y="71438"/>
                  </a:moveTo>
                  <a:lnTo>
                    <a:pt x="47625" y="71438"/>
                  </a:lnTo>
                  <a:cubicBezTo>
                    <a:pt x="43241" y="71438"/>
                    <a:pt x="39687" y="74991"/>
                    <a:pt x="39687" y="79375"/>
                  </a:cubicBezTo>
                  <a:cubicBezTo>
                    <a:pt x="39687" y="83759"/>
                    <a:pt x="43241" y="87313"/>
                    <a:pt x="47625" y="87313"/>
                  </a:cubicBezTo>
                  <a:lnTo>
                    <a:pt x="95250" y="87313"/>
                  </a:lnTo>
                  <a:cubicBezTo>
                    <a:pt x="99634" y="87313"/>
                    <a:pt x="103187" y="83759"/>
                    <a:pt x="103187" y="79375"/>
                  </a:cubicBezTo>
                  <a:cubicBezTo>
                    <a:pt x="103187" y="74991"/>
                    <a:pt x="99634" y="71438"/>
                    <a:pt x="95250" y="71438"/>
                  </a:cubicBezTo>
                  <a:moveTo>
                    <a:pt x="111125" y="39688"/>
                  </a:moveTo>
                  <a:lnTo>
                    <a:pt x="47625" y="39688"/>
                  </a:lnTo>
                  <a:cubicBezTo>
                    <a:pt x="43241" y="39688"/>
                    <a:pt x="39687" y="43241"/>
                    <a:pt x="39687" y="47625"/>
                  </a:cubicBezTo>
                  <a:cubicBezTo>
                    <a:pt x="39687" y="52009"/>
                    <a:pt x="43241" y="55562"/>
                    <a:pt x="47625" y="55562"/>
                  </a:cubicBezTo>
                  <a:lnTo>
                    <a:pt x="111125" y="55562"/>
                  </a:lnTo>
                  <a:cubicBezTo>
                    <a:pt x="115509" y="55562"/>
                    <a:pt x="119062" y="52009"/>
                    <a:pt x="119062" y="47625"/>
                  </a:cubicBezTo>
                  <a:cubicBezTo>
                    <a:pt x="119062" y="43241"/>
                    <a:pt x="115509" y="39688"/>
                    <a:pt x="111125" y="39688"/>
                  </a:cubicBezTo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78242" y="4276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提问记录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180272" y="4292441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每页提问频次分布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429000" y="4143375"/>
              <a:ext cx="24765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3587526" y="4254500"/>
              <a:ext cx="159198" cy="158750"/>
              <a:chOff x="3587526" y="4254500"/>
              <a:chExt cx="159198" cy="15875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3587526" y="4325938"/>
                <a:ext cx="24260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24260" h="15875">
                    <a:moveTo>
                      <a:pt x="16099" y="0"/>
                    </a:moveTo>
                    <a:cubicBezTo>
                      <a:pt x="20298" y="5"/>
                      <a:pt x="23768" y="3280"/>
                      <a:pt x="24014" y="7472"/>
                    </a:cubicBezTo>
                    <a:cubicBezTo>
                      <a:pt x="24260" y="11665"/>
                      <a:pt x="21198" y="15323"/>
                      <a:pt x="17027" y="15819"/>
                    </a:cubicBezTo>
                    <a:lnTo>
                      <a:pt x="16099" y="15875"/>
                    </a:lnTo>
                    <a:lnTo>
                      <a:pt x="8161" y="15875"/>
                    </a:lnTo>
                    <a:cubicBezTo>
                      <a:pt x="3961" y="15870"/>
                      <a:pt x="492" y="12595"/>
                      <a:pt x="246" y="8403"/>
                    </a:cubicBezTo>
                    <a:cubicBezTo>
                      <a:pt x="0" y="4210"/>
                      <a:pt x="3062" y="552"/>
                      <a:pt x="7232" y="56"/>
                    </a:cubicBezTo>
                    <a:lnTo>
                      <a:pt x="8161" y="0"/>
                    </a:lnTo>
                    <a:lnTo>
                      <a:pt x="16099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3659188" y="4254500"/>
                <a:ext cx="15875" cy="24036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24036">
                    <a:moveTo>
                      <a:pt x="7937" y="0"/>
                    </a:moveTo>
                    <a:cubicBezTo>
                      <a:pt x="11962" y="1"/>
                      <a:pt x="15349" y="3012"/>
                      <a:pt x="15819" y="7009"/>
                    </a:cubicBezTo>
                    <a:lnTo>
                      <a:pt x="15875" y="7937"/>
                    </a:lnTo>
                    <a:lnTo>
                      <a:pt x="15875" y="15875"/>
                    </a:lnTo>
                    <a:cubicBezTo>
                      <a:pt x="15870" y="20075"/>
                      <a:pt x="12595" y="23544"/>
                      <a:pt x="8403" y="23790"/>
                    </a:cubicBezTo>
                    <a:cubicBezTo>
                      <a:pt x="4210" y="24036"/>
                      <a:pt x="552" y="20974"/>
                      <a:pt x="56" y="16804"/>
                    </a:cubicBezTo>
                    <a:lnTo>
                      <a:pt x="0" y="15875"/>
                    </a:lnTo>
                    <a:lnTo>
                      <a:pt x="0" y="7937"/>
                    </a:lnTo>
                    <a:cubicBezTo>
                      <a:pt x="0" y="3554"/>
                      <a:pt x="3554" y="0"/>
                      <a:pt x="7937" y="0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3722464" y="4325938"/>
                <a:ext cx="24260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24260" h="15875">
                    <a:moveTo>
                      <a:pt x="16099" y="0"/>
                    </a:moveTo>
                    <a:cubicBezTo>
                      <a:pt x="20298" y="5"/>
                      <a:pt x="23768" y="3280"/>
                      <a:pt x="24014" y="7472"/>
                    </a:cubicBezTo>
                    <a:cubicBezTo>
                      <a:pt x="24260" y="11665"/>
                      <a:pt x="21198" y="15323"/>
                      <a:pt x="17027" y="15819"/>
                    </a:cubicBezTo>
                    <a:lnTo>
                      <a:pt x="16099" y="15875"/>
                    </a:lnTo>
                    <a:lnTo>
                      <a:pt x="8161" y="15875"/>
                    </a:lnTo>
                    <a:cubicBezTo>
                      <a:pt x="3961" y="15870"/>
                      <a:pt x="492" y="12595"/>
                      <a:pt x="246" y="8403"/>
                    </a:cubicBezTo>
                    <a:cubicBezTo>
                      <a:pt x="0" y="4210"/>
                      <a:pt x="3062" y="552"/>
                      <a:pt x="7232" y="56"/>
                    </a:cubicBezTo>
                    <a:lnTo>
                      <a:pt x="8161" y="0"/>
                    </a:lnTo>
                    <a:lnTo>
                      <a:pt x="16099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3607615" y="4274353"/>
                <a:ext cx="22978" cy="23109"/>
              </a:xfrm>
              <a:custGeom>
                <a:avLst/>
                <a:gdLst/>
                <a:ahLst/>
                <a:cxnLst/>
                <a:rect l="l" t="t" r="r" b="b"/>
                <a:pathLst>
                  <a:path w="22978" h="23109">
                    <a:moveTo>
                      <a:pt x="3099" y="3110"/>
                    </a:moveTo>
                    <a:cubicBezTo>
                      <a:pt x="5927" y="282"/>
                      <a:pt x="10416" y="0"/>
                      <a:pt x="13576" y="2451"/>
                    </a:cubicBezTo>
                    <a:lnTo>
                      <a:pt x="14322" y="3110"/>
                    </a:lnTo>
                    <a:lnTo>
                      <a:pt x="19879" y="8666"/>
                    </a:lnTo>
                    <a:cubicBezTo>
                      <a:pt x="22833" y="11631"/>
                      <a:pt x="22978" y="16380"/>
                      <a:pt x="20210" y="19519"/>
                    </a:cubicBezTo>
                    <a:cubicBezTo>
                      <a:pt x="17442" y="22658"/>
                      <a:pt x="12712" y="23109"/>
                      <a:pt x="9401" y="20549"/>
                    </a:cubicBezTo>
                    <a:lnTo>
                      <a:pt x="8655" y="19890"/>
                    </a:lnTo>
                    <a:lnTo>
                      <a:pt x="3099" y="14334"/>
                    </a:lnTo>
                    <a:cubicBezTo>
                      <a:pt x="0" y="11234"/>
                      <a:pt x="0" y="6210"/>
                      <a:pt x="3099" y="3110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3703538" y="4274364"/>
                <a:ext cx="23218" cy="22979"/>
              </a:xfrm>
              <a:custGeom>
                <a:avLst/>
                <a:gdLst/>
                <a:ahLst/>
                <a:cxnLst/>
                <a:rect l="l" t="t" r="r" b="b"/>
                <a:pathLst>
                  <a:path w="23218" h="22979">
                    <a:moveTo>
                      <a:pt x="8775" y="3099"/>
                    </a:moveTo>
                    <a:cubicBezTo>
                      <a:pt x="11740" y="145"/>
                      <a:pt x="16489" y="0"/>
                      <a:pt x="19628" y="2768"/>
                    </a:cubicBezTo>
                    <a:cubicBezTo>
                      <a:pt x="22767" y="5536"/>
                      <a:pt x="23218" y="10266"/>
                      <a:pt x="20658" y="13577"/>
                    </a:cubicBezTo>
                    <a:lnTo>
                      <a:pt x="19999" y="14323"/>
                    </a:lnTo>
                    <a:lnTo>
                      <a:pt x="14443" y="19879"/>
                    </a:lnTo>
                    <a:cubicBezTo>
                      <a:pt x="11478" y="22834"/>
                      <a:pt x="6729" y="22979"/>
                      <a:pt x="3590" y="20211"/>
                    </a:cubicBezTo>
                    <a:cubicBezTo>
                      <a:pt x="451" y="17443"/>
                      <a:pt x="0" y="12713"/>
                      <a:pt x="2560" y="9402"/>
                    </a:cubicBezTo>
                    <a:lnTo>
                      <a:pt x="3219" y="8656"/>
                    </a:lnTo>
                    <a:lnTo>
                      <a:pt x="8775" y="3099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3643312" y="4381500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39688" y="0"/>
                    </a:moveTo>
                    <a:cubicBezTo>
                      <a:pt x="44071" y="0"/>
                      <a:pt x="47625" y="3554"/>
                      <a:pt x="47625" y="7937"/>
                    </a:cubicBezTo>
                    <a:cubicBezTo>
                      <a:pt x="47625" y="21089"/>
                      <a:pt x="36964" y="31750"/>
                      <a:pt x="23812" y="31750"/>
                    </a:cubicBezTo>
                    <a:cubicBezTo>
                      <a:pt x="10661" y="31750"/>
                      <a:pt x="0" y="21089"/>
                      <a:pt x="0" y="7937"/>
                    </a:cubicBezTo>
                    <a:cubicBezTo>
                      <a:pt x="1" y="3913"/>
                      <a:pt x="3012" y="526"/>
                      <a:pt x="7009" y="56"/>
                    </a:cubicBezTo>
                    <a:lnTo>
                      <a:pt x="7937" y="0"/>
                    </a:lnTo>
                    <a:lnTo>
                      <a:pt x="39688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3615462" y="4286250"/>
                <a:ext cx="103327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103327" h="87313">
                    <a:moveTo>
                      <a:pt x="51663" y="0"/>
                    </a:moveTo>
                    <a:cubicBezTo>
                      <a:pt x="72163" y="0"/>
                      <a:pt x="90362" y="13117"/>
                      <a:pt x="96845" y="32565"/>
                    </a:cubicBezTo>
                    <a:cubicBezTo>
                      <a:pt x="103327" y="52012"/>
                      <a:pt x="96638" y="73425"/>
                      <a:pt x="80238" y="85725"/>
                    </a:cubicBezTo>
                    <a:cubicBezTo>
                      <a:pt x="79144" y="86547"/>
                      <a:pt x="77857" y="87072"/>
                      <a:pt x="76500" y="87249"/>
                    </a:cubicBezTo>
                    <a:lnTo>
                      <a:pt x="75476" y="87313"/>
                    </a:lnTo>
                    <a:lnTo>
                      <a:pt x="27851" y="87313"/>
                    </a:lnTo>
                    <a:cubicBezTo>
                      <a:pt x="26134" y="87313"/>
                      <a:pt x="24462" y="86755"/>
                      <a:pt x="23088" y="85725"/>
                    </a:cubicBezTo>
                    <a:cubicBezTo>
                      <a:pt x="6689" y="73425"/>
                      <a:pt x="0" y="52012"/>
                      <a:pt x="6482" y="32565"/>
                    </a:cubicBezTo>
                    <a:cubicBezTo>
                      <a:pt x="12965" y="13117"/>
                      <a:pt x="31164" y="0"/>
                      <a:pt x="51663" y="0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3845242" y="4276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理解程度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847272" y="4292441"/>
              <a:ext cx="11595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none/partial/full统计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096000" y="4143375"/>
              <a:ext cx="24765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6262688" y="4262438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19062" y="0"/>
                  </a:moveTo>
                  <a:cubicBezTo>
                    <a:pt x="132214" y="0"/>
                    <a:pt x="142875" y="10661"/>
                    <a:pt x="142875" y="23812"/>
                  </a:cubicBezTo>
                  <a:lnTo>
                    <a:pt x="142875" y="119062"/>
                  </a:lnTo>
                  <a:cubicBezTo>
                    <a:pt x="142875" y="132214"/>
                    <a:pt x="132214" y="142875"/>
                    <a:pt x="119062" y="142875"/>
                  </a:cubicBezTo>
                  <a:lnTo>
                    <a:pt x="23812" y="142875"/>
                  </a:lnTo>
                  <a:cubicBezTo>
                    <a:pt x="10661" y="142875"/>
                    <a:pt x="0" y="132214"/>
                    <a:pt x="0" y="119062"/>
                  </a:cubicBezTo>
                  <a:lnTo>
                    <a:pt x="0" y="23812"/>
                  </a:lnTo>
                  <a:cubicBezTo>
                    <a:pt x="0" y="10661"/>
                    <a:pt x="10661" y="0"/>
                    <a:pt x="23812" y="0"/>
                  </a:cubicBezTo>
                  <a:lnTo>
                    <a:pt x="119062" y="0"/>
                  </a:lnTo>
                  <a:close/>
                  <a:moveTo>
                    <a:pt x="100862" y="49951"/>
                  </a:moveTo>
                  <a:cubicBezTo>
                    <a:pt x="97762" y="46852"/>
                    <a:pt x="92738" y="46852"/>
                    <a:pt x="89638" y="49951"/>
                  </a:cubicBezTo>
                  <a:lnTo>
                    <a:pt x="71438" y="68143"/>
                  </a:lnTo>
                  <a:lnTo>
                    <a:pt x="61174" y="57888"/>
                  </a:lnTo>
                  <a:cubicBezTo>
                    <a:pt x="58075" y="54790"/>
                    <a:pt x="53050" y="54790"/>
                    <a:pt x="49951" y="57888"/>
                  </a:cubicBezTo>
                  <a:lnTo>
                    <a:pt x="26138" y="81701"/>
                  </a:lnTo>
                  <a:cubicBezTo>
                    <a:pt x="23040" y="84800"/>
                    <a:pt x="23040" y="89825"/>
                    <a:pt x="26138" y="92924"/>
                  </a:cubicBezTo>
                  <a:lnTo>
                    <a:pt x="26884" y="93583"/>
                  </a:lnTo>
                  <a:cubicBezTo>
                    <a:pt x="30044" y="96034"/>
                    <a:pt x="34534" y="95752"/>
                    <a:pt x="37362" y="92924"/>
                  </a:cubicBezTo>
                  <a:lnTo>
                    <a:pt x="55563" y="74732"/>
                  </a:lnTo>
                  <a:lnTo>
                    <a:pt x="65826" y="84987"/>
                  </a:lnTo>
                  <a:lnTo>
                    <a:pt x="66572" y="85646"/>
                  </a:lnTo>
                  <a:cubicBezTo>
                    <a:pt x="69732" y="88097"/>
                    <a:pt x="74221" y="87814"/>
                    <a:pt x="77049" y="84987"/>
                  </a:cubicBezTo>
                  <a:lnTo>
                    <a:pt x="95250" y="66794"/>
                  </a:lnTo>
                  <a:lnTo>
                    <a:pt x="105513" y="77049"/>
                  </a:lnTo>
                  <a:cubicBezTo>
                    <a:pt x="108628" y="80057"/>
                    <a:pt x="113578" y="80014"/>
                    <a:pt x="116640" y="76953"/>
                  </a:cubicBezTo>
                  <a:cubicBezTo>
                    <a:pt x="119702" y="73891"/>
                    <a:pt x="119745" y="68940"/>
                    <a:pt x="116737" y="65826"/>
                  </a:cubicBezTo>
                  <a:lnTo>
                    <a:pt x="100862" y="49951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512242" y="4276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卡点分布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514272" y="4292441"/>
              <a:ext cx="101107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班级难点知识点定位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763000" y="4143375"/>
              <a:ext cx="2667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8921750" y="4250944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79375" y="35306"/>
                  </a:moveTo>
                  <a:cubicBezTo>
                    <a:pt x="75351" y="35306"/>
                    <a:pt x="71964" y="38318"/>
                    <a:pt x="71493" y="42314"/>
                  </a:cubicBezTo>
                  <a:lnTo>
                    <a:pt x="71438" y="43243"/>
                  </a:lnTo>
                  <a:lnTo>
                    <a:pt x="71438" y="82931"/>
                  </a:lnTo>
                  <a:lnTo>
                    <a:pt x="71509" y="83970"/>
                  </a:lnTo>
                  <a:cubicBezTo>
                    <a:pt x="71690" y="85347"/>
                    <a:pt x="72229" y="86653"/>
                    <a:pt x="73073" y="87757"/>
                  </a:cubicBezTo>
                  <a:lnTo>
                    <a:pt x="73763" y="88550"/>
                  </a:lnTo>
                  <a:lnTo>
                    <a:pt x="97576" y="112363"/>
                  </a:lnTo>
                  <a:lnTo>
                    <a:pt x="98322" y="113014"/>
                  </a:lnTo>
                  <a:cubicBezTo>
                    <a:pt x="101185" y="115235"/>
                    <a:pt x="105190" y="115235"/>
                    <a:pt x="108053" y="113014"/>
                  </a:cubicBezTo>
                  <a:lnTo>
                    <a:pt x="108799" y="112355"/>
                  </a:lnTo>
                  <a:lnTo>
                    <a:pt x="109458" y="111609"/>
                  </a:lnTo>
                  <a:cubicBezTo>
                    <a:pt x="111680" y="108745"/>
                    <a:pt x="111680" y="104741"/>
                    <a:pt x="109458" y="101877"/>
                  </a:cubicBezTo>
                  <a:lnTo>
                    <a:pt x="108799" y="101131"/>
                  </a:lnTo>
                  <a:lnTo>
                    <a:pt x="87313" y="79636"/>
                  </a:lnTo>
                  <a:lnTo>
                    <a:pt x="87313" y="43243"/>
                  </a:lnTo>
                  <a:lnTo>
                    <a:pt x="87257" y="42314"/>
                  </a:lnTo>
                  <a:cubicBezTo>
                    <a:pt x="86786" y="38318"/>
                    <a:pt x="83399" y="35306"/>
                    <a:pt x="79375" y="35306"/>
                  </a:cubicBez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179242" y="4276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停留时间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181272" y="4292441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每页平均学习时长</a:t>
              </a:r>
            </a:p>
          </p:txBody>
        </p:sp>
      </p:grpSp>
      <p:sp>
        <p:nvSpPr>
          <p:cNvPr id="69" name="Freeform 69"/>
          <p:cNvSpPr/>
          <p:nvPr/>
        </p:nvSpPr>
        <p:spPr>
          <a:xfrm>
            <a:off x="1238250" y="4762500"/>
            <a:ext cx="4857750" cy="666750"/>
          </a:xfrm>
          <a:custGeom>
            <a:avLst/>
            <a:gdLst/>
            <a:ahLst/>
            <a:cxnLst/>
            <a:rect l="l" t="t" r="r" b="b"/>
            <a:pathLst>
              <a:path w="4857750" h="666750">
                <a:moveTo>
                  <a:pt x="4857750" y="381000"/>
                </a:moveTo>
                <a:lnTo>
                  <a:pt x="4857750" y="666750"/>
                </a:lnTo>
                <a:lnTo>
                  <a:pt x="0" y="66675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0E8C80"/>
            </a:solidFill>
            <a:prstDash val="dash"/>
            <a:tailEnd type="triangle" w="lg" len="lg"/>
          </a:ln>
        </p:spPr>
      </p:sp>
      <p:sp>
        <p:nvSpPr>
          <p:cNvPr id="70" name="TextBox 70"/>
          <p:cNvSpPr txBox="1"/>
          <p:nvPr/>
        </p:nvSpPr>
        <p:spPr>
          <a:xfrm>
            <a:off x="2727436" y="5141595"/>
            <a:ext cx="21651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学情数据驱动教师修改讲稿，重新发布</a:t>
            </a:r>
          </a:p>
        </p:txBody>
      </p:sp>
      <p:sp>
        <p:nvSpPr>
          <p:cNvPr id="71" name="Rectangle 71"/>
          <p:cNvSpPr/>
          <p:nvPr/>
        </p:nvSpPr>
        <p:spPr>
          <a:xfrm>
            <a:off x="571500" y="5715000"/>
            <a:ext cx="11049000" cy="28575"/>
          </a:xfrm>
          <a:prstGeom prst="roundRect">
            <a:avLst>
              <a:gd name="adj" fmla="val 50000"/>
            </a:avLst>
          </a:prstGeom>
          <a:solidFill>
            <a:srgbClr val="1E6FE0">
              <a:alpha val="30000"/>
            </a:srgbClr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3564553" y="5895499"/>
            <a:ext cx="5062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完整闭环：教师上传 → AI解析 → 学生学习 → 遇疑提问 → 判定续接 → 学情回传 → 教师优化</a:t>
            </a:r>
          </a:p>
        </p:txBody>
      </p:sp>
      <p:sp>
        <p:nvSpPr>
          <p:cNvPr id="73" name="Rectangle 73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系统架构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49538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核心架构：编排与能力分离，三层协同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285875"/>
            <a:ext cx="11049000" cy="666750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1E6FE0"/>
              </a:gs>
              <a:gs pos="100000">
                <a:srgbClr val="1976D2"/>
              </a:gs>
            </a:gsLst>
            <a:lin ang="0" scaled="1"/>
          </a:gra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823912" y="1497806"/>
            <a:ext cx="142875" cy="128588"/>
          </a:xfrm>
          <a:custGeom>
            <a:avLst/>
            <a:gdLst/>
            <a:ahLst/>
            <a:cxnLst/>
            <a:rect l="l" t="t" r="r" b="b"/>
            <a:pathLst>
              <a:path w="142875" h="128588">
                <a:moveTo>
                  <a:pt x="35719" y="128588"/>
                </a:moveTo>
                <a:cubicBezTo>
                  <a:pt x="31773" y="128588"/>
                  <a:pt x="28575" y="125389"/>
                  <a:pt x="28575" y="121444"/>
                </a:cubicBezTo>
                <a:cubicBezTo>
                  <a:pt x="28575" y="117498"/>
                  <a:pt x="31773" y="114300"/>
                  <a:pt x="35719" y="114300"/>
                </a:cubicBezTo>
                <a:lnTo>
                  <a:pt x="42862" y="114300"/>
                </a:lnTo>
                <a:lnTo>
                  <a:pt x="42862" y="100012"/>
                </a:lnTo>
                <a:lnTo>
                  <a:pt x="14288" y="100012"/>
                </a:lnTo>
                <a:cubicBezTo>
                  <a:pt x="6397" y="100012"/>
                  <a:pt x="0" y="93616"/>
                  <a:pt x="0" y="85725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lnTo>
                  <a:pt x="128588" y="0"/>
                </a:lnTo>
                <a:cubicBezTo>
                  <a:pt x="136478" y="0"/>
                  <a:pt x="142875" y="6397"/>
                  <a:pt x="142875" y="14288"/>
                </a:cubicBezTo>
                <a:lnTo>
                  <a:pt x="142875" y="85725"/>
                </a:lnTo>
                <a:cubicBezTo>
                  <a:pt x="142875" y="93616"/>
                  <a:pt x="136478" y="100012"/>
                  <a:pt x="128588" y="100012"/>
                </a:cubicBezTo>
                <a:lnTo>
                  <a:pt x="100012" y="100012"/>
                </a:lnTo>
                <a:lnTo>
                  <a:pt x="100012" y="114300"/>
                </a:lnTo>
                <a:lnTo>
                  <a:pt x="107156" y="114300"/>
                </a:lnTo>
                <a:cubicBezTo>
                  <a:pt x="111102" y="114300"/>
                  <a:pt x="114300" y="117498"/>
                  <a:pt x="114300" y="121444"/>
                </a:cubicBezTo>
                <a:cubicBezTo>
                  <a:pt x="114300" y="125389"/>
                  <a:pt x="111102" y="128588"/>
                  <a:pt x="107156" y="128588"/>
                </a:cubicBezTo>
                <a:close/>
                <a:moveTo>
                  <a:pt x="85725" y="100012"/>
                </a:moveTo>
                <a:lnTo>
                  <a:pt x="57150" y="100012"/>
                </a:lnTo>
                <a:lnTo>
                  <a:pt x="57150" y="114300"/>
                </a:lnTo>
                <a:lnTo>
                  <a:pt x="85725" y="114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82040" y="14868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前端交互层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5850" y="1681162"/>
            <a:ext cx="90916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Vue 3 + TypeScript</a:t>
            </a:r>
          </a:p>
        </p:txBody>
      </p:sp>
      <p:sp>
        <p:nvSpPr>
          <p:cNvPr id="11" name="Rectangle 11"/>
          <p:cNvSpPr/>
          <p:nvPr/>
        </p:nvSpPr>
        <p:spPr>
          <a:xfrm>
            <a:off x="2476500" y="1428750"/>
            <a:ext cx="1905000" cy="400050"/>
          </a:xfrm>
          <a:prstGeom prst="roundRect">
            <a:avLst>
              <a:gd name="adj" fmla="val 1428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033522" y="1579245"/>
            <a:ext cx="7909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(教师) 教师端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572000" y="1428750"/>
            <a:ext cx="1905000" cy="400050"/>
          </a:xfrm>
          <a:prstGeom prst="roundRect">
            <a:avLst>
              <a:gd name="adj" fmla="val 1428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129022" y="1579245"/>
            <a:ext cx="7909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(学生) 学生端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667500" y="1428750"/>
            <a:ext cx="2381250" cy="400050"/>
          </a:xfrm>
          <a:prstGeom prst="roundRect">
            <a:avLst>
              <a:gd name="adj" fmla="val 1428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934581" y="1579245"/>
            <a:ext cx="18470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[集成] 泛雅集成入口（OpenAPI）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91725" y="1595438"/>
            <a:ext cx="514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HTTPS/SSE</a:t>
            </a:r>
          </a:p>
        </p:txBody>
      </p:sp>
      <p:sp>
        <p:nvSpPr>
          <p:cNvPr id="18" name="Line 18"/>
          <p:cNvSpPr/>
          <p:nvPr/>
        </p:nvSpPr>
        <p:spPr>
          <a:xfrm>
            <a:off x="6096000" y="1952625"/>
            <a:ext cx="1" cy="142875"/>
          </a:xfrm>
          <a:prstGeom prst="line">
            <a:avLst/>
          </a:prstGeom>
          <a:noFill/>
          <a:ln w="19050">
            <a:solidFill>
              <a:srgbClr val="90CAF9"/>
            </a:solidFill>
            <a:tailEnd type="triangle" w="lg" len="lg"/>
          </a:ln>
        </p:spPr>
      </p:sp>
      <p:sp>
        <p:nvSpPr>
          <p:cNvPr id="19" name="Rectangle 19"/>
          <p:cNvSpPr/>
          <p:nvPr/>
        </p:nvSpPr>
        <p:spPr>
          <a:xfrm>
            <a:off x="571500" y="2143125"/>
            <a:ext cx="11049000" cy="1333500"/>
          </a:xfrm>
          <a:prstGeom prst="roundRect">
            <a:avLst>
              <a:gd name="adj" fmla="val 7143"/>
            </a:avLst>
          </a:prstGeom>
          <a:gradFill>
            <a:gsLst>
              <a:gs pos="0">
                <a:srgbClr val="1D4ED8"/>
              </a:gs>
              <a:gs pos="100000">
                <a:srgbClr val="3A7BED"/>
              </a:gs>
            </a:gsLst>
            <a:lin ang="0" scaled="1"/>
          </a:gra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2143125"/>
            <a:ext cx="11049000" cy="95250"/>
          </a:xfrm>
          <a:prstGeom prst="roundRect">
            <a:avLst>
              <a:gd name="adj" fmla="val 50000"/>
            </a:avLst>
          </a:prstGeom>
          <a:solidFill>
            <a:srgbClr val="0E8C80">
              <a:alpha val="60000"/>
            </a:srgbClr>
          </a:solidFill>
          <a:ln>
            <a:noFill/>
          </a:ln>
        </p:spPr>
      </p:sp>
      <p:grpSp>
        <p:nvGrpSpPr>
          <p:cNvPr id="24" name="Group 24"/>
          <p:cNvGrpSpPr/>
          <p:nvPr/>
        </p:nvGrpSpPr>
        <p:grpSpPr>
          <a:xfrm>
            <a:off x="831056" y="2402681"/>
            <a:ext cx="128585" cy="128789"/>
            <a:chOff x="831056" y="2402681"/>
            <a:chExt cx="128585" cy="128789"/>
          </a:xfrm>
        </p:grpSpPr>
        <p:sp>
          <p:nvSpPr>
            <p:cNvPr id="21" name="Freeform 21"/>
            <p:cNvSpPr/>
            <p:nvPr/>
          </p:nvSpPr>
          <p:spPr>
            <a:xfrm>
              <a:off x="831056" y="2402681"/>
              <a:ext cx="42860" cy="128789"/>
            </a:xfrm>
            <a:custGeom>
              <a:avLst/>
              <a:gdLst/>
              <a:ahLst/>
              <a:cxnLst/>
              <a:rect l="l" t="t" r="r" b="b"/>
              <a:pathLst>
                <a:path w="42860" h="128789">
                  <a:moveTo>
                    <a:pt x="21431" y="0"/>
                  </a:moveTo>
                  <a:cubicBezTo>
                    <a:pt x="25053" y="0"/>
                    <a:pt x="28101" y="2711"/>
                    <a:pt x="28525" y="6308"/>
                  </a:cubicBezTo>
                  <a:lnTo>
                    <a:pt x="28575" y="7144"/>
                  </a:lnTo>
                  <a:lnTo>
                    <a:pt x="28575" y="29797"/>
                  </a:lnTo>
                  <a:cubicBezTo>
                    <a:pt x="37137" y="32827"/>
                    <a:pt x="42860" y="40924"/>
                    <a:pt x="42860" y="50006"/>
                  </a:cubicBezTo>
                  <a:cubicBezTo>
                    <a:pt x="42860" y="59089"/>
                    <a:pt x="37137" y="67185"/>
                    <a:pt x="28575" y="70216"/>
                  </a:cubicBezTo>
                  <a:lnTo>
                    <a:pt x="28575" y="121444"/>
                  </a:lnTo>
                  <a:cubicBezTo>
                    <a:pt x="28571" y="125223"/>
                    <a:pt x="25623" y="128346"/>
                    <a:pt x="21850" y="128567"/>
                  </a:cubicBezTo>
                  <a:cubicBezTo>
                    <a:pt x="18077" y="128789"/>
                    <a:pt x="14784" y="126033"/>
                    <a:pt x="14338" y="122280"/>
                  </a:cubicBezTo>
                  <a:lnTo>
                    <a:pt x="14288" y="121444"/>
                  </a:lnTo>
                  <a:lnTo>
                    <a:pt x="14288" y="70223"/>
                  </a:lnTo>
                  <a:cubicBezTo>
                    <a:pt x="6156" y="67344"/>
                    <a:pt x="541" y="59874"/>
                    <a:pt x="36" y="51264"/>
                  </a:cubicBezTo>
                  <a:lnTo>
                    <a:pt x="0" y="50006"/>
                  </a:lnTo>
                  <a:lnTo>
                    <a:pt x="36" y="48749"/>
                  </a:lnTo>
                  <a:cubicBezTo>
                    <a:pt x="541" y="40138"/>
                    <a:pt x="6156" y="32668"/>
                    <a:pt x="14288" y="29789"/>
                  </a:cubicBezTo>
                  <a:lnTo>
                    <a:pt x="14288" y="7144"/>
                  </a:lnTo>
                  <a:cubicBezTo>
                    <a:pt x="14288" y="3198"/>
                    <a:pt x="17486" y="0"/>
                    <a:pt x="21431" y="0"/>
                  </a:cubicBezTo>
                  <a:close/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873919" y="2402681"/>
              <a:ext cx="42860" cy="128789"/>
            </a:xfrm>
            <a:custGeom>
              <a:avLst/>
              <a:gdLst/>
              <a:ahLst/>
              <a:cxnLst/>
              <a:rect l="l" t="t" r="r" b="b"/>
              <a:pathLst>
                <a:path w="42860" h="128789">
                  <a:moveTo>
                    <a:pt x="21431" y="0"/>
                  </a:moveTo>
                  <a:cubicBezTo>
                    <a:pt x="25053" y="0"/>
                    <a:pt x="28101" y="2711"/>
                    <a:pt x="28525" y="6308"/>
                  </a:cubicBezTo>
                  <a:lnTo>
                    <a:pt x="28575" y="7144"/>
                  </a:lnTo>
                  <a:lnTo>
                    <a:pt x="28575" y="72659"/>
                  </a:lnTo>
                  <a:cubicBezTo>
                    <a:pt x="37137" y="75690"/>
                    <a:pt x="42860" y="83786"/>
                    <a:pt x="42860" y="92869"/>
                  </a:cubicBezTo>
                  <a:cubicBezTo>
                    <a:pt x="42860" y="101951"/>
                    <a:pt x="37137" y="110048"/>
                    <a:pt x="28575" y="113078"/>
                  </a:cubicBezTo>
                  <a:lnTo>
                    <a:pt x="28575" y="121444"/>
                  </a:lnTo>
                  <a:cubicBezTo>
                    <a:pt x="28571" y="125223"/>
                    <a:pt x="25623" y="128346"/>
                    <a:pt x="21850" y="128567"/>
                  </a:cubicBezTo>
                  <a:cubicBezTo>
                    <a:pt x="18077" y="128789"/>
                    <a:pt x="14784" y="126033"/>
                    <a:pt x="14338" y="122280"/>
                  </a:cubicBezTo>
                  <a:lnTo>
                    <a:pt x="14288" y="121444"/>
                  </a:lnTo>
                  <a:lnTo>
                    <a:pt x="14288" y="113086"/>
                  </a:lnTo>
                  <a:cubicBezTo>
                    <a:pt x="6156" y="110207"/>
                    <a:pt x="541" y="102737"/>
                    <a:pt x="36" y="94126"/>
                  </a:cubicBezTo>
                  <a:lnTo>
                    <a:pt x="0" y="92869"/>
                  </a:lnTo>
                  <a:lnTo>
                    <a:pt x="36" y="91611"/>
                  </a:lnTo>
                  <a:cubicBezTo>
                    <a:pt x="541" y="83001"/>
                    <a:pt x="6156" y="75531"/>
                    <a:pt x="14288" y="72652"/>
                  </a:cubicBezTo>
                  <a:lnTo>
                    <a:pt x="14288" y="7144"/>
                  </a:lnTo>
                  <a:cubicBezTo>
                    <a:pt x="14288" y="3198"/>
                    <a:pt x="17486" y="0"/>
                    <a:pt x="21431" y="0"/>
                  </a:cubicBezTo>
                  <a:close/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916781" y="2402681"/>
              <a:ext cx="42860" cy="128789"/>
            </a:xfrm>
            <a:custGeom>
              <a:avLst/>
              <a:gdLst/>
              <a:ahLst/>
              <a:cxnLst/>
              <a:rect l="l" t="t" r="r" b="b"/>
              <a:pathLst>
                <a:path w="42860" h="128789">
                  <a:moveTo>
                    <a:pt x="21431" y="0"/>
                  </a:moveTo>
                  <a:cubicBezTo>
                    <a:pt x="25053" y="0"/>
                    <a:pt x="28101" y="2711"/>
                    <a:pt x="28525" y="6308"/>
                  </a:cubicBezTo>
                  <a:lnTo>
                    <a:pt x="28575" y="7144"/>
                  </a:lnTo>
                  <a:lnTo>
                    <a:pt x="28575" y="8365"/>
                  </a:lnTo>
                  <a:cubicBezTo>
                    <a:pt x="37137" y="11396"/>
                    <a:pt x="42860" y="19493"/>
                    <a:pt x="42860" y="28575"/>
                  </a:cubicBezTo>
                  <a:cubicBezTo>
                    <a:pt x="42860" y="37657"/>
                    <a:pt x="37137" y="45754"/>
                    <a:pt x="28575" y="48785"/>
                  </a:cubicBezTo>
                  <a:lnTo>
                    <a:pt x="28575" y="121444"/>
                  </a:lnTo>
                  <a:cubicBezTo>
                    <a:pt x="28571" y="125223"/>
                    <a:pt x="25623" y="128346"/>
                    <a:pt x="21850" y="128567"/>
                  </a:cubicBezTo>
                  <a:cubicBezTo>
                    <a:pt x="18077" y="128789"/>
                    <a:pt x="14784" y="126033"/>
                    <a:pt x="14338" y="122280"/>
                  </a:cubicBezTo>
                  <a:lnTo>
                    <a:pt x="14288" y="121444"/>
                  </a:lnTo>
                  <a:lnTo>
                    <a:pt x="14288" y="48792"/>
                  </a:lnTo>
                  <a:cubicBezTo>
                    <a:pt x="6156" y="45913"/>
                    <a:pt x="541" y="38443"/>
                    <a:pt x="36" y="29832"/>
                  </a:cubicBezTo>
                  <a:lnTo>
                    <a:pt x="0" y="28575"/>
                  </a:lnTo>
                  <a:lnTo>
                    <a:pt x="36" y="27318"/>
                  </a:lnTo>
                  <a:cubicBezTo>
                    <a:pt x="541" y="18707"/>
                    <a:pt x="6156" y="11237"/>
                    <a:pt x="14288" y="8358"/>
                  </a:cubicBezTo>
                  <a:lnTo>
                    <a:pt x="14288" y="7144"/>
                  </a:lnTo>
                  <a:cubicBezTo>
                    <a:pt x="14288" y="3198"/>
                    <a:pt x="17486" y="0"/>
                    <a:pt x="21431" y="0"/>
                  </a:cubicBezTo>
                  <a:close/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1082040" y="2391728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业务编排层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85850" y="2586038"/>
            <a:ext cx="198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0E8C80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★ 编排层只做状态控制与流转，不承担AI推理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762000" y="2809875"/>
            <a:ext cx="9048750" cy="250031"/>
            <a:chOff x="762000" y="2809875"/>
            <a:chExt cx="9048750" cy="250031"/>
          </a:xfrm>
        </p:grpSpPr>
        <p:sp>
          <p:nvSpPr>
            <p:cNvPr id="27" name="Rectangle 27"/>
            <p:cNvSpPr/>
            <p:nvPr/>
          </p:nvSpPr>
          <p:spPr>
            <a:xfrm>
              <a:off x="762000" y="2809875"/>
              <a:ext cx="1714500" cy="247650"/>
            </a:xfrm>
            <a:prstGeom prst="roundRect">
              <a:avLst>
                <a:gd name="adj" fmla="val 2307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333738" y="2892266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学习状态机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619375" y="2809875"/>
              <a:ext cx="1714500" cy="247650"/>
            </a:xfrm>
            <a:prstGeom prst="roundRect">
              <a:avLst>
                <a:gd name="adj" fmla="val 2307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100352" y="2892266"/>
              <a:ext cx="75254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SSE三事件协议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476750" y="2809875"/>
              <a:ext cx="1714500" cy="247650"/>
            </a:xfrm>
            <a:prstGeom prst="roundRect">
              <a:avLst>
                <a:gd name="adj" fmla="val 2307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993481" y="2892266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课件上传管道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334125" y="2809875"/>
              <a:ext cx="1428750" cy="247650"/>
            </a:xfrm>
            <a:prstGeom prst="roundRect">
              <a:avLst>
                <a:gd name="adj" fmla="val 2307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07981" y="2892266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任务调度引擎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905750" y="2809875"/>
              <a:ext cx="1905000" cy="247650"/>
            </a:xfrm>
            <a:prstGeom prst="roundRect">
              <a:avLst>
                <a:gd name="adj" fmla="val 2307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363712" y="2892266"/>
              <a:ext cx="9890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OpenAPI兼容适配层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752475" y="3205162"/>
            <a:ext cx="427958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Go后端 | 学习状态机：讲授→问答→三态续接→回讲 | SSE：token→sentence→final | 三级预览降级</a:t>
            </a:r>
          </a:p>
        </p:txBody>
      </p:sp>
      <p:sp>
        <p:nvSpPr>
          <p:cNvPr id="39" name="Line 39"/>
          <p:cNvSpPr/>
          <p:nvPr/>
        </p:nvSpPr>
        <p:spPr>
          <a:xfrm>
            <a:off x="6096000" y="3476625"/>
            <a:ext cx="1" cy="142875"/>
          </a:xfrm>
          <a:prstGeom prst="line">
            <a:avLst/>
          </a:prstGeom>
          <a:noFill/>
          <a:ln w="19050">
            <a:solidFill>
              <a:srgbClr val="90CAF9"/>
            </a:solidFill>
            <a:tailEnd type="triangle" w="lg" len="lg"/>
          </a:ln>
        </p:spPr>
      </p:sp>
      <p:sp>
        <p:nvSpPr>
          <p:cNvPr id="40" name="Rectangle 40"/>
          <p:cNvSpPr/>
          <p:nvPr/>
        </p:nvSpPr>
        <p:spPr>
          <a:xfrm>
            <a:off x="571500" y="3667125"/>
            <a:ext cx="11049000" cy="1333500"/>
          </a:xfrm>
          <a:prstGeom prst="roundRect">
            <a:avLst>
              <a:gd name="adj" fmla="val 7143"/>
            </a:avLst>
          </a:prstGeom>
          <a:gradFill>
            <a:gsLst>
              <a:gs pos="0">
                <a:srgbClr val="7B1FA2"/>
              </a:gs>
              <a:gs pos="100000">
                <a:srgbClr val="9C27B0"/>
              </a:gs>
            </a:gsLst>
            <a:lin ang="0" scaled="1"/>
          </a:gradFill>
          <a:ln>
            <a:noFill/>
          </a:ln>
        </p:spPr>
      </p:sp>
      <p:sp>
        <p:nvSpPr>
          <p:cNvPr id="41" name="Freeform 41"/>
          <p:cNvSpPr/>
          <p:nvPr/>
        </p:nvSpPr>
        <p:spPr>
          <a:xfrm>
            <a:off x="823912" y="3916338"/>
            <a:ext cx="150425" cy="151012"/>
          </a:xfrm>
          <a:custGeom>
            <a:avLst/>
            <a:gdLst/>
            <a:ahLst/>
            <a:cxnLst/>
            <a:rect l="l" t="t" r="r" b="b"/>
            <a:pathLst>
              <a:path w="150425" h="151012">
                <a:moveTo>
                  <a:pt x="107157" y="12773"/>
                </a:moveTo>
                <a:cubicBezTo>
                  <a:pt x="137181" y="30107"/>
                  <a:pt x="150425" y="66495"/>
                  <a:pt x="138567" y="99073"/>
                </a:cubicBezTo>
                <a:cubicBezTo>
                  <a:pt x="126710" y="131650"/>
                  <a:pt x="93174" y="151012"/>
                  <a:pt x="59032" y="144991"/>
                </a:cubicBezTo>
                <a:cubicBezTo>
                  <a:pt x="24891" y="138971"/>
                  <a:pt x="0" y="109306"/>
                  <a:pt x="1" y="74637"/>
                </a:cubicBezTo>
                <a:lnTo>
                  <a:pt x="37" y="72323"/>
                </a:lnTo>
                <a:cubicBezTo>
                  <a:pt x="850" y="47227"/>
                  <a:pt x="14780" y="24400"/>
                  <a:pt x="36726" y="12200"/>
                </a:cubicBezTo>
                <a:cubicBezTo>
                  <a:pt x="58672" y="0"/>
                  <a:pt x="85412" y="217"/>
                  <a:pt x="107157" y="12773"/>
                </a:cubicBezTo>
                <a:moveTo>
                  <a:pt x="62202" y="55299"/>
                </a:moveTo>
                <a:cubicBezTo>
                  <a:pt x="59412" y="52511"/>
                  <a:pt x="54890" y="52511"/>
                  <a:pt x="52100" y="55299"/>
                </a:cubicBezTo>
                <a:lnTo>
                  <a:pt x="37813" y="69587"/>
                </a:lnTo>
                <a:cubicBezTo>
                  <a:pt x="35024" y="72376"/>
                  <a:pt x="35024" y="76898"/>
                  <a:pt x="37813" y="79688"/>
                </a:cubicBezTo>
                <a:lnTo>
                  <a:pt x="52100" y="93976"/>
                </a:lnTo>
                <a:cubicBezTo>
                  <a:pt x="54890" y="96764"/>
                  <a:pt x="59412" y="96764"/>
                  <a:pt x="62202" y="93976"/>
                </a:cubicBezTo>
                <a:lnTo>
                  <a:pt x="62794" y="93304"/>
                </a:lnTo>
                <a:cubicBezTo>
                  <a:pt x="65000" y="90460"/>
                  <a:pt x="64746" y="86419"/>
                  <a:pt x="62202" y="83874"/>
                </a:cubicBezTo>
                <a:lnTo>
                  <a:pt x="52972" y="74637"/>
                </a:lnTo>
                <a:lnTo>
                  <a:pt x="62202" y="65401"/>
                </a:lnTo>
                <a:cubicBezTo>
                  <a:pt x="64990" y="62611"/>
                  <a:pt x="64990" y="58089"/>
                  <a:pt x="62202" y="55299"/>
                </a:cubicBezTo>
                <a:moveTo>
                  <a:pt x="90777" y="55299"/>
                </a:moveTo>
                <a:cubicBezTo>
                  <a:pt x="87987" y="52511"/>
                  <a:pt x="83465" y="52511"/>
                  <a:pt x="80675" y="55299"/>
                </a:cubicBezTo>
                <a:lnTo>
                  <a:pt x="80082" y="55971"/>
                </a:lnTo>
                <a:cubicBezTo>
                  <a:pt x="77876" y="58815"/>
                  <a:pt x="78130" y="62856"/>
                  <a:pt x="80675" y="65401"/>
                </a:cubicBezTo>
                <a:lnTo>
                  <a:pt x="89905" y="74637"/>
                </a:lnTo>
                <a:lnTo>
                  <a:pt x="80675" y="83874"/>
                </a:lnTo>
                <a:cubicBezTo>
                  <a:pt x="77968" y="86677"/>
                  <a:pt x="78007" y="91133"/>
                  <a:pt x="80762" y="93889"/>
                </a:cubicBezTo>
                <a:cubicBezTo>
                  <a:pt x="83518" y="96644"/>
                  <a:pt x="87973" y="96683"/>
                  <a:pt x="90777" y="93976"/>
                </a:cubicBezTo>
                <a:lnTo>
                  <a:pt x="105064" y="79688"/>
                </a:lnTo>
                <a:cubicBezTo>
                  <a:pt x="107853" y="76898"/>
                  <a:pt x="107853" y="72376"/>
                  <a:pt x="105064" y="6958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082040" y="3915728"/>
            <a:ext cx="5926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AI能力层</a:t>
            </a:r>
          </a:p>
        </p:txBody>
      </p:sp>
      <p:sp>
        <p:nvSpPr>
          <p:cNvPr id="43" name="Rectangle 43"/>
          <p:cNvSpPr/>
          <p:nvPr/>
        </p:nvSpPr>
        <p:spPr>
          <a:xfrm>
            <a:off x="2381250" y="3810000"/>
            <a:ext cx="4381500" cy="1047750"/>
          </a:xfrm>
          <a:prstGeom prst="roundRect">
            <a:avLst>
              <a:gd name="adj" fmla="val 7273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3911754" y="3911441"/>
            <a:ext cx="13204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主引擎：Dify 工作流编排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2524125" y="4143375"/>
            <a:ext cx="4095750" cy="247650"/>
            <a:chOff x="2524125" y="4143375"/>
            <a:chExt cx="4095750" cy="247650"/>
          </a:xfrm>
        </p:grpSpPr>
        <p:sp>
          <p:nvSpPr>
            <p:cNvPr id="45" name="Rectangle 45"/>
            <p:cNvSpPr/>
            <p:nvPr/>
          </p:nvSpPr>
          <p:spPr>
            <a:xfrm>
              <a:off x="2524125" y="4143375"/>
              <a:ext cx="809625" cy="2476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714625" y="42243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课件解析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429000" y="4143375"/>
              <a:ext cx="809625" cy="2476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619500" y="42243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知识入库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333875" y="4143375"/>
              <a:ext cx="809625" cy="2476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524375" y="42243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智能问答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238750" y="4143375"/>
              <a:ext cx="809625" cy="2476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429250" y="42243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脚本生成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143625" y="4143375"/>
              <a:ext cx="476250" cy="2476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289715" y="4224338"/>
              <a:ext cx="18407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TTS</a:t>
              </a:r>
            </a:p>
          </p:txBody>
        </p:sp>
      </p:grpSp>
      <p:sp>
        <p:nvSpPr>
          <p:cNvPr id="56" name="Freeform 56"/>
          <p:cNvSpPr/>
          <p:nvPr/>
        </p:nvSpPr>
        <p:spPr>
          <a:xfrm>
            <a:off x="6762750" y="4286250"/>
            <a:ext cx="381000" cy="285750"/>
          </a:xfrm>
          <a:custGeom>
            <a:avLst/>
            <a:gdLst/>
            <a:ahLst/>
            <a:cxnLst/>
            <a:rect l="l" t="t" r="r" b="b"/>
            <a:pathLst>
              <a:path w="381000" h="285750">
                <a:moveTo>
                  <a:pt x="0" y="0"/>
                </a:moveTo>
                <a:lnTo>
                  <a:pt x="381000" y="0"/>
                </a:lnTo>
                <a:lnTo>
                  <a:pt x="381000" y="285750"/>
                </a:lnTo>
                <a:lnTo>
                  <a:pt x="190500" y="285750"/>
                </a:lnTo>
              </a:path>
            </a:pathLst>
          </a:custGeom>
          <a:noFill/>
          <a:ln w="14288">
            <a:solidFill>
              <a:srgbClr val="0E8C80"/>
            </a:solidFill>
            <a:custDash>
              <a:ds d="266666" sp="133333"/>
            </a:custDash>
          </a:ln>
        </p:spPr>
      </p:sp>
      <p:sp>
        <p:nvSpPr>
          <p:cNvPr id="57" name="TextBox 57"/>
          <p:cNvSpPr txBox="1"/>
          <p:nvPr/>
        </p:nvSpPr>
        <p:spPr>
          <a:xfrm>
            <a:off x="7135178" y="4165759"/>
            <a:ext cx="33668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不可用↓</a:t>
            </a:r>
          </a:p>
        </p:txBody>
      </p:sp>
      <p:sp>
        <p:nvSpPr>
          <p:cNvPr id="58" name="Rectangle 58"/>
          <p:cNvSpPr/>
          <p:nvPr/>
        </p:nvSpPr>
        <p:spPr>
          <a:xfrm>
            <a:off x="7048500" y="3810000"/>
            <a:ext cx="2857500" cy="1047750"/>
          </a:xfrm>
          <a:prstGeom prst="roundRect">
            <a:avLst>
              <a:gd name="adj" fmla="val 7273"/>
            </a:avLst>
          </a:prstGeom>
          <a:solidFill>
            <a:srgbClr val="E8EDF5"/>
          </a:solidFill>
          <a:ln w="9525">
            <a:solidFill>
              <a:srgbClr val="0E8C80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7831443" y="3911441"/>
            <a:ext cx="129161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降级引擎：备用推理引擎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325678" y="4165759"/>
            <a:ext cx="64722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三阶段解耦管线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325678" y="4308634"/>
            <a:ext cx="110178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+ JSON Schema结构化约束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325678" y="4451509"/>
            <a:ext cx="72373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+ 苏格拉底式问答</a:t>
            </a:r>
          </a:p>
        </p:txBody>
      </p:sp>
      <p:sp>
        <p:nvSpPr>
          <p:cNvPr id="63" name="Line 63"/>
          <p:cNvSpPr/>
          <p:nvPr/>
        </p:nvSpPr>
        <p:spPr>
          <a:xfrm>
            <a:off x="6096000" y="5000625"/>
            <a:ext cx="1" cy="142875"/>
          </a:xfrm>
          <a:prstGeom prst="line">
            <a:avLst/>
          </a:prstGeom>
          <a:noFill/>
          <a:ln w="19050">
            <a:solidFill>
              <a:srgbClr val="90CAF9"/>
            </a:solidFill>
            <a:tailEnd type="triangle" w="lg" len="lg"/>
          </a:ln>
        </p:spPr>
      </p:sp>
      <p:sp>
        <p:nvSpPr>
          <p:cNvPr id="64" name="Rectangle 64"/>
          <p:cNvSpPr/>
          <p:nvPr/>
        </p:nvSpPr>
        <p:spPr>
          <a:xfrm>
            <a:off x="571500" y="5191125"/>
            <a:ext cx="11049000" cy="904875"/>
          </a:xfrm>
          <a:prstGeom prst="roundRect">
            <a:avLst>
              <a:gd name="adj" fmla="val 10526"/>
            </a:avLst>
          </a:prstGeom>
          <a:gradFill>
            <a:gsLst>
              <a:gs pos="0">
                <a:srgbClr val="37474F"/>
              </a:gs>
              <a:gs pos="100000">
                <a:srgbClr val="546E7A"/>
              </a:gs>
            </a:gsLst>
            <a:lin ang="0" scaled="1"/>
          </a:gradFill>
          <a:ln>
            <a:noFill/>
          </a:ln>
        </p:spPr>
      </p:sp>
      <p:grpSp>
        <p:nvGrpSpPr>
          <p:cNvPr id="68" name="Group 68"/>
          <p:cNvGrpSpPr/>
          <p:nvPr/>
        </p:nvGrpSpPr>
        <p:grpSpPr>
          <a:xfrm>
            <a:off x="831056" y="5443538"/>
            <a:ext cx="128588" cy="142874"/>
            <a:chOff x="831056" y="5443538"/>
            <a:chExt cx="128588" cy="142874"/>
          </a:xfrm>
        </p:grpSpPr>
        <p:sp>
          <p:nvSpPr>
            <p:cNvPr id="65" name="Freeform 65"/>
            <p:cNvSpPr/>
            <p:nvPr/>
          </p:nvSpPr>
          <p:spPr>
            <a:xfrm>
              <a:off x="831056" y="5541628"/>
              <a:ext cx="128588" cy="44784"/>
            </a:xfrm>
            <a:custGeom>
              <a:avLst/>
              <a:gdLst/>
              <a:ahLst/>
              <a:cxnLst/>
              <a:rect l="l" t="t" r="r" b="b"/>
              <a:pathLst>
                <a:path w="128588" h="44784">
                  <a:moveTo>
                    <a:pt x="0" y="0"/>
                  </a:moveTo>
                  <a:cubicBezTo>
                    <a:pt x="14059" y="10766"/>
                    <a:pt x="37390" y="16209"/>
                    <a:pt x="64294" y="16209"/>
                  </a:cubicBezTo>
                  <a:cubicBezTo>
                    <a:pt x="91154" y="16209"/>
                    <a:pt x="114479" y="10780"/>
                    <a:pt x="128588" y="121"/>
                  </a:cubicBezTo>
                  <a:lnTo>
                    <a:pt x="128588" y="16209"/>
                  </a:lnTo>
                  <a:cubicBezTo>
                    <a:pt x="128588" y="33533"/>
                    <a:pt x="100763" y="44327"/>
                    <a:pt x="66487" y="44770"/>
                  </a:cubicBezTo>
                  <a:lnTo>
                    <a:pt x="64294" y="44784"/>
                  </a:lnTo>
                  <a:cubicBezTo>
                    <a:pt x="29018" y="44784"/>
                    <a:pt x="0" y="33904"/>
                    <a:pt x="0" y="162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831056" y="5498766"/>
              <a:ext cx="128588" cy="44784"/>
            </a:xfrm>
            <a:custGeom>
              <a:avLst/>
              <a:gdLst/>
              <a:ahLst/>
              <a:cxnLst/>
              <a:rect l="l" t="t" r="r" b="b"/>
              <a:pathLst>
                <a:path w="128588" h="44784">
                  <a:moveTo>
                    <a:pt x="0" y="0"/>
                  </a:moveTo>
                  <a:cubicBezTo>
                    <a:pt x="14059" y="10766"/>
                    <a:pt x="37390" y="16209"/>
                    <a:pt x="64294" y="16209"/>
                  </a:cubicBezTo>
                  <a:cubicBezTo>
                    <a:pt x="91154" y="16209"/>
                    <a:pt x="114479" y="10780"/>
                    <a:pt x="128588" y="121"/>
                  </a:cubicBezTo>
                  <a:lnTo>
                    <a:pt x="128588" y="16209"/>
                  </a:lnTo>
                  <a:cubicBezTo>
                    <a:pt x="128588" y="33904"/>
                    <a:pt x="99570" y="44784"/>
                    <a:pt x="64294" y="44784"/>
                  </a:cubicBezTo>
                  <a:cubicBezTo>
                    <a:pt x="30018" y="44784"/>
                    <a:pt x="1643" y="34511"/>
                    <a:pt x="150" y="17674"/>
                  </a:cubicBezTo>
                  <a:lnTo>
                    <a:pt x="36" y="16952"/>
                  </a:lnTo>
                  <a:lnTo>
                    <a:pt x="0" y="1620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831056" y="5443538"/>
              <a:ext cx="128588" cy="57150"/>
            </a:xfrm>
            <a:custGeom>
              <a:avLst/>
              <a:gdLst/>
              <a:ahLst/>
              <a:cxnLst/>
              <a:rect l="l" t="t" r="r" b="b"/>
              <a:pathLst>
                <a:path w="128588" h="57150">
                  <a:moveTo>
                    <a:pt x="64294" y="0"/>
                  </a:moveTo>
                  <a:cubicBezTo>
                    <a:pt x="71731" y="0"/>
                    <a:pt x="78896" y="486"/>
                    <a:pt x="85561" y="1414"/>
                  </a:cubicBezTo>
                  <a:lnTo>
                    <a:pt x="88912" y="1922"/>
                  </a:lnTo>
                  <a:cubicBezTo>
                    <a:pt x="92912" y="2588"/>
                    <a:pt x="96689" y="3417"/>
                    <a:pt x="100242" y="4408"/>
                  </a:cubicBezTo>
                  <a:lnTo>
                    <a:pt x="103385" y="5344"/>
                  </a:lnTo>
                  <a:lnTo>
                    <a:pt x="103921" y="5515"/>
                  </a:lnTo>
                  <a:cubicBezTo>
                    <a:pt x="105865" y="6154"/>
                    <a:pt x="107783" y="6869"/>
                    <a:pt x="109671" y="7658"/>
                  </a:cubicBezTo>
                  <a:lnTo>
                    <a:pt x="111093" y="8272"/>
                  </a:lnTo>
                  <a:cubicBezTo>
                    <a:pt x="113641" y="9425"/>
                    <a:pt x="115944" y="10687"/>
                    <a:pt x="118001" y="12059"/>
                  </a:cubicBezTo>
                  <a:cubicBezTo>
                    <a:pt x="118787" y="12583"/>
                    <a:pt x="119532" y="13118"/>
                    <a:pt x="120237" y="13666"/>
                  </a:cubicBezTo>
                  <a:cubicBezTo>
                    <a:pt x="122023" y="15052"/>
                    <a:pt x="123628" y="16655"/>
                    <a:pt x="125016" y="18438"/>
                  </a:cubicBezTo>
                  <a:lnTo>
                    <a:pt x="125666" y="19352"/>
                  </a:lnTo>
                  <a:cubicBezTo>
                    <a:pt x="126000" y="19852"/>
                    <a:pt x="126307" y="20355"/>
                    <a:pt x="126588" y="20860"/>
                  </a:cubicBezTo>
                  <a:lnTo>
                    <a:pt x="127088" y="21853"/>
                  </a:lnTo>
                  <a:cubicBezTo>
                    <a:pt x="127864" y="23520"/>
                    <a:pt x="128340" y="25258"/>
                    <a:pt x="128517" y="27068"/>
                  </a:cubicBezTo>
                  <a:lnTo>
                    <a:pt x="128588" y="28575"/>
                  </a:lnTo>
                  <a:cubicBezTo>
                    <a:pt x="128588" y="46270"/>
                    <a:pt x="99570" y="57150"/>
                    <a:pt x="64294" y="57150"/>
                  </a:cubicBezTo>
                  <a:cubicBezTo>
                    <a:pt x="30019" y="57150"/>
                    <a:pt x="1644" y="46877"/>
                    <a:pt x="151" y="30039"/>
                  </a:cubicBezTo>
                  <a:cubicBezTo>
                    <a:pt x="50" y="29558"/>
                    <a:pt x="0" y="29067"/>
                    <a:pt x="1" y="28575"/>
                  </a:cubicBezTo>
                  <a:lnTo>
                    <a:pt x="36" y="27832"/>
                  </a:lnTo>
                  <a:lnTo>
                    <a:pt x="151" y="27118"/>
                  </a:lnTo>
                  <a:cubicBezTo>
                    <a:pt x="1615" y="10644"/>
                    <a:pt x="28797" y="450"/>
                    <a:pt x="62065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69" name="TextBox 69"/>
          <p:cNvSpPr txBox="1"/>
          <p:nvPr/>
        </p:nvSpPr>
        <p:spPr>
          <a:xfrm>
            <a:off x="1082040" y="5439728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数据支撑层</a:t>
            </a:r>
          </a:p>
        </p:txBody>
      </p:sp>
      <p:grpSp>
        <p:nvGrpSpPr>
          <p:cNvPr id="82" name="Group 82"/>
          <p:cNvGrpSpPr/>
          <p:nvPr/>
        </p:nvGrpSpPr>
        <p:grpSpPr>
          <a:xfrm>
            <a:off x="2476500" y="5334000"/>
            <a:ext cx="8001000" cy="619125"/>
            <a:chOff x="2476500" y="5334000"/>
            <a:chExt cx="8001000" cy="619125"/>
          </a:xfrm>
        </p:grpSpPr>
        <p:sp>
          <p:nvSpPr>
            <p:cNvPr id="70" name="Rectangle 70"/>
            <p:cNvSpPr/>
            <p:nvPr/>
          </p:nvSpPr>
          <p:spPr>
            <a:xfrm>
              <a:off x="2476500" y="5334000"/>
              <a:ext cx="2667000" cy="619125"/>
            </a:xfrm>
            <a:prstGeom prst="roundRect">
              <a:avLst>
                <a:gd name="adj" fmla="val 9231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3470306" y="5435441"/>
              <a:ext cx="6793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PostgreSQL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3090386" y="5595938"/>
              <a:ext cx="143922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课程·节点·用户·学习记录·会话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3182600" y="5756434"/>
              <a:ext cx="125480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FFFFFF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关系型 | 事务一致 | JSONB扩展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334000" y="5334000"/>
              <a:ext cx="2476500" cy="619125"/>
            </a:xfrm>
            <a:prstGeom prst="roundRect">
              <a:avLst>
                <a:gd name="adj" fmla="val 9231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417379" y="5435441"/>
              <a:ext cx="3097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Redis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780127" y="5595938"/>
              <a:ext cx="158424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会话状态·任务队列·进度游标·缓存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253139" y="5756434"/>
              <a:ext cx="638223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FFFFFF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高吞吐 | 低延迟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8001000" y="5334000"/>
              <a:ext cx="2476500" cy="619125"/>
            </a:xfrm>
            <a:prstGeom prst="roundRect">
              <a:avLst>
                <a:gd name="adj" fmla="val 9231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075716" y="5435441"/>
              <a:ext cx="3270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MinIO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674656" y="5595938"/>
              <a:ext cx="112918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课件源文件·预览图·音频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825627" y="5756434"/>
              <a:ext cx="82724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FFFFFF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S3兼容 | 私有化部署</a:t>
              </a:r>
            </a:p>
          </p:txBody>
        </p:sp>
      </p:grpSp>
      <p:sp>
        <p:nvSpPr>
          <p:cNvPr id="83" name="Rectangle 83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84" name="TextBox 84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3A7B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1492" y="180499"/>
            <a:ext cx="768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泛雅 AI 智课</a:t>
            </a:r>
          </a:p>
        </p:txBody>
      </p:sp>
      <p:sp>
        <p:nvSpPr>
          <p:cNvPr id="5" name="Rectangle 5"/>
          <p:cNvSpPr/>
          <p:nvPr/>
        </p:nvSpPr>
        <p:spPr>
          <a:xfrm>
            <a:off x="5238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60591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项目背景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32861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3681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解决方案</a:t>
            </a:r>
          </a:p>
        </p:txBody>
      </p:sp>
      <p:sp>
        <p:nvSpPr>
          <p:cNvPr id="9" name="Rectangle 9"/>
          <p:cNvSpPr/>
          <p:nvPr/>
        </p:nvSpPr>
        <p:spPr>
          <a:xfrm>
            <a:off x="60483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118413" y="53149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系统实现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8106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8926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项目总结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7205" y="773430"/>
            <a:ext cx="240563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核心业务数据流图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23875" y="1123950"/>
            <a:ext cx="47625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11492" y="1228249"/>
            <a:ext cx="220253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数据产生 → 流转 → 存储 → 消费 全链路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23875" y="1619250"/>
            <a:ext cx="1714500" cy="762000"/>
          </a:xfrm>
          <a:prstGeom prst="roundRect">
            <a:avLst>
              <a:gd name="adj" fmla="val 10000"/>
            </a:avLst>
          </a:prstGeom>
          <a:solidFill>
            <a:srgbClr val="DDE6FF"/>
          </a:solidFill>
          <a:ln w="14288">
            <a:solidFill>
              <a:srgbClr val="1E6FE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037689" y="1818799"/>
            <a:ext cx="68687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① 数据产生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4032" y="2033588"/>
            <a:ext cx="11141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教师上传课件(PPT/PDF)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71550" y="2176462"/>
            <a:ext cx="8191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学生提问触发问答</a:t>
            </a:r>
          </a:p>
        </p:txBody>
      </p:sp>
      <p:sp>
        <p:nvSpPr>
          <p:cNvPr id="20" name="Line 20"/>
          <p:cNvSpPr/>
          <p:nvPr/>
        </p:nvSpPr>
        <p:spPr>
          <a:xfrm>
            <a:off x="2238375" y="2000250"/>
            <a:ext cx="285750" cy="1"/>
          </a:xfrm>
          <a:prstGeom prst="line">
            <a:avLst/>
          </a:prstGeom>
          <a:noFill/>
          <a:ln w="19050">
            <a:solidFill>
              <a:srgbClr val="1E6FE0"/>
            </a:solidFill>
            <a:tailEnd type="triangle" w="lg" len="lg"/>
          </a:ln>
        </p:spPr>
      </p:sp>
      <p:sp>
        <p:nvSpPr>
          <p:cNvPr id="21" name="Rectangle 21"/>
          <p:cNvSpPr/>
          <p:nvPr/>
        </p:nvSpPr>
        <p:spPr>
          <a:xfrm>
            <a:off x="2619375" y="1619250"/>
            <a:ext cx="1714500" cy="762000"/>
          </a:xfrm>
          <a:prstGeom prst="roundRect">
            <a:avLst>
              <a:gd name="adj" fmla="val 10000"/>
            </a:avLst>
          </a:prstGeom>
          <a:solidFill>
            <a:srgbClr val="DDE6FF"/>
          </a:solidFill>
          <a:ln w="14288">
            <a:solidFill>
              <a:srgbClr val="1E6FE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3133189" y="1818799"/>
            <a:ext cx="68687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② 编排分发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062049" y="2033588"/>
            <a:ext cx="82915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Go编排层接收请求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67050" y="2176462"/>
            <a:ext cx="8191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任务队列排队分发</a:t>
            </a:r>
          </a:p>
        </p:txBody>
      </p:sp>
      <p:sp>
        <p:nvSpPr>
          <p:cNvPr id="25" name="Line 25"/>
          <p:cNvSpPr/>
          <p:nvPr/>
        </p:nvSpPr>
        <p:spPr>
          <a:xfrm>
            <a:off x="4333875" y="2000250"/>
            <a:ext cx="285750" cy="1"/>
          </a:xfrm>
          <a:prstGeom prst="line">
            <a:avLst/>
          </a:prstGeom>
          <a:noFill/>
          <a:ln w="19050">
            <a:solidFill>
              <a:srgbClr val="1E6FE0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4714875" y="1619250"/>
            <a:ext cx="1905000" cy="762000"/>
          </a:xfrm>
          <a:prstGeom prst="roundRect">
            <a:avLst>
              <a:gd name="adj" fmla="val 10000"/>
            </a:avLst>
          </a:prstGeom>
          <a:solidFill>
            <a:srgbClr val="DDE6FF"/>
          </a:solidFill>
          <a:ln w="14288">
            <a:solidFill>
              <a:srgbClr val="1E6FE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5323939" y="1818799"/>
            <a:ext cx="68687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③ 引擎处理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160288" y="2033588"/>
            <a:ext cx="101417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AI引擎解析/问答/生成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257800" y="2176462"/>
            <a:ext cx="8191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备用引擎故障切换</a:t>
            </a:r>
          </a:p>
        </p:txBody>
      </p:sp>
      <p:sp>
        <p:nvSpPr>
          <p:cNvPr id="30" name="Line 30"/>
          <p:cNvSpPr/>
          <p:nvPr/>
        </p:nvSpPr>
        <p:spPr>
          <a:xfrm>
            <a:off x="6619875" y="2000250"/>
            <a:ext cx="285750" cy="1"/>
          </a:xfrm>
          <a:prstGeom prst="line">
            <a:avLst/>
          </a:prstGeom>
          <a:noFill/>
          <a:ln w="19050">
            <a:solidFill>
              <a:srgbClr val="1E6FE0"/>
            </a:solidFill>
            <a:tailEnd type="triangle" w="lg" len="lg"/>
          </a:ln>
        </p:spPr>
      </p:sp>
      <p:sp>
        <p:nvSpPr>
          <p:cNvPr id="31" name="Rectangle 31"/>
          <p:cNvSpPr/>
          <p:nvPr/>
        </p:nvSpPr>
        <p:spPr>
          <a:xfrm>
            <a:off x="7000875" y="1619250"/>
            <a:ext cx="1714500" cy="762000"/>
          </a:xfrm>
          <a:prstGeom prst="roundRect">
            <a:avLst>
              <a:gd name="adj" fmla="val 10000"/>
            </a:avLst>
          </a:prstGeom>
          <a:solidFill>
            <a:srgbClr val="DDE6FF"/>
          </a:solidFill>
          <a:ln w="14288">
            <a:solidFill>
              <a:srgbClr val="1E6FE0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7446430" y="1818799"/>
            <a:ext cx="8233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④ 数据持久化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313533" y="2033588"/>
            <a:ext cx="10891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PostgreSQL结构化存储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416046" y="2176462"/>
            <a:ext cx="88415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MinIO文件对象存储</a:t>
            </a:r>
          </a:p>
        </p:txBody>
      </p:sp>
      <p:sp>
        <p:nvSpPr>
          <p:cNvPr id="35" name="Line 35"/>
          <p:cNvSpPr/>
          <p:nvPr/>
        </p:nvSpPr>
        <p:spPr>
          <a:xfrm>
            <a:off x="8715375" y="2000250"/>
            <a:ext cx="285750" cy="1"/>
          </a:xfrm>
          <a:prstGeom prst="line">
            <a:avLst/>
          </a:prstGeom>
          <a:noFill/>
          <a:ln w="19050">
            <a:solidFill>
              <a:srgbClr val="1E6FE0"/>
            </a:solidFill>
            <a:tailEnd type="triangle" w="lg" len="lg"/>
          </a:ln>
        </p:spPr>
      </p:sp>
      <p:sp>
        <p:nvSpPr>
          <p:cNvPr id="36" name="Rectangle 36"/>
          <p:cNvSpPr/>
          <p:nvPr/>
        </p:nvSpPr>
        <p:spPr>
          <a:xfrm>
            <a:off x="9096375" y="1619250"/>
            <a:ext cx="1714500" cy="762000"/>
          </a:xfrm>
          <a:prstGeom prst="roundRect">
            <a:avLst>
              <a:gd name="adj" fmla="val 10000"/>
            </a:avLst>
          </a:prstGeom>
          <a:solidFill>
            <a:srgbClr val="DDE6FF"/>
          </a:solidFill>
          <a:ln w="14288">
            <a:solidFill>
              <a:srgbClr val="1E6FE0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610189" y="1818799"/>
            <a:ext cx="68687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⑤ 数据消费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594056" y="2033588"/>
            <a:ext cx="71913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教师端学情查看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594056" y="2176462"/>
            <a:ext cx="71913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学生端断点恢复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10540" y="26489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数据流转明细</a:t>
            </a:r>
          </a:p>
        </p:txBody>
      </p:sp>
      <p:grpSp>
        <p:nvGrpSpPr>
          <p:cNvPr id="71" name="Group 71"/>
          <p:cNvGrpSpPr/>
          <p:nvPr/>
        </p:nvGrpSpPr>
        <p:grpSpPr>
          <a:xfrm>
            <a:off x="523875" y="2905125"/>
            <a:ext cx="11144250" cy="2047875"/>
            <a:chOff x="523875" y="2905125"/>
            <a:chExt cx="11144250" cy="2047875"/>
          </a:xfrm>
        </p:grpSpPr>
        <p:sp>
          <p:nvSpPr>
            <p:cNvPr id="41" name="Rectangle 41"/>
            <p:cNvSpPr/>
            <p:nvPr/>
          </p:nvSpPr>
          <p:spPr>
            <a:xfrm>
              <a:off x="523875" y="2905125"/>
              <a:ext cx="11144250" cy="285750"/>
            </a:xfrm>
            <a:prstGeom prst="roundRect">
              <a:avLst>
                <a:gd name="adj" fmla="val 2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302758" y="3006566"/>
              <a:ext cx="25198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步骤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377994" y="3006566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数据内容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949744" y="3006566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存储介质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88751" y="3006566"/>
              <a:ext cx="3674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消费方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23875" y="3219450"/>
              <a:ext cx="11144250" cy="323850"/>
            </a:xfrm>
            <a:prstGeom prst="rect">
              <a:avLst/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98245" y="3330416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课件上传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105710" y="3330416"/>
              <a:ext cx="102758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课件源文件 + 元数据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035004" y="3330416"/>
              <a:ext cx="31249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MinIO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95239" y="3330416"/>
              <a:ext cx="55452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AI解析引擎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23875" y="3571875"/>
              <a:ext cx="11144250" cy="323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151489" y="3682841"/>
              <a:ext cx="55452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AI解析完成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050703" y="3682841"/>
              <a:ext cx="11375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结构化页面 + 教学节点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867233" y="3682841"/>
              <a:ext cx="64803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PostgreSQL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01727" y="3682841"/>
              <a:ext cx="74154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教师端/学生端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23875" y="3924300"/>
              <a:ext cx="11144250" cy="323850"/>
            </a:xfrm>
            <a:prstGeom prst="rect">
              <a:avLst/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198245" y="4035266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学生提问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050703" y="4035266"/>
              <a:ext cx="11375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问题文本 + 上下文定位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762720" y="4035266"/>
              <a:ext cx="85706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Redis(会话缓存)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95239" y="4035266"/>
              <a:ext cx="55452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AI问答引擎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23875" y="4276725"/>
              <a:ext cx="11144250" cy="323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198245" y="438769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问答完成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822424" y="4387691"/>
              <a:ext cx="15941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回答文本 + 理解程度 + 续接位置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867233" y="4387691"/>
              <a:ext cx="64803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PostgreSQL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080712" y="4387691"/>
              <a:ext cx="9835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学生前端(SSE流式)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23875" y="4629150"/>
              <a:ext cx="11144250" cy="323850"/>
            </a:xfrm>
            <a:prstGeom prst="rect">
              <a:avLst/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198245" y="4740116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学情回传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2877431" y="4740116"/>
              <a:ext cx="14841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掌握度 + 提问统计 + 卡点分布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867233" y="4740116"/>
              <a:ext cx="64803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PostgreSQL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231981" y="4740116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教师学情看板</a:t>
              </a:r>
            </a:p>
          </p:txBody>
        </p:sp>
      </p:grpSp>
      <p:sp>
        <p:nvSpPr>
          <p:cNvPr id="72" name="Rectangle 72"/>
          <p:cNvSpPr/>
          <p:nvPr/>
        </p:nvSpPr>
        <p:spPr>
          <a:xfrm>
            <a:off x="523875" y="6572250"/>
            <a:ext cx="11144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514350" y="6662738"/>
            <a:ext cx="9641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1493579" y="6662738"/>
            <a:ext cx="1840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09a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3A7B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1492" y="180499"/>
            <a:ext cx="768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泛雅 AI 智课</a:t>
            </a:r>
          </a:p>
        </p:txBody>
      </p:sp>
      <p:sp>
        <p:nvSpPr>
          <p:cNvPr id="5" name="Rectangle 5"/>
          <p:cNvSpPr/>
          <p:nvPr/>
        </p:nvSpPr>
        <p:spPr>
          <a:xfrm>
            <a:off x="5238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60591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项目背景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32861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3681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解决方案</a:t>
            </a:r>
          </a:p>
        </p:txBody>
      </p:sp>
      <p:sp>
        <p:nvSpPr>
          <p:cNvPr id="9" name="Rectangle 9"/>
          <p:cNvSpPr/>
          <p:nvPr/>
        </p:nvSpPr>
        <p:spPr>
          <a:xfrm>
            <a:off x="60483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118413" y="53149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系统实现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8106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8926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项目总结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7205" y="773430"/>
            <a:ext cx="446389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关键业务场景泳道图：跨模块协同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23875" y="1123950"/>
            <a:ext cx="47625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grpSp>
        <p:nvGrpSpPr>
          <p:cNvPr id="96" name="Group 96"/>
          <p:cNvGrpSpPr/>
          <p:nvPr/>
        </p:nvGrpSpPr>
        <p:grpSpPr>
          <a:xfrm>
            <a:off x="523875" y="1285875"/>
            <a:ext cx="11144250" cy="4667250"/>
            <a:chOff x="523875" y="1285875"/>
            <a:chExt cx="11144250" cy="4667250"/>
          </a:xfrm>
        </p:grpSpPr>
        <p:sp>
          <p:nvSpPr>
            <p:cNvPr id="15" name="Rectangle 15"/>
            <p:cNvSpPr/>
            <p:nvPr/>
          </p:nvSpPr>
          <p:spPr>
            <a:xfrm>
              <a:off x="523875" y="1285875"/>
              <a:ext cx="2286000" cy="2286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342311" y="1357312"/>
              <a:ext cx="64912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泳道：教师端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809875" y="1285875"/>
              <a:ext cx="2667000" cy="228600"/>
            </a:xfrm>
            <a:prstGeom prst="roundRect">
              <a:avLst>
                <a:gd name="adj" fmla="val 16667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761053" y="1357312"/>
              <a:ext cx="76464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泳道：Go编排层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476875" y="1285875"/>
              <a:ext cx="3048000" cy="228600"/>
            </a:xfrm>
            <a:prstGeom prst="roundRect">
              <a:avLst>
                <a:gd name="adj" fmla="val 16667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79173" y="1357312"/>
              <a:ext cx="84340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泳道：AI能力中台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524875" y="1285875"/>
              <a:ext cx="3143250" cy="228600"/>
            </a:xfrm>
            <a:prstGeom prst="roundRect">
              <a:avLst>
                <a:gd name="adj" fmla="val 16667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771936" y="1357312"/>
              <a:ext cx="64912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泳道：学生端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23875" y="2095500"/>
              <a:ext cx="11144250" cy="9525"/>
            </a:xfrm>
            <a:custGeom>
              <a:avLst/>
              <a:gdLst/>
              <a:ahLst/>
              <a:cxnLst/>
              <a:rect l="l" t="t" r="r" b="b"/>
              <a:pathLst>
                <a:path w="11144250" h="9525">
                  <a:moveTo>
                    <a:pt x="0" y="0"/>
                  </a:moveTo>
                  <a:lnTo>
                    <a:pt x="11144250" y="0"/>
                  </a:lnTo>
                </a:path>
              </a:pathLst>
            </a:custGeom>
            <a:noFill/>
            <a:ln w="9525">
              <a:solidFill>
                <a:srgbClr val="D0D7E2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523875" y="3333750"/>
              <a:ext cx="11144250" cy="9525"/>
            </a:xfrm>
            <a:custGeom>
              <a:avLst/>
              <a:gdLst/>
              <a:ahLst/>
              <a:cxnLst/>
              <a:rect l="l" t="t" r="r" b="b"/>
              <a:pathLst>
                <a:path w="11144250" h="9525">
                  <a:moveTo>
                    <a:pt x="0" y="0"/>
                  </a:moveTo>
                  <a:lnTo>
                    <a:pt x="11144250" y="0"/>
                  </a:lnTo>
                </a:path>
              </a:pathLst>
            </a:custGeom>
            <a:noFill/>
            <a:ln w="9525">
              <a:solidFill>
                <a:srgbClr val="D0D7E2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523875" y="4572000"/>
              <a:ext cx="11144250" cy="9525"/>
            </a:xfrm>
            <a:custGeom>
              <a:avLst/>
              <a:gdLst/>
              <a:ahLst/>
              <a:cxnLst/>
              <a:rect l="l" t="t" r="r" b="b"/>
              <a:pathLst>
                <a:path w="11144250" h="9525">
                  <a:moveTo>
                    <a:pt x="0" y="0"/>
                  </a:moveTo>
                  <a:lnTo>
                    <a:pt x="11144250" y="0"/>
                  </a:lnTo>
                </a:path>
              </a:pathLst>
            </a:custGeom>
            <a:noFill/>
            <a:ln w="9525">
              <a:solidFill>
                <a:srgbClr val="D0D7E2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523875" y="5810250"/>
              <a:ext cx="11144250" cy="9525"/>
            </a:xfrm>
            <a:custGeom>
              <a:avLst/>
              <a:gdLst/>
              <a:ahLst/>
              <a:cxnLst/>
              <a:rect l="l" t="t" r="r" b="b"/>
              <a:pathLst>
                <a:path w="11144250" h="9525">
                  <a:moveTo>
                    <a:pt x="0" y="0"/>
                  </a:moveTo>
                  <a:lnTo>
                    <a:pt x="11144250" y="0"/>
                  </a:lnTo>
                </a:path>
              </a:pathLst>
            </a:custGeom>
            <a:noFill/>
            <a:ln w="9525">
              <a:solidFill>
                <a:srgbClr val="D0D7E2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23875" y="1857375"/>
              <a:ext cx="1047750" cy="1619250"/>
            </a:xfrm>
            <a:prstGeom prst="roundRect">
              <a:avLst>
                <a:gd name="adj" fmla="val 3636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06244" y="219694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课件解析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5665" y="2403634"/>
              <a:ext cx="224171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场景1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23875" y="3095625"/>
              <a:ext cx="1047750" cy="1619250"/>
            </a:xfrm>
            <a:prstGeom prst="roundRect">
              <a:avLst>
                <a:gd name="adj" fmla="val 3636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6244" y="34351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智能问答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4413" y="3641884"/>
              <a:ext cx="24667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场景2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23875" y="4333875"/>
              <a:ext cx="1047750" cy="1619250"/>
            </a:xfrm>
            <a:prstGeom prst="roundRect">
              <a:avLst>
                <a:gd name="adj" fmla="val 3636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06244" y="467344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断点续学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24413" y="4880134"/>
              <a:ext cx="24667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场景3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714500" y="1905000"/>
              <a:ext cx="952500" cy="476250"/>
            </a:xfrm>
            <a:prstGeom prst="roundRect">
              <a:avLst>
                <a:gd name="adj" fmla="val 12000"/>
              </a:avLst>
            </a:prstGeom>
            <a:solidFill>
              <a:srgbClr val="DDE6FF"/>
            </a:solidFill>
            <a:ln w="9525">
              <a:solidFill>
                <a:srgbClr val="1E6FE0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971199" y="2014538"/>
              <a:ext cx="4391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上传课件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008906" y="2165509"/>
              <a:ext cx="36368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PPT/PDF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2667000" y="2143125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14288">
              <a:solidFill>
                <a:srgbClr val="1E6FE0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3000375" y="1905000"/>
              <a:ext cx="952500" cy="476250"/>
            </a:xfrm>
            <a:prstGeom prst="roundRect">
              <a:avLst>
                <a:gd name="adj" fmla="val 12000"/>
              </a:avLst>
            </a:prstGeom>
            <a:solidFill>
              <a:srgbClr val="DDE6FF"/>
            </a:solidFill>
            <a:ln w="9525">
              <a:solidFill>
                <a:srgbClr val="7B5BE0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257074" y="2014538"/>
              <a:ext cx="4391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解析请求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288030" y="2165509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任务入队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3952875" y="2143125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14288">
              <a:solidFill>
                <a:srgbClr val="7B5BE0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4286250" y="1857375"/>
              <a:ext cx="1238250" cy="5715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9525">
              <a:solidFill>
                <a:srgbClr val="0E8C80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633317" y="1966912"/>
              <a:ext cx="54411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三阶段解析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660523" y="2136934"/>
              <a:ext cx="48970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Stage1→2→3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671774" y="2279809"/>
              <a:ext cx="467201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节点树构建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3000375" y="3381375"/>
              <a:ext cx="952500" cy="476250"/>
            </a:xfrm>
            <a:prstGeom prst="roundRect">
              <a:avLst>
                <a:gd name="adj" fmla="val 12000"/>
              </a:avLst>
            </a:prstGeom>
            <a:solidFill>
              <a:srgbClr val="DDE6FF"/>
            </a:solidFill>
            <a:ln w="9525">
              <a:solidFill>
                <a:srgbClr val="7B5BE0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170438" y="3490912"/>
              <a:ext cx="61237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SSE流式转发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995493" y="3641884"/>
              <a:ext cx="962263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token/sentence/final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2095500" y="36195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285750" y="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1E6FE0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333500" y="3381375"/>
              <a:ext cx="952500" cy="476250"/>
            </a:xfrm>
            <a:prstGeom prst="roundRect">
              <a:avLst>
                <a:gd name="adj" fmla="val 12000"/>
              </a:avLst>
            </a:prstGeom>
            <a:solidFill>
              <a:srgbClr val="DDE6FF"/>
            </a:solidFill>
            <a:ln w="9525">
              <a:solidFill>
                <a:srgbClr val="1E6FE0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590199" y="3490912"/>
              <a:ext cx="4391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发起提问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612154" y="3641884"/>
              <a:ext cx="395192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HTTP请求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3952875" y="3619500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14288">
              <a:solidFill>
                <a:srgbClr val="7B5BE0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4381500" y="3333750"/>
              <a:ext cx="1238250" cy="5715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9525">
              <a:solidFill>
                <a:srgbClr val="0E8C80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206127" y="3443288"/>
              <a:ext cx="158899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问答问答&amp;苏格拉底amp;苏格拉底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722019" y="3613309"/>
              <a:ext cx="557212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课程知识优先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677013" y="3756184"/>
              <a:ext cx="64722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禁止直接给答案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810250" y="3333750"/>
              <a:ext cx="1238250" cy="5715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9525">
              <a:solidFill>
                <a:srgbClr val="0E8C80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157317" y="3443288"/>
              <a:ext cx="54411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理解度判定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087761" y="3613309"/>
              <a:ext cx="68322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LLM/关键词降级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045006" y="3756184"/>
              <a:ext cx="768739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none/partial/full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5619750" y="3619500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14288">
              <a:solidFill>
                <a:srgbClr val="0E8C80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8763000" y="3381375"/>
              <a:ext cx="1238250" cy="476250"/>
            </a:xfrm>
            <a:prstGeom prst="roundRect">
              <a:avLst>
                <a:gd name="adj" fmla="val 12000"/>
              </a:avLst>
            </a:prstGeom>
            <a:solidFill>
              <a:srgbClr val="DDE6FF"/>
            </a:solidFill>
            <a:ln w="9525">
              <a:solidFill>
                <a:srgbClr val="7B5BE0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162574" y="3490912"/>
              <a:ext cx="4391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接收回答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119271" y="3641884"/>
              <a:ext cx="525709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SSE流式展示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8477250" y="361950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14288">
              <a:solidFill>
                <a:srgbClr val="7B5BE0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7239000" y="3333750"/>
              <a:ext cx="1143000" cy="5715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9525">
              <a:solidFill>
                <a:srgbClr val="7B5BE0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590949" y="3443288"/>
              <a:ext cx="4391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续接决策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621905" y="3613309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三态判定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482388" y="3756184"/>
              <a:ext cx="656225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续讲/补充/重讲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8763000" y="4619625"/>
              <a:ext cx="1238250" cy="476250"/>
            </a:xfrm>
            <a:prstGeom prst="roundRect">
              <a:avLst>
                <a:gd name="adj" fmla="val 12000"/>
              </a:avLst>
            </a:prstGeom>
            <a:solidFill>
              <a:srgbClr val="DDE6FF"/>
            </a:solidFill>
            <a:ln w="9525">
              <a:solidFill>
                <a:srgbClr val="7B5BE0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162574" y="4729162"/>
              <a:ext cx="4391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恢复学习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148524" y="4880134"/>
              <a:ext cx="467201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节点级续接</a:t>
              </a:r>
            </a:p>
          </p:txBody>
        </p:sp>
        <p:sp>
          <p:nvSpPr>
            <p:cNvPr id="76" name="Line 76"/>
            <p:cNvSpPr/>
            <p:nvPr/>
          </p:nvSpPr>
          <p:spPr>
            <a:xfrm>
              <a:off x="8477250" y="485775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14288">
              <a:solidFill>
                <a:srgbClr val="7B5BE0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7239000" y="4619625"/>
              <a:ext cx="1143000" cy="476250"/>
            </a:xfrm>
            <a:prstGeom prst="roundRect">
              <a:avLst>
                <a:gd name="adj" fmla="val 12000"/>
              </a:avLst>
            </a:prstGeom>
            <a:solidFill>
              <a:srgbClr val="DDE6FF"/>
            </a:solidFill>
            <a:ln w="9525">
              <a:solidFill>
                <a:srgbClr val="7B5BE0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590949" y="4729162"/>
              <a:ext cx="4391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更新进度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576899" y="4880134"/>
              <a:ext cx="467201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保存三元组</a:t>
              </a:r>
            </a:p>
          </p:txBody>
        </p:sp>
        <p:sp>
          <p:nvSpPr>
            <p:cNvPr id="80" name="Line 80"/>
            <p:cNvSpPr/>
            <p:nvPr/>
          </p:nvSpPr>
          <p:spPr>
            <a:xfrm>
              <a:off x="7048500" y="4857750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14288">
              <a:solidFill>
                <a:srgbClr val="0E8C80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5810250" y="4619625"/>
              <a:ext cx="1143000" cy="476250"/>
            </a:xfrm>
            <a:prstGeom prst="roundRect">
              <a:avLst>
                <a:gd name="adj" fmla="val 12000"/>
              </a:avLst>
            </a:prstGeom>
            <a:solidFill>
              <a:srgbClr val="DDE6FF"/>
            </a:solidFill>
            <a:ln w="9525">
              <a:solidFill>
                <a:srgbClr val="0E8C80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109692" y="4729162"/>
              <a:ext cx="54411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查询上下文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170652" y="4880134"/>
              <a:ext cx="42219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Redis读取</a:t>
              </a:r>
            </a:p>
          </p:txBody>
        </p:sp>
        <p:sp>
          <p:nvSpPr>
            <p:cNvPr id="84" name="Line 84"/>
            <p:cNvSpPr/>
            <p:nvPr/>
          </p:nvSpPr>
          <p:spPr>
            <a:xfrm>
              <a:off x="5715000" y="4857750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14288">
              <a:solidFill>
                <a:srgbClr val="0E8C80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4476750" y="4619625"/>
              <a:ext cx="1143000" cy="476250"/>
            </a:xfrm>
            <a:prstGeom prst="roundRect">
              <a:avLst>
                <a:gd name="adj" fmla="val 12000"/>
              </a:avLst>
            </a:prstGeom>
            <a:solidFill>
              <a:srgbClr val="DDE6FF"/>
            </a:solidFill>
            <a:ln w="9525">
              <a:solidFill>
                <a:srgbClr val="0E8C80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4828699" y="4729162"/>
              <a:ext cx="4391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加载断点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4859655" y="488013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恢复位置</a:t>
              </a:r>
            </a:p>
          </p:txBody>
        </p:sp>
        <p:sp>
          <p:nvSpPr>
            <p:cNvPr id="88" name="Line 88"/>
            <p:cNvSpPr/>
            <p:nvPr/>
          </p:nvSpPr>
          <p:spPr>
            <a:xfrm>
              <a:off x="3952875" y="4857750"/>
              <a:ext cx="504825" cy="9525"/>
            </a:xfrm>
            <a:custGeom>
              <a:avLst/>
              <a:gdLst/>
              <a:ahLst/>
              <a:cxnLst/>
              <a:rect l="l" t="t" r="r" b="b"/>
              <a:pathLst>
                <a:path w="504825" h="95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14288">
              <a:solidFill>
                <a:srgbClr val="7B5BE0"/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3000375" y="4619625"/>
              <a:ext cx="952500" cy="476250"/>
            </a:xfrm>
            <a:prstGeom prst="roundRect">
              <a:avLst>
                <a:gd name="adj" fmla="val 12000"/>
              </a:avLst>
            </a:prstGeom>
            <a:solidFill>
              <a:srgbClr val="DDE6FF"/>
            </a:solidFill>
            <a:ln w="9525">
              <a:solidFill>
                <a:srgbClr val="7B5BE0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3257074" y="4729162"/>
              <a:ext cx="4391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请求续接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3378041" y="4880134"/>
              <a:ext cx="19716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参数</a:t>
              </a:r>
            </a:p>
          </p:txBody>
        </p:sp>
        <p:sp>
          <p:nvSpPr>
            <p:cNvPr id="92" name="Line 92"/>
            <p:cNvSpPr/>
            <p:nvPr/>
          </p:nvSpPr>
          <p:spPr>
            <a:xfrm>
              <a:off x="2095500" y="48577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285750" y="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1E6FE0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1333500" y="4619625"/>
              <a:ext cx="952500" cy="476250"/>
            </a:xfrm>
            <a:prstGeom prst="roundRect">
              <a:avLst>
                <a:gd name="adj" fmla="val 12000"/>
              </a:avLst>
            </a:prstGeom>
            <a:solidFill>
              <a:srgbClr val="DDE6FF"/>
            </a:solidFill>
            <a:ln w="9525">
              <a:solidFill>
                <a:srgbClr val="1E6FE0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1590199" y="4729162"/>
              <a:ext cx="4391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重新进入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621155" y="488013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学习页面</a:t>
              </a:r>
            </a:p>
          </p:txBody>
        </p:sp>
      </p:grpSp>
      <p:sp>
        <p:nvSpPr>
          <p:cNvPr id="97" name="Rectangle 97"/>
          <p:cNvSpPr/>
          <p:nvPr/>
        </p:nvSpPr>
        <p:spPr>
          <a:xfrm>
            <a:off x="523875" y="6572250"/>
            <a:ext cx="11144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98" name="TextBox 98"/>
          <p:cNvSpPr txBox="1"/>
          <p:nvPr/>
        </p:nvSpPr>
        <p:spPr>
          <a:xfrm>
            <a:off x="514350" y="6662738"/>
            <a:ext cx="9641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1493579" y="6662738"/>
            <a:ext cx="1840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09b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3A7B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1492" y="180499"/>
            <a:ext cx="768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泛雅 AI 智课</a:t>
            </a:r>
          </a:p>
        </p:txBody>
      </p:sp>
      <p:sp>
        <p:nvSpPr>
          <p:cNvPr id="5" name="Rectangle 5"/>
          <p:cNvSpPr/>
          <p:nvPr/>
        </p:nvSpPr>
        <p:spPr>
          <a:xfrm>
            <a:off x="5238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60591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项目背景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32861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3681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解决方案</a:t>
            </a:r>
          </a:p>
        </p:txBody>
      </p:sp>
      <p:sp>
        <p:nvSpPr>
          <p:cNvPr id="9" name="Rectangle 9"/>
          <p:cNvSpPr/>
          <p:nvPr/>
        </p:nvSpPr>
        <p:spPr>
          <a:xfrm>
            <a:off x="60483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118413" y="53149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系统实现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8106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8926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项目总结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7205" y="773430"/>
            <a:ext cx="265556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AI能力中台内部架构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23875" y="1123950"/>
            <a:ext cx="47625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grpSp>
        <p:nvGrpSpPr>
          <p:cNvPr id="96" name="Group 96"/>
          <p:cNvGrpSpPr/>
          <p:nvPr/>
        </p:nvGrpSpPr>
        <p:grpSpPr>
          <a:xfrm>
            <a:off x="523875" y="1333500"/>
            <a:ext cx="11144250" cy="4112419"/>
            <a:chOff x="523875" y="1333500"/>
            <a:chExt cx="11144250" cy="4112419"/>
          </a:xfrm>
        </p:grpSpPr>
        <p:sp>
          <p:nvSpPr>
            <p:cNvPr id="15" name="Rectangle 15"/>
            <p:cNvSpPr/>
            <p:nvPr/>
          </p:nvSpPr>
          <p:spPr>
            <a:xfrm>
              <a:off x="523875" y="1333500"/>
              <a:ext cx="11144250" cy="1524000"/>
            </a:xfrm>
            <a:prstGeom prst="roundRect">
              <a:avLst>
                <a:gd name="adj" fmla="val 5000"/>
              </a:avLst>
            </a:prstGeom>
            <a:solidFill>
              <a:srgbClr val="F4F7FC"/>
            </a:solidFill>
            <a:ln w="9525">
              <a:solidFill>
                <a:srgbClr val="1E6FE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23875" y="1333500"/>
              <a:ext cx="11144250" cy="304800"/>
            </a:xfrm>
            <a:prstGeom prst="roundRect">
              <a:avLst>
                <a:gd name="adj" fmla="val 25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23875" y="1562100"/>
              <a:ext cx="11144250" cy="76200"/>
            </a:xfrm>
            <a:prstGeom prst="rect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947113" y="1418749"/>
              <a:ext cx="22977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上层：Dify工作流编排层 — 5大工作流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14375" y="1762125"/>
              <a:ext cx="1238250" cy="857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91994" y="19111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课件解析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4905" y="209883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文件提取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1656" y="2241709"/>
              <a:ext cx="36368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VLM识别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89911" y="2384584"/>
              <a:ext cx="287179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结构化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1952625" y="2190750"/>
              <a:ext cx="219075" cy="9525"/>
            </a:xfrm>
            <a:custGeom>
              <a:avLst/>
              <a:gdLst/>
              <a:ahLst/>
              <a:cxnLst/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14288">
              <a:solidFill>
                <a:srgbClr val="D0D7E2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266950" y="1762125"/>
              <a:ext cx="1238250" cy="857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644569" y="19111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知识入库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97480" y="209883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内容切片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42486" y="2241709"/>
              <a:ext cx="287179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向量化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697480" y="238458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索引构建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3505200" y="2190750"/>
              <a:ext cx="219075" cy="9525"/>
            </a:xfrm>
            <a:custGeom>
              <a:avLst/>
              <a:gdLst/>
              <a:ahLst/>
              <a:cxnLst/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14288">
              <a:solidFill>
                <a:srgbClr val="D0D7E2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819525" y="1762125"/>
              <a:ext cx="1238250" cy="857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197144" y="19111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智能问答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250055" y="209883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意图识别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50055" y="2241709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知识检索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50055" y="238458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回答生成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057775" y="2190750"/>
              <a:ext cx="219075" cy="9525"/>
            </a:xfrm>
            <a:custGeom>
              <a:avLst/>
              <a:gdLst/>
              <a:ahLst/>
              <a:cxnLst/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14288">
              <a:solidFill>
                <a:srgbClr val="D0D7E2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72100" y="1762125"/>
              <a:ext cx="1238250" cy="857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749719" y="19111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脚本生成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802630" y="209883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结构理解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802630" y="2241709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节点构建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802630" y="238458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脚本输出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610350" y="2190750"/>
              <a:ext cx="219075" cy="9525"/>
            </a:xfrm>
            <a:custGeom>
              <a:avLst/>
              <a:gdLst/>
              <a:ahLst/>
              <a:cxnLst/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14288">
              <a:solidFill>
                <a:srgbClr val="D0D7E2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924675" y="1762125"/>
              <a:ext cx="1238250" cy="857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02294" y="19111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语音合成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55205" y="209883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文本处理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70957" y="2241709"/>
              <a:ext cx="34568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TTS转换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55205" y="238458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音频输出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23875" y="3000375"/>
              <a:ext cx="7620000" cy="1238250"/>
            </a:xfrm>
            <a:prstGeom prst="roundRect">
              <a:avLst>
                <a:gd name="adj" fmla="val 6154"/>
              </a:avLst>
            </a:prstGeom>
            <a:solidFill>
              <a:srgbClr val="F4F7FC"/>
            </a:solidFill>
            <a:ln w="9525">
              <a:solidFill>
                <a:srgbClr val="0E8C80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523875" y="3000375"/>
              <a:ext cx="7620000" cy="304800"/>
            </a:xfrm>
            <a:prstGeom prst="roundRect">
              <a:avLst>
                <a:gd name="adj" fmla="val 25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23875" y="3228975"/>
              <a:ext cx="7620000" cy="76200"/>
            </a:xfrm>
            <a:prstGeom prst="rect">
              <a:avLst/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458022" y="3085624"/>
              <a:ext cx="1751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中层：RAG检索增强生成链路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14375" y="3429000"/>
              <a:ext cx="104775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0E8C80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28700" y="3529012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用户提问</a:t>
              </a:r>
            </a:p>
          </p:txBody>
        </p:sp>
        <p:sp>
          <p:nvSpPr>
            <p:cNvPr id="54" name="Polygon 54"/>
            <p:cNvSpPr/>
            <p:nvPr/>
          </p:nvSpPr>
          <p:spPr>
            <a:xfrm>
              <a:off x="1809750" y="35337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76200" y="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5A647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1952625" y="3429000"/>
              <a:ext cx="104775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0E8C80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266950" y="3529012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意图理解</a:t>
              </a:r>
            </a:p>
          </p:txBody>
        </p:sp>
        <p:sp>
          <p:nvSpPr>
            <p:cNvPr id="57" name="Polygon 57"/>
            <p:cNvSpPr/>
            <p:nvPr/>
          </p:nvSpPr>
          <p:spPr>
            <a:xfrm>
              <a:off x="3048000" y="35337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76200" y="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5A647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3190875" y="3429000"/>
              <a:ext cx="1143000" cy="285750"/>
            </a:xfrm>
            <a:prstGeom prst="roundRect">
              <a:avLst>
                <a:gd name="adj" fmla="val 13333"/>
              </a:avLst>
            </a:prstGeom>
            <a:solidFill>
              <a:srgbClr val="DDE6FF"/>
            </a:solidFill>
            <a:ln w="4762">
              <a:solidFill>
                <a:srgbClr val="1E6FE0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452812" y="3529012"/>
              <a:ext cx="6191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课程知识检索</a:t>
              </a:r>
            </a:p>
          </p:txBody>
        </p:sp>
        <p:sp>
          <p:nvSpPr>
            <p:cNvPr id="60" name="Polygon 60"/>
            <p:cNvSpPr/>
            <p:nvPr/>
          </p:nvSpPr>
          <p:spPr>
            <a:xfrm>
              <a:off x="4381500" y="35337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76200" y="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5A647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4524375" y="3429000"/>
              <a:ext cx="133350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0E8C80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931569" y="3529012"/>
              <a:ext cx="51911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上下文增强</a:t>
              </a:r>
            </a:p>
          </p:txBody>
        </p:sp>
        <p:sp>
          <p:nvSpPr>
            <p:cNvPr id="63" name="Polygon 63"/>
            <p:cNvSpPr/>
            <p:nvPr/>
          </p:nvSpPr>
          <p:spPr>
            <a:xfrm>
              <a:off x="5905500" y="35337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76200" y="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5A6478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048375" y="3429000"/>
              <a:ext cx="104775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0E8C80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62700" y="3529012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答案生成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14375" y="3810000"/>
              <a:ext cx="7239000" cy="285750"/>
            </a:xfrm>
            <a:prstGeom prst="roundRect">
              <a:avLst>
                <a:gd name="adj" fmla="val 13333"/>
              </a:avLst>
            </a:prstGeom>
            <a:solidFill>
              <a:srgbClr val="E8EDF5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3011686" y="3919538"/>
              <a:ext cx="264437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三级级联检索范围：L1 目标节点 → L2 当前页 → L3 全页拼接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382000" y="3000375"/>
              <a:ext cx="3286125" cy="1238250"/>
            </a:xfrm>
            <a:prstGeom prst="roundRect">
              <a:avLst>
                <a:gd name="adj" fmla="val 6154"/>
              </a:avLst>
            </a:prstGeom>
            <a:solidFill>
              <a:srgbClr val="F4F7FC"/>
            </a:solidFill>
            <a:ln w="9525">
              <a:solidFill>
                <a:srgbClr val="7B5BE0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8382000" y="3000375"/>
              <a:ext cx="3286125" cy="304800"/>
            </a:xfrm>
            <a:prstGeom prst="roundRect">
              <a:avLst>
                <a:gd name="adj" fmla="val 25000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8382000" y="3228975"/>
              <a:ext cx="3286125" cy="76200"/>
            </a:xfrm>
            <a:prstGeom prst="rect">
              <a:avLst/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325332" y="3085624"/>
              <a:ext cx="13899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下层：模型适配与管理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8524875" y="3429000"/>
              <a:ext cx="2952750" cy="20955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4762">
              <a:solidFill>
                <a:srgbClr val="7B5BE0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227582" y="3499009"/>
              <a:ext cx="154733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大模型适配层（统一接口，引擎无关）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524875" y="3714750"/>
              <a:ext cx="1428750" cy="209550"/>
            </a:xfrm>
            <a:prstGeom prst="roundRect">
              <a:avLst>
                <a:gd name="adj" fmla="val 18182"/>
              </a:avLst>
            </a:prstGeom>
            <a:solidFill>
              <a:srgbClr val="DDE6FF"/>
            </a:solidFill>
            <a:ln w="4762">
              <a:solidFill>
                <a:srgbClr val="1E6FE0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870632" y="3784759"/>
              <a:ext cx="737235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通义千问（当前）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10048875" y="3714750"/>
              <a:ext cx="1428750" cy="209550"/>
            </a:xfrm>
            <a:prstGeom prst="roundRect">
              <a:avLst>
                <a:gd name="adj" fmla="val 18182"/>
              </a:avLst>
            </a:prstGeom>
            <a:solidFill>
              <a:srgbClr val="DDE6FF"/>
            </a:solidFill>
            <a:ln w="4762">
              <a:solidFill>
                <a:srgbClr val="0E8C80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0484644" y="3784759"/>
              <a:ext cx="557212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备用推理引擎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8524875" y="3981450"/>
              <a:ext cx="2952750" cy="171450"/>
            </a:xfrm>
            <a:prstGeom prst="roundRect">
              <a:avLst>
                <a:gd name="adj" fmla="val 22222"/>
              </a:avLst>
            </a:prstGeom>
            <a:solidFill>
              <a:srgbClr val="E8EDF5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355848" y="4032409"/>
              <a:ext cx="129080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模型切换零改动 — 适配层配置化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523875" y="4381500"/>
              <a:ext cx="11144250" cy="952500"/>
            </a:xfrm>
            <a:prstGeom prst="roundRect">
              <a:avLst>
                <a:gd name="adj" fmla="val 8000"/>
              </a:avLst>
            </a:prstGeom>
            <a:solidFill>
              <a:srgbClr val="F4F7FC"/>
            </a:solidFill>
            <a:ln w="9525">
              <a:solidFill>
                <a:srgbClr val="E8553C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523875" y="4381500"/>
              <a:ext cx="11144250" cy="304800"/>
            </a:xfrm>
            <a:prstGeom prst="roundRect">
              <a:avLst>
                <a:gd name="adj" fmla="val 25000"/>
              </a:avLst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523875" y="4610100"/>
              <a:ext cx="11144250" cy="76200"/>
            </a:xfrm>
            <a:prstGeom prst="rect">
              <a:avLst/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5674066" y="446674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降级容错机制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762000" y="4762500"/>
              <a:ext cx="1905000" cy="381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1302610" y="4911566"/>
              <a:ext cx="8237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Dify工作流正常</a:t>
              </a:r>
            </a:p>
          </p:txBody>
        </p:sp>
        <p:sp>
          <p:nvSpPr>
            <p:cNvPr id="86" name="Polygon 86"/>
            <p:cNvSpPr/>
            <p:nvPr/>
          </p:nvSpPr>
          <p:spPr>
            <a:xfrm>
              <a:off x="2762250" y="48958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5A6478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2952750" y="4762500"/>
              <a:ext cx="1905000" cy="381000"/>
            </a:xfrm>
            <a:prstGeom prst="roundRect">
              <a:avLst>
                <a:gd name="adj" fmla="val 15000"/>
              </a:avLst>
            </a:prstGeom>
            <a:solidFill>
              <a:srgbClr val="DDE6FF"/>
            </a:solidFill>
            <a:ln w="9525">
              <a:solidFill>
                <a:srgbClr val="1E6FE0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3674745" y="4911566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直通处理</a:t>
              </a:r>
            </a:p>
          </p:txBody>
        </p:sp>
        <p:sp>
          <p:nvSpPr>
            <p:cNvPr id="89" name="Freeform 89"/>
            <p:cNvSpPr/>
            <p:nvPr/>
          </p:nvSpPr>
          <p:spPr>
            <a:xfrm>
              <a:off x="4953000" y="4953000"/>
              <a:ext cx="571500" cy="285750"/>
            </a:xfrm>
            <a:custGeom>
              <a:avLst/>
              <a:gdLst/>
              <a:ahLst/>
              <a:cxnLst/>
              <a:rect l="l" t="t" r="r" b="b"/>
              <a:pathLst>
                <a:path w="571500" h="285750">
                  <a:moveTo>
                    <a:pt x="0" y="0"/>
                  </a:moveTo>
                  <a:lnTo>
                    <a:pt x="333375" y="0"/>
                  </a:lnTo>
                  <a:lnTo>
                    <a:pt x="333375" y="285750"/>
                  </a:lnTo>
                  <a:lnTo>
                    <a:pt x="571500" y="285750"/>
                  </a:lnTo>
                </a:path>
              </a:pathLst>
            </a:custGeom>
            <a:noFill/>
            <a:ln w="14288">
              <a:solidFill>
                <a:srgbClr val="E8553C"/>
              </a:solidFill>
              <a:custDash>
                <a:ds d="266666" sp="133333"/>
              </a:custDash>
            </a:ln>
          </p:spPr>
        </p:sp>
        <p:sp>
          <p:nvSpPr>
            <p:cNvPr id="90" name="Rectangle 90"/>
            <p:cNvSpPr/>
            <p:nvPr/>
          </p:nvSpPr>
          <p:spPr>
            <a:xfrm>
              <a:off x="5619750" y="4762500"/>
              <a:ext cx="1905000" cy="381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E8553C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215229" y="4911566"/>
              <a:ext cx="71404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E8553C"/>
                  </a:solidFill>
                  <a:latin typeface="Arial"/>
                  <a:ea typeface="Microsoft YaHei"/>
                  <a:cs typeface="Arial"/>
                </a:rPr>
                <a:t>主引擎不可用</a:t>
              </a:r>
            </a:p>
          </p:txBody>
        </p:sp>
        <p:sp>
          <p:nvSpPr>
            <p:cNvPr id="92" name="Polygon 92"/>
            <p:cNvSpPr/>
            <p:nvPr/>
          </p:nvSpPr>
          <p:spPr>
            <a:xfrm>
              <a:off x="7620000" y="48958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E8553C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7810500" y="4762500"/>
              <a:ext cx="2095500" cy="381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0E8C80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8270200" y="4911566"/>
              <a:ext cx="117609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备用推理引擎自动接管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4199442" y="5308759"/>
              <a:ext cx="3793117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主引擎（Dify工作流编排）↔ 备用推理引擎（Python实现完整功能子集）— 切换对前端完全透明</a:t>
              </a:r>
            </a:p>
          </p:txBody>
        </p:sp>
      </p:grpSp>
      <p:sp>
        <p:nvSpPr>
          <p:cNvPr id="97" name="Rectangle 97"/>
          <p:cNvSpPr/>
          <p:nvPr/>
        </p:nvSpPr>
        <p:spPr>
          <a:xfrm>
            <a:off x="523875" y="6572250"/>
            <a:ext cx="11144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98" name="TextBox 98"/>
          <p:cNvSpPr txBox="1"/>
          <p:nvPr/>
        </p:nvSpPr>
        <p:spPr>
          <a:xfrm>
            <a:off x="514350" y="6662738"/>
            <a:ext cx="9641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1493579" y="6662738"/>
            <a:ext cx="1840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09c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3A7B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1492" y="180499"/>
            <a:ext cx="768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泛雅 AI 智课</a:t>
            </a:r>
          </a:p>
        </p:txBody>
      </p:sp>
      <p:sp>
        <p:nvSpPr>
          <p:cNvPr id="5" name="Rectangle 5"/>
          <p:cNvSpPr/>
          <p:nvPr/>
        </p:nvSpPr>
        <p:spPr>
          <a:xfrm>
            <a:off x="5238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60591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项目背景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32861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3681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解决方案</a:t>
            </a:r>
          </a:p>
        </p:txBody>
      </p:sp>
      <p:sp>
        <p:nvSpPr>
          <p:cNvPr id="9" name="Rectangle 9"/>
          <p:cNvSpPr/>
          <p:nvPr/>
        </p:nvSpPr>
        <p:spPr>
          <a:xfrm>
            <a:off x="60483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118413" y="53149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系统实现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8106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8926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项目总结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7205" y="773430"/>
            <a:ext cx="240563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学习状态机转换图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23875" y="1123950"/>
            <a:ext cx="47625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grpSp>
        <p:nvGrpSpPr>
          <p:cNvPr id="71" name="Group 71"/>
          <p:cNvGrpSpPr/>
          <p:nvPr/>
        </p:nvGrpSpPr>
        <p:grpSpPr>
          <a:xfrm>
            <a:off x="381000" y="1524000"/>
            <a:ext cx="11334750" cy="3619500"/>
            <a:chOff x="381000" y="1524000"/>
            <a:chExt cx="11334750" cy="3619500"/>
          </a:xfrm>
        </p:grpSpPr>
        <p:sp>
          <p:nvSpPr>
            <p:cNvPr id="15" name="Rectangle 15"/>
            <p:cNvSpPr/>
            <p:nvPr/>
          </p:nvSpPr>
          <p:spPr>
            <a:xfrm>
              <a:off x="952500" y="1524000"/>
              <a:ext cx="1905000" cy="66675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637728" y="177546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讲授中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95438" y="1995488"/>
              <a:ext cx="6191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节点级播放器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2857500" y="1857375"/>
              <a:ext cx="476250" cy="1"/>
            </a:xfrm>
            <a:prstGeom prst="line">
              <a:avLst/>
            </a:prstGeom>
            <a:noFill/>
            <a:ln w="19050">
              <a:solidFill>
                <a:srgbClr val="5A6478"/>
              </a:solidFill>
              <a:tailEnd type="triangle" w="lg" len="lg"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907030" y="1689259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学生提问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429000" y="1524000"/>
              <a:ext cx="1905000" cy="66675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114228" y="177546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问答中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89440" y="1995488"/>
              <a:ext cx="58412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SSE流式回答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334000" y="1857375"/>
              <a:ext cx="476250" cy="1"/>
            </a:xfrm>
            <a:prstGeom prst="line">
              <a:avLst/>
            </a:prstGeom>
            <a:noFill/>
            <a:ln w="19050">
              <a:solidFill>
                <a:srgbClr val="5A6478"/>
              </a:solidFill>
              <a:tailEnd type="triangle" w="lg" len="lg"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383530" y="1689259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回答完成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905500" y="1524000"/>
              <a:ext cx="1905000" cy="666750"/>
            </a:xfrm>
            <a:prstGeom prst="roundRect">
              <a:avLst>
                <a:gd name="adj" fmla="val 50000"/>
              </a:avLst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0728" y="177546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判定中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48438" y="1995488"/>
              <a:ext cx="6191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理解程度分析</a:t>
              </a:r>
            </a:p>
          </p:txBody>
        </p:sp>
        <p:sp>
          <p:nvSpPr>
            <p:cNvPr id="28" name="Line 28"/>
            <p:cNvSpPr/>
            <p:nvPr/>
          </p:nvSpPr>
          <p:spPr>
            <a:xfrm flipH="1">
              <a:off x="2857500" y="2190750"/>
              <a:ext cx="4000500" cy="1333500"/>
            </a:xfrm>
            <a:prstGeom prst="line">
              <a:avLst/>
            </a:prstGeom>
            <a:noFill/>
            <a:ln w="19050">
              <a:solidFill>
                <a:srgbClr val="E8553C"/>
              </a:solidFill>
              <a:tailEnd type="triangle" w="lg" len="lg"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609975" y="2871788"/>
              <a:ext cx="77514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E8553C"/>
                  </a:solidFill>
                  <a:latin typeface="Arial"/>
                  <a:ea typeface="Microsoft YaHei"/>
                  <a:cs typeface="Arial"/>
                </a:rPr>
                <a:t>none（未理解）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858000" y="2571750"/>
              <a:ext cx="1" cy="952500"/>
            </a:xfrm>
            <a:prstGeom prst="line">
              <a:avLst/>
            </a:prstGeom>
            <a:noFill/>
            <a:ln w="19050">
              <a:solidFill>
                <a:srgbClr val="0E8C80"/>
              </a:solidFill>
              <a:tailEnd type="triangle" w="lg" len="lg"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038975" y="3062288"/>
              <a:ext cx="100092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partial（部分理解）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7810500" y="1857375"/>
              <a:ext cx="2190750" cy="1"/>
            </a:xfrm>
            <a:prstGeom prst="line">
              <a:avLst/>
            </a:prstGeom>
            <a:noFill/>
            <a:ln w="19050">
              <a:solidFill>
                <a:srgbClr val="1E6FE0"/>
              </a:solidFill>
              <a:tailEnd type="triangle" w="lg" len="lg"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896350" y="1681162"/>
              <a:ext cx="7226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full（已理解）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524000" y="3238500"/>
              <a:ext cx="2095500" cy="762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9050">
              <a:solidFill>
                <a:srgbClr val="E8553C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524000" y="3238500"/>
              <a:ext cx="2095500" cy="266700"/>
            </a:xfrm>
            <a:prstGeom prst="roundRect">
              <a:avLst>
                <a:gd name="adj" fmla="val 42857"/>
              </a:avLst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1524000" y="3429000"/>
              <a:ext cx="2095500" cy="76200"/>
            </a:xfrm>
            <a:prstGeom prst="rect">
              <a:avLst/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330244" y="333994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回退重讲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062162" y="3614738"/>
              <a:ext cx="101917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使用重讲脚本从头讲授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112169" y="3776662"/>
              <a:ext cx="91916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覆盖知识点全部内容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1905000" y="4000500"/>
              <a:ext cx="666750" cy="190500"/>
            </a:xfrm>
            <a:custGeom>
              <a:avLst/>
              <a:gdLst/>
              <a:ahLst/>
              <a:cxnLst/>
              <a:rect l="l" t="t" r="r" b="b"/>
              <a:pathLst>
                <a:path w="666750" h="190500">
                  <a:moveTo>
                    <a:pt x="666750" y="0"/>
                  </a:moveTo>
                  <a:lnTo>
                    <a:pt x="0" y="190500"/>
                  </a:lnTo>
                </a:path>
              </a:pathLst>
            </a:custGeom>
            <a:noFill/>
            <a:ln w="14288">
              <a:solidFill>
                <a:srgbClr val="5A6478"/>
              </a:solidFill>
              <a:custDash>
                <a:ds d="333333" sp="200000"/>
              </a:custDash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515428" y="4165759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回到讲授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810250" y="3238500"/>
              <a:ext cx="2095500" cy="762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9050">
              <a:solidFill>
                <a:srgbClr val="0E8C80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5810250" y="3238500"/>
              <a:ext cx="2095500" cy="266700"/>
            </a:xfrm>
            <a:prstGeom prst="roundRect">
              <a:avLst>
                <a:gd name="adj" fmla="val 42857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810250" y="3429000"/>
              <a:ext cx="2095500" cy="76200"/>
            </a:xfrm>
            <a:prstGeom prst="rect">
              <a:avLst/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16494" y="333994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补充讲解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48425" y="3614738"/>
              <a:ext cx="8191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定位卡点段落补充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48425" y="3776662"/>
              <a:ext cx="8191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不重复已理解内容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0001250" y="1524000"/>
              <a:ext cx="1714500" cy="666750"/>
            </a:xfrm>
            <a:prstGeom prst="roundRect">
              <a:avLst>
                <a:gd name="adj" fmla="val 17143"/>
              </a:avLst>
            </a:prstGeom>
            <a:solidFill>
              <a:srgbClr val="FFFFFF"/>
            </a:solidFill>
            <a:ln w="19050">
              <a:solidFill>
                <a:srgbClr val="1E6FE0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001250" y="1524000"/>
              <a:ext cx="1714500" cy="266700"/>
            </a:xfrm>
            <a:prstGeom prst="roundRect">
              <a:avLst>
                <a:gd name="adj" fmla="val 4285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616994" y="162544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跳过继续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448925" y="1900238"/>
              <a:ext cx="8191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下一节点正常推进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498931" y="203358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学习主线不中断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62000" y="4572000"/>
              <a:ext cx="1524000" cy="476250"/>
            </a:xfrm>
            <a:prstGeom prst="roundRect">
              <a:avLst>
                <a:gd name="adj" fmla="val 16000"/>
              </a:avLst>
            </a:prstGeom>
            <a:solidFill>
              <a:srgbClr val="F4F7FC"/>
            </a:solidFill>
            <a:ln w="14288">
              <a:solidFill>
                <a:srgbClr val="9AA3B5"/>
              </a:solidFill>
              <a:custDash>
                <a:ds d="333333" sp="200000"/>
              </a:custDash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201634" y="4740116"/>
              <a:ext cx="64473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⏸ 打断/退出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381000" y="1857375"/>
              <a:ext cx="1524000" cy="2952750"/>
            </a:xfrm>
            <a:custGeom>
              <a:avLst/>
              <a:gdLst/>
              <a:ahLst/>
              <a:cxnLst/>
              <a:rect l="l" t="t" r="r" b="b"/>
              <a:pathLst>
                <a:path w="1524000" h="2952750">
                  <a:moveTo>
                    <a:pt x="1524000" y="0"/>
                  </a:moveTo>
                  <a:lnTo>
                    <a:pt x="0" y="0"/>
                  </a:lnTo>
                  <a:lnTo>
                    <a:pt x="0" y="2952750"/>
                  </a:lnTo>
                  <a:lnTo>
                    <a:pt x="381000" y="2952750"/>
                  </a:lnTo>
                </a:path>
              </a:pathLst>
            </a:custGeom>
            <a:noFill/>
            <a:ln w="14288">
              <a:solidFill>
                <a:srgbClr val="9AA3B5"/>
              </a:solidFill>
              <a:custDash>
                <a:ds d="266666" sp="133333"/>
              </a:custDash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82905" y="230838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随时发生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2286000" y="4810125"/>
              <a:ext cx="1047750" cy="1"/>
            </a:xfrm>
            <a:prstGeom prst="line">
              <a:avLst/>
            </a:prstGeom>
            <a:noFill/>
            <a:ln w="19050">
              <a:solidFill>
                <a:srgbClr val="5A6478"/>
              </a:solidFill>
              <a:tailEnd type="triangle" w="lg" len="lg"/>
            </a:ln>
          </p:spPr>
        </p:sp>
        <p:sp>
          <p:nvSpPr>
            <p:cNvPr id="58" name="Rectangle 58"/>
            <p:cNvSpPr/>
            <p:nvPr/>
          </p:nvSpPr>
          <p:spPr>
            <a:xfrm>
              <a:off x="3429000" y="4572000"/>
              <a:ext cx="1905000" cy="476250"/>
            </a:xfrm>
            <a:prstGeom prst="roundRect">
              <a:avLst>
                <a:gd name="adj" fmla="val 16000"/>
              </a:avLst>
            </a:prstGeom>
            <a:solidFill>
              <a:srgbClr val="E8EDF5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082236" y="4692491"/>
              <a:ext cx="59852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保存三元组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508820" y="4861084"/>
              <a:ext cx="1745361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resumePage | resumeNodeID | resumeSec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5334000" y="4810125"/>
              <a:ext cx="857250" cy="1"/>
            </a:xfrm>
            <a:prstGeom prst="line">
              <a:avLst/>
            </a:prstGeom>
            <a:noFill/>
            <a:ln w="19050">
              <a:solidFill>
                <a:srgbClr val="5A6478"/>
              </a:solidFill>
              <a:tailEnd type="triangle" w="lg" len="lg"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286500" y="4572000"/>
              <a:ext cx="1905000" cy="476250"/>
            </a:xfrm>
            <a:prstGeom prst="roundRect">
              <a:avLst>
                <a:gd name="adj" fmla="val 16000"/>
              </a:avLst>
            </a:prstGeom>
            <a:solidFill>
              <a:srgbClr val="E8EDF5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948400" y="4692491"/>
              <a:ext cx="58120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▶ 恢复学习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982897" y="4861084"/>
              <a:ext cx="512207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从Redis读取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8191500" y="4810125"/>
              <a:ext cx="857250" cy="1"/>
            </a:xfrm>
            <a:prstGeom prst="line">
              <a:avLst/>
            </a:prstGeom>
            <a:noFill/>
            <a:ln w="19050">
              <a:solidFill>
                <a:srgbClr val="5A6478"/>
              </a:solidFill>
              <a:tailEnd type="triangle" w="lg" len="lg"/>
            </a:ln>
          </p:spPr>
        </p:sp>
        <p:sp>
          <p:nvSpPr>
            <p:cNvPr id="66" name="Rectangle 66"/>
            <p:cNvSpPr/>
            <p:nvPr/>
          </p:nvSpPr>
          <p:spPr>
            <a:xfrm>
              <a:off x="9144000" y="4476750"/>
              <a:ext cx="1905000" cy="666750"/>
            </a:xfrm>
            <a:prstGeom prst="roundRect">
              <a:avLst>
                <a:gd name="adj" fmla="val 17143"/>
              </a:avLst>
            </a:prstGeom>
            <a:solidFill>
              <a:srgbClr val="FFFFFF"/>
            </a:solidFill>
            <a:ln w="19050">
              <a:solidFill>
                <a:srgbClr val="7B5BE0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9144000" y="4476750"/>
              <a:ext cx="1905000" cy="266700"/>
            </a:xfrm>
            <a:prstGeom prst="roundRect">
              <a:avLst>
                <a:gd name="adj" fmla="val 42857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854994" y="45781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续接决策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817894" y="4832509"/>
              <a:ext cx="557212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判定理解程度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817894" y="4975384"/>
              <a:ext cx="557212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选择续接模式</a:t>
              </a:r>
            </a:p>
          </p:txBody>
        </p:sp>
      </p:grpSp>
      <p:sp>
        <p:nvSpPr>
          <p:cNvPr id="72" name="Rectangle 72"/>
          <p:cNvSpPr/>
          <p:nvPr/>
        </p:nvSpPr>
        <p:spPr>
          <a:xfrm>
            <a:off x="523875" y="5715000"/>
            <a:ext cx="11144250" cy="666750"/>
          </a:xfrm>
          <a:prstGeom prst="roundRect">
            <a:avLst>
              <a:gd name="adj" fmla="val 11429"/>
            </a:avLst>
          </a:prstGeom>
          <a:solidFill>
            <a:srgbClr val="F4F7FC"/>
          </a:solidFill>
          <a:ln>
            <a:noFill/>
          </a:ln>
        </p:spPr>
      </p:sp>
      <p:grpSp>
        <p:nvGrpSpPr>
          <p:cNvPr id="87" name="Group 87"/>
          <p:cNvGrpSpPr/>
          <p:nvPr/>
        </p:nvGrpSpPr>
        <p:grpSpPr>
          <a:xfrm>
            <a:off x="895350" y="5848350"/>
            <a:ext cx="5427107" cy="357188"/>
            <a:chOff x="895350" y="5848350"/>
            <a:chExt cx="5427107" cy="357188"/>
          </a:xfrm>
        </p:grpSpPr>
        <p:sp>
          <p:nvSpPr>
            <p:cNvPr id="73" name="Ellipse 73"/>
            <p:cNvSpPr/>
            <p:nvPr/>
          </p:nvSpPr>
          <p:spPr>
            <a:xfrm>
              <a:off x="895350" y="5848350"/>
              <a:ext cx="114300" cy="114300"/>
            </a:xfrm>
            <a:prstGeom prst="ellipse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085850" y="5862638"/>
              <a:ext cx="51911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主学习状态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2038350" y="5848350"/>
              <a:ext cx="114300" cy="114300"/>
            </a:xfrm>
            <a:prstGeom prst="ellipse">
              <a:avLst/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2228850" y="58626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交互状态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3181350" y="5848350"/>
              <a:ext cx="114300" cy="114300"/>
            </a:xfrm>
            <a:prstGeom prst="ellipse">
              <a:avLst/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3371850" y="5862638"/>
              <a:ext cx="4741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决策/判定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4324350" y="5848350"/>
              <a:ext cx="114300" cy="114300"/>
            </a:xfrm>
            <a:prstGeom prst="ellipse">
              <a:avLst/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4514850" y="58626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续接决策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5657850" y="5848350"/>
              <a:ext cx="114300" cy="114300"/>
            </a:xfrm>
            <a:prstGeom prst="ellipse">
              <a:avLst/>
            </a:prstGeom>
            <a:solidFill>
              <a:srgbClr val="9AA3B5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5848350" y="5862638"/>
              <a:ext cx="4741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打断/恢复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952500" y="6096000"/>
              <a:ext cx="133350" cy="28575"/>
            </a:xfrm>
            <a:prstGeom prst="rect">
              <a:avLst/>
            </a:prstGeom>
            <a:solidFill>
              <a:srgbClr val="5A6478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1133475" y="60531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正向流转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2286000" y="6096000"/>
              <a:ext cx="133350" cy="28575"/>
            </a:xfrm>
            <a:prstGeom prst="rect">
              <a:avLst/>
            </a:prstGeom>
            <a:solidFill>
              <a:srgbClr val="5A6478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2466975" y="6053138"/>
              <a:ext cx="4741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打断/恢复</a:t>
              </a:r>
            </a:p>
          </p:txBody>
        </p:sp>
      </p:grpSp>
      <p:sp>
        <p:nvSpPr>
          <p:cNvPr id="88" name="Rectangle 88"/>
          <p:cNvSpPr/>
          <p:nvPr/>
        </p:nvSpPr>
        <p:spPr>
          <a:xfrm>
            <a:off x="523875" y="6572250"/>
            <a:ext cx="11144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89" name="TextBox 89"/>
          <p:cNvSpPr txBox="1"/>
          <p:nvPr/>
        </p:nvSpPr>
        <p:spPr>
          <a:xfrm>
            <a:off x="514350" y="6662738"/>
            <a:ext cx="9641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1493579" y="6662738"/>
            <a:ext cx="1840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09d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3A7B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1492" y="180499"/>
            <a:ext cx="768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泛雅 AI 智课</a:t>
            </a:r>
          </a:p>
        </p:txBody>
      </p:sp>
      <p:sp>
        <p:nvSpPr>
          <p:cNvPr id="5" name="Rectangle 5"/>
          <p:cNvSpPr/>
          <p:nvPr/>
        </p:nvSpPr>
        <p:spPr>
          <a:xfrm>
            <a:off x="5238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60591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项目背景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32861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3681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解决方案</a:t>
            </a:r>
          </a:p>
        </p:txBody>
      </p:sp>
      <p:sp>
        <p:nvSpPr>
          <p:cNvPr id="9" name="Rectangle 9"/>
          <p:cNvSpPr/>
          <p:nvPr/>
        </p:nvSpPr>
        <p:spPr>
          <a:xfrm>
            <a:off x="60483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118413" y="53149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系统实现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8106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8926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项目总结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7205" y="773430"/>
            <a:ext cx="211159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系统部署架构图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23875" y="1123950"/>
            <a:ext cx="47625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12445" y="1236345"/>
            <a:ext cx="18770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Docker容器化部署 · 三层安全区域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523875" y="1524000"/>
            <a:ext cx="11144250" cy="4762500"/>
            <a:chOff x="523875" y="1524000"/>
            <a:chExt cx="11144250" cy="4762500"/>
          </a:xfrm>
        </p:grpSpPr>
        <p:sp>
          <p:nvSpPr>
            <p:cNvPr id="16" name="Rectangle 16"/>
            <p:cNvSpPr/>
            <p:nvPr/>
          </p:nvSpPr>
          <p:spPr>
            <a:xfrm>
              <a:off x="523875" y="1524000"/>
              <a:ext cx="11144250" cy="1333500"/>
            </a:xfrm>
            <a:prstGeom prst="roundRect">
              <a:avLst>
                <a:gd name="adj" fmla="val 5714"/>
              </a:avLst>
            </a:prstGeom>
            <a:solidFill>
              <a:srgbClr val="FFF0E8"/>
            </a:solidFill>
            <a:ln w="14288">
              <a:solidFill>
                <a:srgbClr val="E8553C"/>
              </a:solidFill>
              <a:custDash>
                <a:ds d="533333" sp="200000"/>
              </a:custDash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6272" y="1606391"/>
              <a:ext cx="3501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E8553C"/>
                  </a:solidFill>
                  <a:latin typeface="Arial"/>
                  <a:ea typeface="Microsoft YaHei"/>
                  <a:cs typeface="Arial"/>
                </a:rPr>
                <a:t>DMZ区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1857375"/>
              <a:ext cx="20955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E8553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353687" y="2009299"/>
              <a:ext cx="9121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E8553C"/>
                  </a:solidFill>
                  <a:latin typeface="Arial"/>
                  <a:ea typeface="Microsoft YaHei"/>
                  <a:cs typeface="Arial"/>
                </a:rPr>
                <a:t>Nginx反向代理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15177" y="2205038"/>
              <a:ext cx="78914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SSL termination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10164" y="2357438"/>
              <a:ext cx="99917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Round-Robin负载均衡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619500" y="1857375"/>
              <a:ext cx="20955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E8553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122451" y="2009299"/>
              <a:ext cx="10895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E8553C"/>
                  </a:solidFill>
                  <a:latin typeface="Arial"/>
                  <a:ea typeface="Microsoft YaHei"/>
                  <a:cs typeface="Arial"/>
                </a:rPr>
                <a:t>泛雅OpenAPI网关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57700" y="22050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鉴权校验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57700" y="23574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签名验证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23875" y="3000375"/>
              <a:ext cx="11144250" cy="1905000"/>
            </a:xfrm>
            <a:prstGeom prst="roundRect">
              <a:avLst>
                <a:gd name="adj" fmla="val 4000"/>
              </a:avLst>
            </a:prstGeom>
            <a:solidFill>
              <a:srgbClr val="E8EDF5"/>
            </a:solidFill>
            <a:ln w="14288">
              <a:solidFill>
                <a:srgbClr val="1E6FE0"/>
              </a:solidFill>
              <a:custDash>
                <a:ds d="533333" sp="200000"/>
              </a:custDash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6272" y="3082766"/>
              <a:ext cx="3674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应用区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62000" y="3286125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317246" y="3446145"/>
              <a:ext cx="4135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Go后端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90399" y="3641884"/>
              <a:ext cx="467201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编排层实例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20641" y="3784759"/>
              <a:ext cx="606719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无状态·可扩展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476500" y="3286125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893128" y="3446145"/>
              <a:ext cx="6907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Python引擎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056656" y="3641884"/>
              <a:ext cx="36368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AI能力层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049905" y="3784759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备用推理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953000" y="3286125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473591" y="3446145"/>
              <a:ext cx="4828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Vue前端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526405" y="364188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静态资源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503902" y="3784759"/>
              <a:ext cx="42219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Nginx托管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429500" y="3286125"/>
              <a:ext cx="1905000" cy="7620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932665" y="3446145"/>
              <a:ext cx="8986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Dify工作流引擎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00156" y="3641884"/>
              <a:ext cx="36368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AI主引擎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13383" y="3784759"/>
              <a:ext cx="737235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工作流可视化编排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638794" y="4300538"/>
              <a:ext cx="291441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应用容器集群：Docker Compose编排 · 统一日志采集 · 健康检查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456271" y="4471988"/>
              <a:ext cx="327945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水平扩展：Go编排层无状态可多实例 · Dify/Python/前端均可独立扩缩容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23875" y="5048250"/>
              <a:ext cx="11144250" cy="1238250"/>
            </a:xfrm>
            <a:prstGeom prst="roundRect">
              <a:avLst>
                <a:gd name="adj" fmla="val 6154"/>
              </a:avLst>
            </a:prstGeom>
            <a:solidFill>
              <a:srgbClr val="EDE7F6"/>
            </a:solidFill>
            <a:ln w="14288">
              <a:solidFill>
                <a:srgbClr val="7B5BE0"/>
              </a:solidFill>
              <a:custDash>
                <a:ds d="533333" sp="200000"/>
              </a:custDash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6272" y="5130641"/>
              <a:ext cx="3674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数据区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62000" y="5334000"/>
              <a:ext cx="20955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7B5BE0"/>
              </a:solidFill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973931" y="5538788"/>
              <a:ext cx="128588" cy="142874"/>
              <a:chOff x="973931" y="5538788"/>
              <a:chExt cx="128588" cy="142874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973931" y="5636878"/>
                <a:ext cx="128588" cy="44784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44784">
                    <a:moveTo>
                      <a:pt x="0" y="0"/>
                    </a:moveTo>
                    <a:cubicBezTo>
                      <a:pt x="14059" y="10766"/>
                      <a:pt x="37390" y="16209"/>
                      <a:pt x="64294" y="16209"/>
                    </a:cubicBezTo>
                    <a:cubicBezTo>
                      <a:pt x="91154" y="16209"/>
                      <a:pt x="114479" y="10780"/>
                      <a:pt x="128588" y="121"/>
                    </a:cubicBezTo>
                    <a:lnTo>
                      <a:pt x="128588" y="16209"/>
                    </a:lnTo>
                    <a:cubicBezTo>
                      <a:pt x="128588" y="33533"/>
                      <a:pt x="100763" y="44327"/>
                      <a:pt x="66487" y="44770"/>
                    </a:cubicBezTo>
                    <a:lnTo>
                      <a:pt x="64294" y="44784"/>
                    </a:lnTo>
                    <a:cubicBezTo>
                      <a:pt x="29018" y="44784"/>
                      <a:pt x="0" y="33904"/>
                      <a:pt x="0" y="16209"/>
                    </a:cubicBez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973931" y="5594016"/>
                <a:ext cx="128588" cy="44784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44784">
                    <a:moveTo>
                      <a:pt x="0" y="0"/>
                    </a:moveTo>
                    <a:cubicBezTo>
                      <a:pt x="14059" y="10766"/>
                      <a:pt x="37390" y="16209"/>
                      <a:pt x="64294" y="16209"/>
                    </a:cubicBezTo>
                    <a:cubicBezTo>
                      <a:pt x="91154" y="16209"/>
                      <a:pt x="114479" y="10780"/>
                      <a:pt x="128588" y="121"/>
                    </a:cubicBezTo>
                    <a:lnTo>
                      <a:pt x="128588" y="16209"/>
                    </a:lnTo>
                    <a:cubicBezTo>
                      <a:pt x="128588" y="33904"/>
                      <a:pt x="99570" y="44784"/>
                      <a:pt x="64294" y="44784"/>
                    </a:cubicBezTo>
                    <a:cubicBezTo>
                      <a:pt x="30018" y="44784"/>
                      <a:pt x="1643" y="34511"/>
                      <a:pt x="150" y="17674"/>
                    </a:cubicBezTo>
                    <a:lnTo>
                      <a:pt x="36" y="16952"/>
                    </a:lnTo>
                    <a:lnTo>
                      <a:pt x="0" y="16209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973931" y="5538788"/>
                <a:ext cx="128588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57150">
                    <a:moveTo>
                      <a:pt x="64294" y="0"/>
                    </a:moveTo>
                    <a:cubicBezTo>
                      <a:pt x="71731" y="0"/>
                      <a:pt x="78896" y="486"/>
                      <a:pt x="85561" y="1414"/>
                    </a:cubicBezTo>
                    <a:lnTo>
                      <a:pt x="88912" y="1922"/>
                    </a:lnTo>
                    <a:cubicBezTo>
                      <a:pt x="92912" y="2588"/>
                      <a:pt x="96689" y="3417"/>
                      <a:pt x="100242" y="4408"/>
                    </a:cubicBezTo>
                    <a:lnTo>
                      <a:pt x="103385" y="5344"/>
                    </a:lnTo>
                    <a:lnTo>
                      <a:pt x="103921" y="5515"/>
                    </a:lnTo>
                    <a:cubicBezTo>
                      <a:pt x="105865" y="6154"/>
                      <a:pt x="107783" y="6869"/>
                      <a:pt x="109671" y="7658"/>
                    </a:cubicBezTo>
                    <a:lnTo>
                      <a:pt x="111093" y="8272"/>
                    </a:lnTo>
                    <a:cubicBezTo>
                      <a:pt x="113641" y="9425"/>
                      <a:pt x="115944" y="10687"/>
                      <a:pt x="118001" y="12059"/>
                    </a:cubicBezTo>
                    <a:cubicBezTo>
                      <a:pt x="118787" y="12583"/>
                      <a:pt x="119532" y="13118"/>
                      <a:pt x="120237" y="13666"/>
                    </a:cubicBezTo>
                    <a:cubicBezTo>
                      <a:pt x="122023" y="15052"/>
                      <a:pt x="123628" y="16655"/>
                      <a:pt x="125016" y="18438"/>
                    </a:cubicBezTo>
                    <a:lnTo>
                      <a:pt x="125666" y="19352"/>
                    </a:lnTo>
                    <a:cubicBezTo>
                      <a:pt x="126000" y="19852"/>
                      <a:pt x="126307" y="20355"/>
                      <a:pt x="126588" y="20860"/>
                    </a:cubicBezTo>
                    <a:lnTo>
                      <a:pt x="127088" y="21853"/>
                    </a:lnTo>
                    <a:cubicBezTo>
                      <a:pt x="127864" y="23520"/>
                      <a:pt x="128340" y="25258"/>
                      <a:pt x="128517" y="27068"/>
                    </a:cubicBezTo>
                    <a:lnTo>
                      <a:pt x="128588" y="28575"/>
                    </a:lnTo>
                    <a:cubicBezTo>
                      <a:pt x="128588" y="46270"/>
                      <a:pt x="99570" y="57150"/>
                      <a:pt x="64294" y="57150"/>
                    </a:cubicBezTo>
                    <a:cubicBezTo>
                      <a:pt x="30019" y="57150"/>
                      <a:pt x="1644" y="46877"/>
                      <a:pt x="151" y="30039"/>
                    </a:cubicBezTo>
                    <a:cubicBezTo>
                      <a:pt x="50" y="29558"/>
                      <a:pt x="0" y="29067"/>
                      <a:pt x="1" y="28575"/>
                    </a:cubicBezTo>
                    <a:lnTo>
                      <a:pt x="36" y="27832"/>
                    </a:lnTo>
                    <a:lnTo>
                      <a:pt x="151" y="27118"/>
                    </a:lnTo>
                    <a:cubicBezTo>
                      <a:pt x="1615" y="10644"/>
                      <a:pt x="28797" y="450"/>
                      <a:pt x="62065" y="14"/>
                    </a:cubicBez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439175" y="5570220"/>
              <a:ext cx="7411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PostgreSQL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486138" y="5785009"/>
              <a:ext cx="64722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结构化数据存储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621155" y="592788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主从备份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3619500" y="5334000"/>
              <a:ext cx="20955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7B5BE0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3831431" y="5538788"/>
              <a:ext cx="128588" cy="142874"/>
              <a:chOff x="3831431" y="5538788"/>
              <a:chExt cx="128588" cy="142874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3831431" y="5636878"/>
                <a:ext cx="128588" cy="44784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44784">
                    <a:moveTo>
                      <a:pt x="0" y="0"/>
                    </a:moveTo>
                    <a:cubicBezTo>
                      <a:pt x="14059" y="10766"/>
                      <a:pt x="37390" y="16209"/>
                      <a:pt x="64294" y="16209"/>
                    </a:cubicBezTo>
                    <a:cubicBezTo>
                      <a:pt x="91154" y="16209"/>
                      <a:pt x="114479" y="10780"/>
                      <a:pt x="128588" y="121"/>
                    </a:cubicBezTo>
                    <a:lnTo>
                      <a:pt x="128588" y="16209"/>
                    </a:lnTo>
                    <a:cubicBezTo>
                      <a:pt x="128588" y="33533"/>
                      <a:pt x="100763" y="44327"/>
                      <a:pt x="66487" y="44770"/>
                    </a:cubicBezTo>
                    <a:lnTo>
                      <a:pt x="64294" y="44784"/>
                    </a:lnTo>
                    <a:cubicBezTo>
                      <a:pt x="29018" y="44784"/>
                      <a:pt x="0" y="33904"/>
                      <a:pt x="0" y="16209"/>
                    </a:cubicBez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3831431" y="5594016"/>
                <a:ext cx="128588" cy="44784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44784">
                    <a:moveTo>
                      <a:pt x="0" y="0"/>
                    </a:moveTo>
                    <a:cubicBezTo>
                      <a:pt x="14059" y="10766"/>
                      <a:pt x="37390" y="16209"/>
                      <a:pt x="64294" y="16209"/>
                    </a:cubicBezTo>
                    <a:cubicBezTo>
                      <a:pt x="91154" y="16209"/>
                      <a:pt x="114479" y="10780"/>
                      <a:pt x="128588" y="121"/>
                    </a:cubicBezTo>
                    <a:lnTo>
                      <a:pt x="128588" y="16209"/>
                    </a:lnTo>
                    <a:cubicBezTo>
                      <a:pt x="128588" y="33904"/>
                      <a:pt x="99570" y="44784"/>
                      <a:pt x="64294" y="44784"/>
                    </a:cubicBezTo>
                    <a:cubicBezTo>
                      <a:pt x="30018" y="44784"/>
                      <a:pt x="1643" y="34511"/>
                      <a:pt x="150" y="17674"/>
                    </a:cubicBezTo>
                    <a:lnTo>
                      <a:pt x="36" y="16952"/>
                    </a:lnTo>
                    <a:lnTo>
                      <a:pt x="0" y="16209"/>
                    </a:ln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3831431" y="5538788"/>
                <a:ext cx="128588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57150">
                    <a:moveTo>
                      <a:pt x="64294" y="0"/>
                    </a:moveTo>
                    <a:cubicBezTo>
                      <a:pt x="71731" y="0"/>
                      <a:pt x="78896" y="486"/>
                      <a:pt x="85561" y="1414"/>
                    </a:cubicBezTo>
                    <a:lnTo>
                      <a:pt x="88912" y="1922"/>
                    </a:lnTo>
                    <a:cubicBezTo>
                      <a:pt x="92912" y="2588"/>
                      <a:pt x="96689" y="3417"/>
                      <a:pt x="100242" y="4408"/>
                    </a:cubicBezTo>
                    <a:lnTo>
                      <a:pt x="103385" y="5344"/>
                    </a:lnTo>
                    <a:lnTo>
                      <a:pt x="103921" y="5515"/>
                    </a:lnTo>
                    <a:cubicBezTo>
                      <a:pt x="105865" y="6154"/>
                      <a:pt x="107783" y="6869"/>
                      <a:pt x="109671" y="7658"/>
                    </a:cubicBezTo>
                    <a:lnTo>
                      <a:pt x="111093" y="8272"/>
                    </a:lnTo>
                    <a:cubicBezTo>
                      <a:pt x="113641" y="9425"/>
                      <a:pt x="115944" y="10687"/>
                      <a:pt x="118001" y="12059"/>
                    </a:cubicBezTo>
                    <a:cubicBezTo>
                      <a:pt x="118787" y="12583"/>
                      <a:pt x="119532" y="13118"/>
                      <a:pt x="120237" y="13666"/>
                    </a:cubicBezTo>
                    <a:cubicBezTo>
                      <a:pt x="122023" y="15052"/>
                      <a:pt x="123628" y="16655"/>
                      <a:pt x="125016" y="18438"/>
                    </a:cubicBezTo>
                    <a:lnTo>
                      <a:pt x="125666" y="19352"/>
                    </a:lnTo>
                    <a:cubicBezTo>
                      <a:pt x="126000" y="19852"/>
                      <a:pt x="126307" y="20355"/>
                      <a:pt x="126588" y="20860"/>
                    </a:cubicBezTo>
                    <a:lnTo>
                      <a:pt x="127088" y="21853"/>
                    </a:lnTo>
                    <a:cubicBezTo>
                      <a:pt x="127864" y="23520"/>
                      <a:pt x="128340" y="25258"/>
                      <a:pt x="128517" y="27068"/>
                    </a:cubicBezTo>
                    <a:lnTo>
                      <a:pt x="128588" y="28575"/>
                    </a:lnTo>
                    <a:cubicBezTo>
                      <a:pt x="128588" y="46270"/>
                      <a:pt x="99570" y="57150"/>
                      <a:pt x="64294" y="57150"/>
                    </a:cubicBezTo>
                    <a:cubicBezTo>
                      <a:pt x="30019" y="57150"/>
                      <a:pt x="1644" y="46877"/>
                      <a:pt x="151" y="30039"/>
                    </a:cubicBezTo>
                    <a:cubicBezTo>
                      <a:pt x="50" y="29558"/>
                      <a:pt x="0" y="29067"/>
                      <a:pt x="1" y="28575"/>
                    </a:cubicBezTo>
                    <a:lnTo>
                      <a:pt x="36" y="27832"/>
                    </a:lnTo>
                    <a:lnTo>
                      <a:pt x="151" y="27118"/>
                    </a:lnTo>
                    <a:cubicBezTo>
                      <a:pt x="1615" y="10644"/>
                      <a:pt x="28797" y="450"/>
                      <a:pt x="62065" y="14"/>
                    </a:cubicBezTo>
                    <a:close/>
                  </a:path>
                </a:pathLst>
              </a:custGeom>
              <a:solidFill>
                <a:srgbClr val="7B5BE0"/>
              </a:solidFill>
              <a:ln>
                <a:noFill/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4498300" y="5570220"/>
              <a:ext cx="3378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Redis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343638" y="5785009"/>
              <a:ext cx="64722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缓存与任务队列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433649" y="5927884"/>
              <a:ext cx="467201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哨兵高可用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477000" y="5334000"/>
              <a:ext cx="20955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7B5BE0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6674644" y="5550489"/>
              <a:ext cx="157162" cy="109771"/>
            </a:xfrm>
            <a:custGeom>
              <a:avLst/>
              <a:gdLst/>
              <a:ahLst/>
              <a:cxnLst/>
              <a:rect l="l" t="t" r="r" b="b"/>
              <a:pathLst>
                <a:path w="157162" h="109771">
                  <a:moveTo>
                    <a:pt x="64579" y="4765"/>
                  </a:moveTo>
                  <a:cubicBezTo>
                    <a:pt x="80260" y="0"/>
                    <a:pt x="97548" y="3165"/>
                    <a:pt x="110014" y="13166"/>
                  </a:cubicBezTo>
                  <a:cubicBezTo>
                    <a:pt x="119915" y="21081"/>
                    <a:pt x="125644" y="32354"/>
                    <a:pt x="126101" y="44170"/>
                  </a:cubicBezTo>
                  <a:lnTo>
                    <a:pt x="126123" y="45684"/>
                  </a:lnTo>
                  <a:lnTo>
                    <a:pt x="126773" y="45706"/>
                  </a:lnTo>
                  <a:cubicBezTo>
                    <a:pt x="143204" y="46470"/>
                    <a:pt x="156370" y="59715"/>
                    <a:pt x="157134" y="76210"/>
                  </a:cubicBezTo>
                  <a:lnTo>
                    <a:pt x="157162" y="77717"/>
                  </a:lnTo>
                  <a:cubicBezTo>
                    <a:pt x="157162" y="94912"/>
                    <a:pt x="143697" y="108949"/>
                    <a:pt x="126766" y="109735"/>
                  </a:cubicBezTo>
                  <a:lnTo>
                    <a:pt x="125266" y="109771"/>
                  </a:lnTo>
                  <a:lnTo>
                    <a:pt x="40412" y="109771"/>
                  </a:lnTo>
                  <a:lnTo>
                    <a:pt x="38826" y="109714"/>
                  </a:lnTo>
                  <a:cubicBezTo>
                    <a:pt x="17824" y="108928"/>
                    <a:pt x="843" y="92576"/>
                    <a:pt x="36" y="72116"/>
                  </a:cubicBezTo>
                  <a:lnTo>
                    <a:pt x="0" y="70573"/>
                  </a:lnTo>
                  <a:cubicBezTo>
                    <a:pt x="0" y="50949"/>
                    <a:pt x="14859" y="34783"/>
                    <a:pt x="34176" y="31875"/>
                  </a:cubicBezTo>
                  <a:lnTo>
                    <a:pt x="34990" y="31761"/>
                  </a:lnTo>
                  <a:lnTo>
                    <a:pt x="35490" y="30468"/>
                  </a:lnTo>
                  <a:cubicBezTo>
                    <a:pt x="40226" y="18895"/>
                    <a:pt x="50178" y="9708"/>
                    <a:pt x="62844" y="5336"/>
                  </a:cubicBezTo>
                  <a:lnTo>
                    <a:pt x="64587" y="4765"/>
                  </a:lnTo>
                  <a:close/>
                </a:path>
              </a:pathLst>
            </a:custGeom>
            <a:solidFill>
              <a:srgbClr val="7B5BE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346349" y="5570220"/>
              <a:ext cx="3568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B5BE0"/>
                  </a:solidFill>
                  <a:latin typeface="Arial"/>
                  <a:ea typeface="Microsoft YaHei"/>
                  <a:cs typeface="Arial"/>
                </a:rPr>
                <a:t>MinIO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246144" y="5785009"/>
              <a:ext cx="557212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对象文件存储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381161" y="5927884"/>
              <a:ext cx="287179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纠删码</a:t>
              </a:r>
            </a:p>
          </p:txBody>
        </p:sp>
      </p:grpSp>
      <p:sp>
        <p:nvSpPr>
          <p:cNvPr id="70" name="Rectangle 70"/>
          <p:cNvSpPr/>
          <p:nvPr/>
        </p:nvSpPr>
        <p:spPr>
          <a:xfrm>
            <a:off x="523875" y="6572250"/>
            <a:ext cx="11144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514350" y="6662738"/>
            <a:ext cx="9641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493579" y="6662738"/>
            <a:ext cx="1840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09e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设计决策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53612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架构设计决策：为什么这样组织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1E6FE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333500"/>
            <a:ext cx="5334000" cy="381000"/>
          </a:xfrm>
          <a:prstGeom prst="roundRect">
            <a:avLst>
              <a:gd name="adj" fmla="val 30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600200"/>
            <a:ext cx="5334000" cy="11430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299144" y="1451610"/>
            <a:ext cx="18787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决策一：编排与能力分离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9618" y="1894999"/>
            <a:ext cx="30801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问题：AI推理延迟不可控（3-5秒），若编排层也承担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9618" y="2104549"/>
            <a:ext cx="20855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AI推理，整体响应将被拖慢到秒级。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9618" y="2390299"/>
            <a:ext cx="31256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方案：业务编排层只做状态管理和流式转发，所有AI能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9618" y="2599849"/>
            <a:ext cx="27616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力下沉至AI能力层，两层间通过HTTP接口调用。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9618" y="2885599"/>
            <a:ext cx="27960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效果：编排层保持ms级响应，可独立水平扩展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191250" y="1333500"/>
            <a:ext cx="542925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191250" y="1333500"/>
            <a:ext cx="5429250" cy="381000"/>
          </a:xfrm>
          <a:prstGeom prst="roundRect">
            <a:avLst>
              <a:gd name="adj" fmla="val 3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6191250" y="1600200"/>
            <a:ext cx="542925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134540" y="1451610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决策二：能力可降级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69368" y="1894999"/>
            <a:ext cx="31386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问题：Dify作为工作流编排引擎是单点依赖，一旦宕机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69368" y="2104549"/>
            <a:ext cx="26055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整个AI能力层不可用。教学场景要求高可用。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369368" y="2390299"/>
            <a:ext cx="27616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方案：双引擎注册——先发Dify，失败自动切本地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69368" y="2599849"/>
            <a:ext cx="21440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Python引擎（），切换对用户透明。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369368" y="2885599"/>
            <a:ext cx="28916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效果：单引擎故障不中断课堂，可用性大幅提升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3857625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571500" y="3857625"/>
            <a:ext cx="5334000" cy="381000"/>
          </a:xfrm>
          <a:prstGeom prst="roundRect">
            <a:avLst>
              <a:gd name="adj" fmla="val 3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4124325"/>
            <a:ext cx="533400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2299144" y="3975735"/>
            <a:ext cx="18787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决策三：节点化统一语言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9618" y="4419124"/>
            <a:ext cx="30411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问题：以"页"为操作单元粒度太粗——编辑讲稿无法精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49618" y="4628674"/>
            <a:ext cx="28851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确到页内段落，问答无法定位页内位置，续接无法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49618" y="4838224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跨页恢复。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9618" y="5123974"/>
            <a:ext cx="30281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方案：定义"教学节点"为最小语义单元，所有业务链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49618" y="5333524"/>
            <a:ext cx="29696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路（脚本编辑/问答溯源/续接定位/学情统计）围绕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49618" y="5543074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节点展开。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9618" y="5828824"/>
            <a:ext cx="248207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效果：四条业务链路共用同一套数据结构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191250" y="3857625"/>
            <a:ext cx="542925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7B1FA2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6191250" y="3857625"/>
            <a:ext cx="5429250" cy="381000"/>
          </a:xfrm>
          <a:prstGeom prst="roundRect">
            <a:avLst>
              <a:gd name="adj" fmla="val 30000"/>
            </a:avLst>
          </a:prstGeom>
          <a:solidFill>
            <a:srgbClr val="7B1FA2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6191250" y="4124325"/>
            <a:ext cx="5429250" cy="114300"/>
          </a:xfrm>
          <a:prstGeom prst="rect">
            <a:avLst/>
          </a:prstGeom>
          <a:solidFill>
            <a:srgbClr val="7B1FA2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050530" y="3975735"/>
            <a:ext cx="17106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决策四：课程知识优先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369368" y="4419124"/>
            <a:ext cx="3158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问题：通用大模型直接回答易产生偏离教材的"幻觉"答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369368" y="4628674"/>
            <a:ext cx="22350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案，教学场景要求每个回答都可溯源。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369368" y="4914424"/>
            <a:ext cx="30151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方案：问答时优先检索课件知识，大模型基于检索结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369368" y="5123974"/>
            <a:ext cx="26380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果生成回答。三级级联上下文：节点→页面→全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369368" y="5333524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页。回答绑定溯源页码。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369368" y="5619274"/>
            <a:ext cx="23455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7B1FA2"/>
                </a:solidFill>
                <a:latin typeface="Arial"/>
                <a:ea typeface="Microsoft YaHei"/>
                <a:cs typeface="Arial"/>
              </a:rPr>
              <a:t>效果：降低幻觉，学生可验证答案来源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62865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4584382" y="6379845"/>
            <a:ext cx="30232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四个决策共同支撑了系统的韧性、可扩展性和教学一致性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516511" y="67022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算法底座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49831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先节点化，再问答，最后续接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6260" y="1346835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三阶段解耦解析管线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71500" y="1666875"/>
            <a:ext cx="11049000" cy="1238250"/>
            <a:chOff x="571500" y="1666875"/>
            <a:chExt cx="11049000" cy="1238250"/>
          </a:xfrm>
        </p:grpSpPr>
        <p:sp>
          <p:nvSpPr>
            <p:cNvPr id="8" name="Rectangle 8"/>
            <p:cNvSpPr/>
            <p:nvPr/>
          </p:nvSpPr>
          <p:spPr>
            <a:xfrm>
              <a:off x="571500" y="1666875"/>
              <a:ext cx="3333750" cy="1238250"/>
            </a:xfrm>
            <a:prstGeom prst="roundRect">
              <a:avLst>
                <a:gd name="adj" fmla="val 7692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66443" y="1783556"/>
              <a:ext cx="13438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Stage 1：拆页渲染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32836" y="2006441"/>
              <a:ext cx="101107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输入：原始课件文本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95531" y="2177891"/>
              <a:ext cx="188568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输出：规范化Markdown + 关键知识点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77829" y="2349341"/>
              <a:ext cx="11210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约束：结构化约束模式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00819" y="2520791"/>
              <a:ext cx="12751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降级：LLM异常→预置模板</a:t>
              </a:r>
            </a:p>
          </p:txBody>
        </p:sp>
        <p:sp>
          <p:nvSpPr>
            <p:cNvPr id="14" name="Polygon 14"/>
            <p:cNvSpPr/>
            <p:nvPr/>
          </p:nvSpPr>
          <p:spPr>
            <a:xfrm>
              <a:off x="4000500" y="22193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191000" y="1666875"/>
              <a:ext cx="3333750" cy="1238250"/>
            </a:xfrm>
            <a:prstGeom prst="roundRect">
              <a:avLst>
                <a:gd name="adj" fmla="val 7692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166253" y="1783556"/>
              <a:ext cx="13832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Stage 2：语义聚合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04592" y="2006441"/>
              <a:ext cx="90656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输入：Stage1输出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24057" y="2177891"/>
              <a:ext cx="14676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输出：层级化节点树 nodes[]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87315" y="2349341"/>
              <a:ext cx="13411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约束：节点标识唯一性校验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62562" y="2520791"/>
              <a:ext cx="139062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降级：节点树为空→fallback</a:t>
              </a:r>
            </a:p>
          </p:txBody>
        </p:sp>
        <p:sp>
          <p:nvSpPr>
            <p:cNvPr id="21" name="Polygon 21"/>
            <p:cNvSpPr/>
            <p:nvPr/>
          </p:nvSpPr>
          <p:spPr>
            <a:xfrm>
              <a:off x="7620000" y="22193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810500" y="1666875"/>
              <a:ext cx="3810000" cy="1238250"/>
            </a:xfrm>
            <a:prstGeom prst="roundRect">
              <a:avLst>
                <a:gd name="adj" fmla="val 7692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02638" y="1783556"/>
              <a:ext cx="1225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Stage 3：保脉络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74981" y="2006441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输入：节点树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54954" y="2177891"/>
              <a:ext cx="11210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输出：结构化脚本数组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21950" y="2349341"/>
              <a:ext cx="11871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约束：6种segment类型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87183" y="2520791"/>
              <a:ext cx="14566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降级：scripts为空→fallback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3998012" y="3054191"/>
            <a:ext cx="41959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阶段独立可优化：Stage1遗忘前文不影响Stage2识别，Stage2输出有误不连累Stage3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3429000"/>
            <a:ext cx="11049000" cy="2762250"/>
          </a:xfrm>
          <a:prstGeom prst="roundRect">
            <a:avLst>
              <a:gd name="adj" fmla="val 4138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324666" y="3632835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节点底座的双重结构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62000" y="3952875"/>
            <a:ext cx="5048250" cy="20955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4288">
            <a:solidFill>
              <a:srgbClr val="1E6FE0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762000" y="3952875"/>
            <a:ext cx="5048250" cy="342900"/>
          </a:xfrm>
          <a:prstGeom prst="roundRect">
            <a:avLst>
              <a:gd name="adj" fmla="val 27778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762000" y="4200525"/>
            <a:ext cx="5048250" cy="9525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sp>
        <p:nvSpPr>
          <p:cNvPr id="35" name="Freeform 35"/>
          <p:cNvSpPr/>
          <p:nvPr/>
        </p:nvSpPr>
        <p:spPr>
          <a:xfrm>
            <a:off x="965199" y="4057981"/>
            <a:ext cx="133711" cy="134233"/>
          </a:xfrm>
          <a:custGeom>
            <a:avLst/>
            <a:gdLst/>
            <a:ahLst/>
            <a:cxnLst/>
            <a:rect l="l" t="t" r="r" b="b"/>
            <a:pathLst>
              <a:path w="133711" h="134233">
                <a:moveTo>
                  <a:pt x="95251" y="11353"/>
                </a:moveTo>
                <a:cubicBezTo>
                  <a:pt x="121939" y="26762"/>
                  <a:pt x="133711" y="59107"/>
                  <a:pt x="123171" y="88065"/>
                </a:cubicBezTo>
                <a:cubicBezTo>
                  <a:pt x="112631" y="117023"/>
                  <a:pt x="82821" y="134233"/>
                  <a:pt x="52473" y="128881"/>
                </a:cubicBezTo>
                <a:cubicBezTo>
                  <a:pt x="22125" y="123529"/>
                  <a:pt x="0" y="97161"/>
                  <a:pt x="1" y="66344"/>
                </a:cubicBezTo>
                <a:lnTo>
                  <a:pt x="33" y="64287"/>
                </a:lnTo>
                <a:cubicBezTo>
                  <a:pt x="756" y="41979"/>
                  <a:pt x="13138" y="21689"/>
                  <a:pt x="32645" y="10845"/>
                </a:cubicBezTo>
                <a:cubicBezTo>
                  <a:pt x="52153" y="0"/>
                  <a:pt x="75922" y="193"/>
                  <a:pt x="95251" y="11353"/>
                </a:cubicBezTo>
                <a:moveTo>
                  <a:pt x="55290" y="49155"/>
                </a:moveTo>
                <a:cubicBezTo>
                  <a:pt x="52811" y="46676"/>
                  <a:pt x="48791" y="46676"/>
                  <a:pt x="46311" y="49155"/>
                </a:cubicBezTo>
                <a:lnTo>
                  <a:pt x="33611" y="61855"/>
                </a:lnTo>
                <a:cubicBezTo>
                  <a:pt x="31132" y="64335"/>
                  <a:pt x="31132" y="68354"/>
                  <a:pt x="33611" y="70834"/>
                </a:cubicBezTo>
                <a:lnTo>
                  <a:pt x="46311" y="83534"/>
                </a:lnTo>
                <a:cubicBezTo>
                  <a:pt x="48791" y="86013"/>
                  <a:pt x="52811" y="86013"/>
                  <a:pt x="55290" y="83534"/>
                </a:cubicBezTo>
                <a:lnTo>
                  <a:pt x="55817" y="82937"/>
                </a:lnTo>
                <a:cubicBezTo>
                  <a:pt x="57778" y="80409"/>
                  <a:pt x="57552" y="76817"/>
                  <a:pt x="55290" y="74555"/>
                </a:cubicBezTo>
                <a:lnTo>
                  <a:pt x="47086" y="66344"/>
                </a:lnTo>
                <a:lnTo>
                  <a:pt x="55290" y="58134"/>
                </a:lnTo>
                <a:cubicBezTo>
                  <a:pt x="57769" y="55654"/>
                  <a:pt x="57769" y="51635"/>
                  <a:pt x="55290" y="49155"/>
                </a:cubicBezTo>
                <a:moveTo>
                  <a:pt x="80690" y="49155"/>
                </a:moveTo>
                <a:cubicBezTo>
                  <a:pt x="78211" y="46676"/>
                  <a:pt x="74191" y="46676"/>
                  <a:pt x="71711" y="49155"/>
                </a:cubicBezTo>
                <a:lnTo>
                  <a:pt x="71184" y="49752"/>
                </a:lnTo>
                <a:cubicBezTo>
                  <a:pt x="69223" y="52280"/>
                  <a:pt x="69449" y="55872"/>
                  <a:pt x="71711" y="58134"/>
                </a:cubicBezTo>
                <a:lnTo>
                  <a:pt x="79916" y="66344"/>
                </a:lnTo>
                <a:lnTo>
                  <a:pt x="71711" y="74555"/>
                </a:lnTo>
                <a:cubicBezTo>
                  <a:pt x="69305" y="77047"/>
                  <a:pt x="69339" y="81007"/>
                  <a:pt x="71789" y="83457"/>
                </a:cubicBezTo>
                <a:cubicBezTo>
                  <a:pt x="74238" y="85906"/>
                  <a:pt x="78199" y="85940"/>
                  <a:pt x="80690" y="83534"/>
                </a:cubicBezTo>
                <a:lnTo>
                  <a:pt x="93390" y="70834"/>
                </a:lnTo>
                <a:cubicBezTo>
                  <a:pt x="95869" y="68354"/>
                  <a:pt x="95869" y="64335"/>
                  <a:pt x="93390" y="6185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2831735" y="40586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知识图谱定义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941070" y="4476750"/>
            <a:ext cx="4678680" cy="1181100"/>
            <a:chOff x="941070" y="4476750"/>
            <a:chExt cx="4678680" cy="1181100"/>
          </a:xfrm>
        </p:grpSpPr>
        <p:sp>
          <p:nvSpPr>
            <p:cNvPr id="37" name="Rectangle 37"/>
            <p:cNvSpPr/>
            <p:nvPr/>
          </p:nvSpPr>
          <p:spPr>
            <a:xfrm>
              <a:off x="952500" y="4476750"/>
              <a:ext cx="219075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538383" y="4579620"/>
              <a:ext cx="10189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前置依赖 前置依赖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333750" y="4476750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922252" y="4579620"/>
              <a:ext cx="11089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难度系数 difficulty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52500" y="4905375"/>
              <a:ext cx="219075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412367" y="5008245"/>
              <a:ext cx="12710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关联关系 RelationType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333750" y="4905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739229" y="5008245"/>
              <a:ext cx="14750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掌握度追踪 MasteryScore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1070" y="5474970"/>
              <a:ext cx="1583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节点间的结构关系和难度评级</a:t>
              </a:r>
            </a:p>
          </p:txBody>
        </p:sp>
      </p:grpSp>
      <p:sp>
        <p:nvSpPr>
          <p:cNvPr id="47" name="Rectangle 47"/>
          <p:cNvSpPr/>
          <p:nvPr/>
        </p:nvSpPr>
        <p:spPr>
          <a:xfrm>
            <a:off x="6096000" y="3952875"/>
            <a:ext cx="5334000" cy="20955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6096000" y="3952875"/>
            <a:ext cx="5334000" cy="342900"/>
          </a:xfrm>
          <a:prstGeom prst="roundRect">
            <a:avLst>
              <a:gd name="adj" fmla="val 27778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6096000" y="4200525"/>
            <a:ext cx="5334000" cy="9525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grpSp>
        <p:nvGrpSpPr>
          <p:cNvPr id="52" name="Group 52"/>
          <p:cNvGrpSpPr/>
          <p:nvPr/>
        </p:nvGrpSpPr>
        <p:grpSpPr>
          <a:xfrm>
            <a:off x="6311899" y="4060825"/>
            <a:ext cx="101601" cy="127001"/>
            <a:chOff x="6311899" y="4060825"/>
            <a:chExt cx="101601" cy="127001"/>
          </a:xfrm>
        </p:grpSpPr>
        <p:sp>
          <p:nvSpPr>
            <p:cNvPr id="50" name="Freeform 50"/>
            <p:cNvSpPr/>
            <p:nvPr/>
          </p:nvSpPr>
          <p:spPr>
            <a:xfrm>
              <a:off x="6311899" y="4060825"/>
              <a:ext cx="101601" cy="127001"/>
            </a:xfrm>
            <a:custGeom>
              <a:avLst/>
              <a:gdLst/>
              <a:ahLst/>
              <a:cxnLst/>
              <a:rect l="l" t="t" r="r" b="b"/>
              <a:pathLst>
                <a:path w="101601" h="127001">
                  <a:moveTo>
                    <a:pt x="50801" y="0"/>
                  </a:moveTo>
                  <a:lnTo>
                    <a:pt x="51544" y="44"/>
                  </a:lnTo>
                  <a:cubicBezTo>
                    <a:pt x="54461" y="389"/>
                    <a:pt x="56762" y="2689"/>
                    <a:pt x="57106" y="5607"/>
                  </a:cubicBezTo>
                  <a:lnTo>
                    <a:pt x="57151" y="6350"/>
                  </a:lnTo>
                  <a:lnTo>
                    <a:pt x="57151" y="31750"/>
                  </a:lnTo>
                  <a:lnTo>
                    <a:pt x="57182" y="32703"/>
                  </a:lnTo>
                  <a:cubicBezTo>
                    <a:pt x="57652" y="38950"/>
                    <a:pt x="62607" y="43922"/>
                    <a:pt x="68854" y="44412"/>
                  </a:cubicBezTo>
                  <a:lnTo>
                    <a:pt x="69851" y="44450"/>
                  </a:lnTo>
                  <a:lnTo>
                    <a:pt x="95251" y="44450"/>
                  </a:lnTo>
                  <a:lnTo>
                    <a:pt x="95994" y="44494"/>
                  </a:lnTo>
                  <a:cubicBezTo>
                    <a:pt x="98911" y="44839"/>
                    <a:pt x="101212" y="47139"/>
                    <a:pt x="101556" y="50057"/>
                  </a:cubicBezTo>
                  <a:lnTo>
                    <a:pt x="101601" y="50800"/>
                  </a:lnTo>
                  <a:lnTo>
                    <a:pt x="101601" y="107950"/>
                  </a:lnTo>
                  <a:cubicBezTo>
                    <a:pt x="101601" y="118037"/>
                    <a:pt x="93738" y="126376"/>
                    <a:pt x="83668" y="126968"/>
                  </a:cubicBezTo>
                  <a:lnTo>
                    <a:pt x="82551" y="127000"/>
                  </a:lnTo>
                  <a:lnTo>
                    <a:pt x="19051" y="127000"/>
                  </a:lnTo>
                  <a:cubicBezTo>
                    <a:pt x="8963" y="127001"/>
                    <a:pt x="624" y="119138"/>
                    <a:pt x="32" y="109068"/>
                  </a:cubicBezTo>
                  <a:lnTo>
                    <a:pt x="1" y="107950"/>
                  </a:lnTo>
                  <a:lnTo>
                    <a:pt x="1" y="19050"/>
                  </a:lnTo>
                  <a:cubicBezTo>
                    <a:pt x="0" y="8963"/>
                    <a:pt x="7863" y="624"/>
                    <a:pt x="17933" y="32"/>
                  </a:cubicBezTo>
                  <a:lnTo>
                    <a:pt x="19051" y="0"/>
                  </a:lnTo>
                  <a:close/>
                  <a:moveTo>
                    <a:pt x="69851" y="88900"/>
                  </a:moveTo>
                  <a:lnTo>
                    <a:pt x="31751" y="88900"/>
                  </a:lnTo>
                  <a:cubicBezTo>
                    <a:pt x="28244" y="88900"/>
                    <a:pt x="25401" y="91743"/>
                    <a:pt x="25401" y="95250"/>
                  </a:cubicBezTo>
                  <a:cubicBezTo>
                    <a:pt x="25401" y="98757"/>
                    <a:pt x="28244" y="101600"/>
                    <a:pt x="31751" y="101600"/>
                  </a:cubicBezTo>
                  <a:lnTo>
                    <a:pt x="69851" y="101600"/>
                  </a:lnTo>
                  <a:cubicBezTo>
                    <a:pt x="73358" y="101600"/>
                    <a:pt x="76201" y="98757"/>
                    <a:pt x="76201" y="95250"/>
                  </a:cubicBezTo>
                  <a:cubicBezTo>
                    <a:pt x="76201" y="91743"/>
                    <a:pt x="73358" y="88900"/>
                    <a:pt x="69851" y="88900"/>
                  </a:cubicBezTo>
                  <a:moveTo>
                    <a:pt x="69851" y="63500"/>
                  </a:moveTo>
                  <a:lnTo>
                    <a:pt x="31751" y="63500"/>
                  </a:lnTo>
                  <a:cubicBezTo>
                    <a:pt x="28244" y="63500"/>
                    <a:pt x="25401" y="66343"/>
                    <a:pt x="25401" y="69850"/>
                  </a:cubicBezTo>
                  <a:cubicBezTo>
                    <a:pt x="25401" y="73357"/>
                    <a:pt x="28244" y="76200"/>
                    <a:pt x="31751" y="76200"/>
                  </a:cubicBezTo>
                  <a:lnTo>
                    <a:pt x="69851" y="76200"/>
                  </a:lnTo>
                  <a:cubicBezTo>
                    <a:pt x="73358" y="76200"/>
                    <a:pt x="76201" y="73357"/>
                    <a:pt x="76201" y="69850"/>
                  </a:cubicBezTo>
                  <a:cubicBezTo>
                    <a:pt x="76201" y="66343"/>
                    <a:pt x="73358" y="63500"/>
                    <a:pt x="69851" y="635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6381744" y="4067169"/>
              <a:ext cx="25406" cy="25406"/>
            </a:xfrm>
            <a:custGeom>
              <a:avLst/>
              <a:gdLst/>
              <a:ahLst/>
              <a:cxnLst/>
              <a:rect l="l" t="t" r="r" b="b"/>
              <a:pathLst>
                <a:path w="25406" h="25406">
                  <a:moveTo>
                    <a:pt x="25406" y="25406"/>
                  </a:moveTo>
                  <a:lnTo>
                    <a:pt x="6" y="254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53" name="TextBox 53"/>
          <p:cNvSpPr txBox="1"/>
          <p:nvPr/>
        </p:nvSpPr>
        <p:spPr>
          <a:xfrm>
            <a:off x="8308610" y="40586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脚本片段映射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6275070" y="4476750"/>
            <a:ext cx="4964430" cy="1181100"/>
            <a:chOff x="6275070" y="4476750"/>
            <a:chExt cx="4964430" cy="1181100"/>
          </a:xfrm>
        </p:grpSpPr>
        <p:sp>
          <p:nvSpPr>
            <p:cNvPr id="54" name="Rectangle 54"/>
            <p:cNvSpPr/>
            <p:nvPr/>
          </p:nvSpPr>
          <p:spPr>
            <a:xfrm>
              <a:off x="6286500" y="4476750"/>
              <a:ext cx="238125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28590" y="4579620"/>
              <a:ext cx="16970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segment_id + text + 节点标识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858250" y="4476750"/>
              <a:ext cx="238125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566386" y="4579620"/>
              <a:ext cx="9649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段落类型 6种分类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86500" y="4905375"/>
              <a:ext cx="238125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087648" y="5008245"/>
              <a:ext cx="7789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预估时长 时长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858250" y="4905375"/>
              <a:ext cx="238125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296352" y="5008245"/>
              <a:ext cx="15050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interaction_hint 互动提示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275070" y="5474970"/>
              <a:ext cx="20631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一段文本可跨节点复用，双向引用修复</a:t>
              </a:r>
            </a:p>
          </p:txBody>
        </p:sp>
      </p:grpSp>
      <p:sp>
        <p:nvSpPr>
          <p:cNvPr id="64" name="Rectangle 64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544014" y="6702266"/>
            <a:ext cx="869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课件解析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87343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课件解析链：把静态文件变成可讲授节点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571500" y="1333500"/>
            <a:ext cx="10096500" cy="762000"/>
            <a:chOff x="571500" y="1333500"/>
            <a:chExt cx="10096500" cy="762000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1143000" cy="571500"/>
            </a:xfrm>
            <a:prstGeom prst="roundRect">
              <a:avLst>
                <a:gd name="adj" fmla="val 13333"/>
              </a:avLst>
            </a:prstGeom>
            <a:solidFill>
              <a:srgbClr val="F4F7FC"/>
            </a:solidFill>
            <a:ln w="14288">
              <a:solidFill>
                <a:srgbClr val="9AA3B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1540" y="167449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原始课件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714500" y="171450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095500" y="1333500"/>
              <a:ext cx="1905000" cy="762000"/>
            </a:xfrm>
            <a:prstGeom prst="roundRect">
              <a:avLst>
                <a:gd name="adj" fmla="val 125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667119" y="15059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多模态识别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45938" y="1728788"/>
              <a:ext cx="60412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VLM渐进增强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38425" y="1871662"/>
              <a:ext cx="8191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文本提取始终可用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000500" y="171450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381500" y="1333500"/>
              <a:ext cx="1905000" cy="762000"/>
            </a:xfrm>
            <a:prstGeom prst="roundRect">
              <a:avLst>
                <a:gd name="adj" fmla="val 125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953119" y="15059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标准化校验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14424" y="1728788"/>
              <a:ext cx="83915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JSON Schema约束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56892" y="1871662"/>
              <a:ext cx="135421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additionalProperties: false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286500" y="171450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667500" y="1333500"/>
              <a:ext cx="1905000" cy="762000"/>
            </a:xfrm>
            <a:prstGeom prst="roundRect">
              <a:avLst>
                <a:gd name="adj" fmla="val 125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092101" y="1505902"/>
              <a:ext cx="1055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引用一致性修复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30415" y="1728788"/>
              <a:ext cx="97917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自动修复无效node_id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75421" y="1871662"/>
              <a:ext cx="88915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KG↔Script双向对齐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572500" y="171450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953500" y="1333500"/>
              <a:ext cx="1714500" cy="7620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14288">
              <a:solidFill>
                <a:srgbClr val="0E8C8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29869" y="15059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结构化讲稿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51181" y="172878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节点化内容底座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73672" y="1871662"/>
              <a:ext cx="87415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知识图谱+脚本片段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556260" y="24422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关键机制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2762250"/>
            <a:ext cx="5334000" cy="1714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571500" y="2762250"/>
            <a:ext cx="5334000" cy="47625"/>
          </a:xfrm>
          <a:prstGeom prst="roundRect">
            <a:avLst>
              <a:gd name="adj" fmla="val 50000"/>
            </a:avLst>
          </a:prstGeom>
          <a:solidFill>
            <a:srgbClr val="1E6FE0"/>
          </a:solidFill>
          <a:ln>
            <a:noFill/>
          </a:ln>
        </p:spPr>
      </p:sp>
      <p:grpSp>
        <p:nvGrpSpPr>
          <p:cNvPr id="40" name="Group 40"/>
          <p:cNvGrpSpPr/>
          <p:nvPr/>
        </p:nvGrpSpPr>
        <p:grpSpPr>
          <a:xfrm>
            <a:off x="825276" y="3016250"/>
            <a:ext cx="159198" cy="158750"/>
            <a:chOff x="825276" y="3016250"/>
            <a:chExt cx="159198" cy="158750"/>
          </a:xfrm>
        </p:grpSpPr>
        <p:sp>
          <p:nvSpPr>
            <p:cNvPr id="33" name="Freeform 33"/>
            <p:cNvSpPr/>
            <p:nvPr/>
          </p:nvSpPr>
          <p:spPr>
            <a:xfrm>
              <a:off x="825276" y="3087688"/>
              <a:ext cx="24260" cy="15875"/>
            </a:xfrm>
            <a:custGeom>
              <a:avLst/>
              <a:gdLst/>
              <a:ahLst/>
              <a:cxnLst/>
              <a:rect l="l" t="t" r="r" b="b"/>
              <a:pathLst>
                <a:path w="24260" h="15875">
                  <a:moveTo>
                    <a:pt x="16099" y="0"/>
                  </a:moveTo>
                  <a:cubicBezTo>
                    <a:pt x="20298" y="5"/>
                    <a:pt x="23768" y="3280"/>
                    <a:pt x="24014" y="7472"/>
                  </a:cubicBezTo>
                  <a:cubicBezTo>
                    <a:pt x="24260" y="11665"/>
                    <a:pt x="21198" y="15323"/>
                    <a:pt x="17027" y="15819"/>
                  </a:cubicBezTo>
                  <a:lnTo>
                    <a:pt x="16099" y="15875"/>
                  </a:lnTo>
                  <a:lnTo>
                    <a:pt x="8161" y="15875"/>
                  </a:lnTo>
                  <a:cubicBezTo>
                    <a:pt x="3961" y="15870"/>
                    <a:pt x="492" y="12595"/>
                    <a:pt x="246" y="8403"/>
                  </a:cubicBezTo>
                  <a:cubicBezTo>
                    <a:pt x="0" y="4210"/>
                    <a:pt x="3062" y="552"/>
                    <a:pt x="7232" y="56"/>
                  </a:cubicBezTo>
                  <a:lnTo>
                    <a:pt x="8161" y="0"/>
                  </a:lnTo>
                  <a:lnTo>
                    <a:pt x="16099" y="0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896938" y="3016250"/>
              <a:ext cx="15875" cy="24036"/>
            </a:xfrm>
            <a:custGeom>
              <a:avLst/>
              <a:gdLst/>
              <a:ahLst/>
              <a:cxnLst/>
              <a:rect l="l" t="t" r="r" b="b"/>
              <a:pathLst>
                <a:path w="15875" h="24036">
                  <a:moveTo>
                    <a:pt x="7937" y="0"/>
                  </a:moveTo>
                  <a:cubicBezTo>
                    <a:pt x="11962" y="1"/>
                    <a:pt x="15349" y="3012"/>
                    <a:pt x="15819" y="7009"/>
                  </a:cubicBezTo>
                  <a:lnTo>
                    <a:pt x="15875" y="7937"/>
                  </a:lnTo>
                  <a:lnTo>
                    <a:pt x="15875" y="15875"/>
                  </a:lnTo>
                  <a:cubicBezTo>
                    <a:pt x="15870" y="20075"/>
                    <a:pt x="12595" y="23544"/>
                    <a:pt x="8403" y="23790"/>
                  </a:cubicBezTo>
                  <a:cubicBezTo>
                    <a:pt x="4210" y="24036"/>
                    <a:pt x="552" y="20974"/>
                    <a:pt x="56" y="16804"/>
                  </a:cubicBezTo>
                  <a:lnTo>
                    <a:pt x="0" y="15875"/>
                  </a:lnTo>
                  <a:lnTo>
                    <a:pt x="0" y="7937"/>
                  </a:lnTo>
                  <a:cubicBezTo>
                    <a:pt x="0" y="3554"/>
                    <a:pt x="3554" y="0"/>
                    <a:pt x="7937" y="0"/>
                  </a:cubicBez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960214" y="3087688"/>
              <a:ext cx="24260" cy="15875"/>
            </a:xfrm>
            <a:custGeom>
              <a:avLst/>
              <a:gdLst/>
              <a:ahLst/>
              <a:cxnLst/>
              <a:rect l="l" t="t" r="r" b="b"/>
              <a:pathLst>
                <a:path w="24260" h="15875">
                  <a:moveTo>
                    <a:pt x="16099" y="0"/>
                  </a:moveTo>
                  <a:cubicBezTo>
                    <a:pt x="20298" y="5"/>
                    <a:pt x="23768" y="3280"/>
                    <a:pt x="24014" y="7472"/>
                  </a:cubicBezTo>
                  <a:cubicBezTo>
                    <a:pt x="24260" y="11665"/>
                    <a:pt x="21198" y="15323"/>
                    <a:pt x="17027" y="15819"/>
                  </a:cubicBezTo>
                  <a:lnTo>
                    <a:pt x="16099" y="15875"/>
                  </a:lnTo>
                  <a:lnTo>
                    <a:pt x="8161" y="15875"/>
                  </a:lnTo>
                  <a:cubicBezTo>
                    <a:pt x="3961" y="15870"/>
                    <a:pt x="492" y="12595"/>
                    <a:pt x="246" y="8403"/>
                  </a:cubicBezTo>
                  <a:cubicBezTo>
                    <a:pt x="0" y="4210"/>
                    <a:pt x="3062" y="552"/>
                    <a:pt x="7232" y="56"/>
                  </a:cubicBezTo>
                  <a:lnTo>
                    <a:pt x="8161" y="0"/>
                  </a:lnTo>
                  <a:lnTo>
                    <a:pt x="16099" y="0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845365" y="3036103"/>
              <a:ext cx="22978" cy="23109"/>
            </a:xfrm>
            <a:custGeom>
              <a:avLst/>
              <a:gdLst/>
              <a:ahLst/>
              <a:cxnLst/>
              <a:rect l="l" t="t" r="r" b="b"/>
              <a:pathLst>
                <a:path w="22978" h="23109">
                  <a:moveTo>
                    <a:pt x="3099" y="3110"/>
                  </a:moveTo>
                  <a:cubicBezTo>
                    <a:pt x="5927" y="282"/>
                    <a:pt x="10416" y="0"/>
                    <a:pt x="13576" y="2451"/>
                  </a:cubicBezTo>
                  <a:lnTo>
                    <a:pt x="14322" y="3110"/>
                  </a:lnTo>
                  <a:lnTo>
                    <a:pt x="19879" y="8666"/>
                  </a:lnTo>
                  <a:cubicBezTo>
                    <a:pt x="22833" y="11631"/>
                    <a:pt x="22978" y="16380"/>
                    <a:pt x="20210" y="19519"/>
                  </a:cubicBezTo>
                  <a:cubicBezTo>
                    <a:pt x="17442" y="22658"/>
                    <a:pt x="12712" y="23109"/>
                    <a:pt x="9401" y="20549"/>
                  </a:cubicBezTo>
                  <a:lnTo>
                    <a:pt x="8655" y="19890"/>
                  </a:lnTo>
                  <a:lnTo>
                    <a:pt x="3099" y="14334"/>
                  </a:lnTo>
                  <a:cubicBezTo>
                    <a:pt x="0" y="11234"/>
                    <a:pt x="0" y="6210"/>
                    <a:pt x="3099" y="3110"/>
                  </a:cubicBez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941288" y="3036114"/>
              <a:ext cx="23218" cy="22979"/>
            </a:xfrm>
            <a:custGeom>
              <a:avLst/>
              <a:gdLst/>
              <a:ahLst/>
              <a:cxnLst/>
              <a:rect l="l" t="t" r="r" b="b"/>
              <a:pathLst>
                <a:path w="23218" h="22979">
                  <a:moveTo>
                    <a:pt x="8775" y="3099"/>
                  </a:moveTo>
                  <a:cubicBezTo>
                    <a:pt x="11740" y="145"/>
                    <a:pt x="16489" y="0"/>
                    <a:pt x="19628" y="2768"/>
                  </a:cubicBezTo>
                  <a:cubicBezTo>
                    <a:pt x="22767" y="5536"/>
                    <a:pt x="23218" y="10266"/>
                    <a:pt x="20658" y="13577"/>
                  </a:cubicBezTo>
                  <a:lnTo>
                    <a:pt x="19999" y="14323"/>
                  </a:lnTo>
                  <a:lnTo>
                    <a:pt x="14443" y="19879"/>
                  </a:lnTo>
                  <a:cubicBezTo>
                    <a:pt x="11478" y="22834"/>
                    <a:pt x="6729" y="22979"/>
                    <a:pt x="3590" y="20211"/>
                  </a:cubicBezTo>
                  <a:cubicBezTo>
                    <a:pt x="451" y="17443"/>
                    <a:pt x="0" y="12713"/>
                    <a:pt x="2560" y="9402"/>
                  </a:cubicBezTo>
                  <a:lnTo>
                    <a:pt x="3219" y="8656"/>
                  </a:lnTo>
                  <a:lnTo>
                    <a:pt x="8775" y="3099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881062" y="3143250"/>
              <a:ext cx="47625" cy="31750"/>
            </a:xfrm>
            <a:custGeom>
              <a:avLst/>
              <a:gdLst/>
              <a:ahLst/>
              <a:cxnLst/>
              <a:rect l="l" t="t" r="r" b="b"/>
              <a:pathLst>
                <a:path w="47625" h="31750">
                  <a:moveTo>
                    <a:pt x="39688" y="0"/>
                  </a:moveTo>
                  <a:cubicBezTo>
                    <a:pt x="44071" y="0"/>
                    <a:pt x="47625" y="3554"/>
                    <a:pt x="47625" y="7937"/>
                  </a:cubicBezTo>
                  <a:cubicBezTo>
                    <a:pt x="47625" y="21089"/>
                    <a:pt x="36964" y="31750"/>
                    <a:pt x="23812" y="31750"/>
                  </a:cubicBezTo>
                  <a:cubicBezTo>
                    <a:pt x="10661" y="31750"/>
                    <a:pt x="0" y="21089"/>
                    <a:pt x="0" y="7937"/>
                  </a:cubicBezTo>
                  <a:cubicBezTo>
                    <a:pt x="1" y="3913"/>
                    <a:pt x="3012" y="526"/>
                    <a:pt x="7009" y="56"/>
                  </a:cubicBezTo>
                  <a:lnTo>
                    <a:pt x="7937" y="0"/>
                  </a:lnTo>
                  <a:lnTo>
                    <a:pt x="39688" y="0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853212" y="3048000"/>
              <a:ext cx="103327" cy="87313"/>
            </a:xfrm>
            <a:custGeom>
              <a:avLst/>
              <a:gdLst/>
              <a:ahLst/>
              <a:cxnLst/>
              <a:rect l="l" t="t" r="r" b="b"/>
              <a:pathLst>
                <a:path w="103327" h="87313">
                  <a:moveTo>
                    <a:pt x="51663" y="0"/>
                  </a:moveTo>
                  <a:cubicBezTo>
                    <a:pt x="72163" y="0"/>
                    <a:pt x="90362" y="13117"/>
                    <a:pt x="96845" y="32565"/>
                  </a:cubicBezTo>
                  <a:cubicBezTo>
                    <a:pt x="103327" y="52012"/>
                    <a:pt x="96638" y="73425"/>
                    <a:pt x="80238" y="85725"/>
                  </a:cubicBezTo>
                  <a:cubicBezTo>
                    <a:pt x="79144" y="86547"/>
                    <a:pt x="77857" y="87072"/>
                    <a:pt x="76500" y="87249"/>
                  </a:cubicBezTo>
                  <a:lnTo>
                    <a:pt x="75476" y="87313"/>
                  </a:lnTo>
                  <a:lnTo>
                    <a:pt x="27851" y="87313"/>
                  </a:lnTo>
                  <a:cubicBezTo>
                    <a:pt x="26134" y="87313"/>
                    <a:pt x="24462" y="86755"/>
                    <a:pt x="23088" y="85725"/>
                  </a:cubicBezTo>
                  <a:cubicBezTo>
                    <a:pt x="6689" y="73425"/>
                    <a:pt x="0" y="52012"/>
                    <a:pt x="6482" y="32565"/>
                  </a:cubicBezTo>
                  <a:cubicBezTo>
                    <a:pt x="12965" y="13117"/>
                    <a:pt x="31164" y="0"/>
                    <a:pt x="51663" y="0"/>
                  </a:cubicBez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</p:grpSp>
      <p:sp>
        <p:nvSpPr>
          <p:cNvPr id="41" name="TextBox 41"/>
          <p:cNvSpPr txBox="1"/>
          <p:nvPr/>
        </p:nvSpPr>
        <p:spPr>
          <a:xfrm>
            <a:off x="1082040" y="3029902"/>
            <a:ext cx="8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VLM渐进增强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0570" y="3331845"/>
            <a:ext cx="26631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文本提取作为默认能力始终可用，视觉多模态理解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50570" y="3541395"/>
            <a:ext cx="15650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（VLM）作为可选增强特性。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0570" y="3827145"/>
            <a:ext cx="21471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关闭VLM：纯文本解析，系统正常运行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50570" y="4036695"/>
            <a:ext cx="23871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开启VLM：增加版面布局理解、图表识别、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50570" y="4246245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公式结构识别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191250" y="2762250"/>
            <a:ext cx="5429250" cy="1714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6191250" y="2762250"/>
            <a:ext cx="5429250" cy="4762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49" name="Freeform 49"/>
          <p:cNvSpPr/>
          <p:nvPr/>
        </p:nvSpPr>
        <p:spPr>
          <a:xfrm>
            <a:off x="6441656" y="3016250"/>
            <a:ext cx="165930" cy="158835"/>
          </a:xfrm>
          <a:custGeom>
            <a:avLst/>
            <a:gdLst/>
            <a:ahLst/>
            <a:cxnLst/>
            <a:rect l="l" t="t" r="r" b="b"/>
            <a:pathLst>
              <a:path w="165930" h="158835">
                <a:moveTo>
                  <a:pt x="82048" y="56"/>
                </a:moveTo>
                <a:lnTo>
                  <a:pt x="82953" y="0"/>
                </a:lnTo>
                <a:lnTo>
                  <a:pt x="83890" y="56"/>
                </a:lnTo>
                <a:lnTo>
                  <a:pt x="84358" y="119"/>
                </a:lnTo>
                <a:lnTo>
                  <a:pt x="84842" y="222"/>
                </a:lnTo>
                <a:lnTo>
                  <a:pt x="85723" y="492"/>
                </a:lnTo>
                <a:cubicBezTo>
                  <a:pt x="86332" y="716"/>
                  <a:pt x="86910" y="1015"/>
                  <a:pt x="87446" y="1381"/>
                </a:cubicBezTo>
                <a:lnTo>
                  <a:pt x="88271" y="2032"/>
                </a:lnTo>
                <a:lnTo>
                  <a:pt x="90295" y="3762"/>
                </a:lnTo>
                <a:cubicBezTo>
                  <a:pt x="106308" y="17062"/>
                  <a:pt x="126545" y="24204"/>
                  <a:pt x="147358" y="23900"/>
                </a:cubicBezTo>
                <a:lnTo>
                  <a:pt x="150073" y="23820"/>
                </a:lnTo>
                <a:cubicBezTo>
                  <a:pt x="153725" y="23654"/>
                  <a:pt x="157019" y="26004"/>
                  <a:pt x="158050" y="29512"/>
                </a:cubicBezTo>
                <a:cubicBezTo>
                  <a:pt x="165930" y="56319"/>
                  <a:pt x="162603" y="85176"/>
                  <a:pt x="148828" y="109486"/>
                </a:cubicBezTo>
                <a:cubicBezTo>
                  <a:pt x="135053" y="133796"/>
                  <a:pt x="112008" y="151480"/>
                  <a:pt x="84961" y="158496"/>
                </a:cubicBezTo>
                <a:cubicBezTo>
                  <a:pt x="83655" y="158835"/>
                  <a:pt x="82283" y="158835"/>
                  <a:pt x="80977" y="158496"/>
                </a:cubicBezTo>
                <a:cubicBezTo>
                  <a:pt x="53929" y="151482"/>
                  <a:pt x="30882" y="133798"/>
                  <a:pt x="17105" y="109488"/>
                </a:cubicBezTo>
                <a:cubicBezTo>
                  <a:pt x="3329" y="85178"/>
                  <a:pt x="0" y="56320"/>
                  <a:pt x="7880" y="29512"/>
                </a:cubicBezTo>
                <a:cubicBezTo>
                  <a:pt x="8911" y="26004"/>
                  <a:pt x="12205" y="23654"/>
                  <a:pt x="15857" y="23820"/>
                </a:cubicBezTo>
                <a:cubicBezTo>
                  <a:pt x="37586" y="24814"/>
                  <a:pt x="58903" y="17661"/>
                  <a:pt x="75635" y="3762"/>
                </a:cubicBezTo>
                <a:lnTo>
                  <a:pt x="77722" y="1976"/>
                </a:lnTo>
                <a:lnTo>
                  <a:pt x="78484" y="1381"/>
                </a:lnTo>
                <a:cubicBezTo>
                  <a:pt x="79020" y="1015"/>
                  <a:pt x="79598" y="716"/>
                  <a:pt x="80207" y="492"/>
                </a:cubicBezTo>
                <a:lnTo>
                  <a:pt x="81096" y="222"/>
                </a:lnTo>
                <a:cubicBezTo>
                  <a:pt x="81407" y="147"/>
                  <a:pt x="81722" y="91"/>
                  <a:pt x="82040" y="56"/>
                </a:cubicBezTo>
                <a:close/>
              </a:path>
            </a:pathLst>
          </a:custGeom>
          <a:solidFill>
            <a:srgbClr val="0E8C80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6701790" y="302990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容错与修复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370320" y="3331845"/>
            <a:ext cx="25791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LLM输出格式异常→Schema校验+自动映射修复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370320" y="3560445"/>
            <a:ext cx="19010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节点引用破损→align双向对齐修复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370320" y="3789045"/>
            <a:ext cx="17030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孤立节点引用→跨11表扫描监测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370320" y="4017645"/>
            <a:ext cx="24711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上传过程失败→保留已存数据，不阻塞主流程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56260" y="4823460"/>
            <a:ext cx="13746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课件上传容错管道</a:t>
            </a:r>
          </a:p>
        </p:txBody>
      </p:sp>
      <p:sp>
        <p:nvSpPr>
          <p:cNvPr id="56" name="Rectangle 56"/>
          <p:cNvSpPr/>
          <p:nvPr/>
        </p:nvSpPr>
        <p:spPr>
          <a:xfrm>
            <a:off x="571500" y="5143500"/>
            <a:ext cx="11049000" cy="104775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>
            <a:noFill/>
          </a:ln>
        </p:spPr>
      </p:sp>
      <p:grpSp>
        <p:nvGrpSpPr>
          <p:cNvPr id="74" name="Group 74"/>
          <p:cNvGrpSpPr/>
          <p:nvPr/>
        </p:nvGrpSpPr>
        <p:grpSpPr>
          <a:xfrm>
            <a:off x="762000" y="5334000"/>
            <a:ext cx="9239250" cy="342900"/>
            <a:chOff x="762000" y="5334000"/>
            <a:chExt cx="9239250" cy="342900"/>
          </a:xfrm>
        </p:grpSpPr>
        <p:sp>
          <p:nvSpPr>
            <p:cNvPr id="57" name="Rectangle 57"/>
            <p:cNvSpPr/>
            <p:nvPr/>
          </p:nvSpPr>
          <p:spPr>
            <a:xfrm>
              <a:off x="762000" y="5334000"/>
              <a:ext cx="123825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150620" y="5464016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上传课件</a:t>
              </a:r>
            </a:p>
          </p:txBody>
        </p:sp>
        <p:sp>
          <p:nvSpPr>
            <p:cNvPr id="59" name="Polygon 59"/>
            <p:cNvSpPr/>
            <p:nvPr/>
          </p:nvSpPr>
          <p:spPr>
            <a:xfrm>
              <a:off x="2076450" y="5448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2247900" y="5334000"/>
              <a:ext cx="123825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2600766" y="5464016"/>
              <a:ext cx="53251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MinIO存储</a:t>
              </a:r>
            </a:p>
          </p:txBody>
        </p:sp>
        <p:sp>
          <p:nvSpPr>
            <p:cNvPr id="62" name="Polygon 62"/>
            <p:cNvSpPr/>
            <p:nvPr/>
          </p:nvSpPr>
          <p:spPr>
            <a:xfrm>
              <a:off x="3562350" y="5448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3733800" y="5334000"/>
              <a:ext cx="123825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185678" y="5464016"/>
              <a:ext cx="3344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AI解析</a:t>
              </a:r>
            </a:p>
          </p:txBody>
        </p:sp>
        <p:sp>
          <p:nvSpPr>
            <p:cNvPr id="65" name="Polygon 65"/>
            <p:cNvSpPr/>
            <p:nvPr/>
          </p:nvSpPr>
          <p:spPr>
            <a:xfrm>
              <a:off x="5048250" y="5448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5219700" y="5334000"/>
              <a:ext cx="142875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511046" y="5464016"/>
              <a:ext cx="84605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生成CoursePage</a:t>
              </a:r>
            </a:p>
          </p:txBody>
        </p:sp>
        <p:sp>
          <p:nvSpPr>
            <p:cNvPr id="68" name="Polygon 68"/>
            <p:cNvSpPr/>
            <p:nvPr/>
          </p:nvSpPr>
          <p:spPr>
            <a:xfrm>
              <a:off x="6724650" y="5448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896100" y="5334000"/>
              <a:ext cx="161925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235940" y="5464016"/>
              <a:ext cx="9395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生成TeachingNode</a:t>
              </a:r>
            </a:p>
          </p:txBody>
        </p:sp>
        <p:sp>
          <p:nvSpPr>
            <p:cNvPr id="71" name="Polygon 71"/>
            <p:cNvSpPr/>
            <p:nvPr/>
          </p:nvSpPr>
          <p:spPr>
            <a:xfrm>
              <a:off x="8591550" y="5448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8763000" y="5334000"/>
              <a:ext cx="1238250" cy="342900"/>
            </a:xfrm>
            <a:prstGeom prst="roundRect">
              <a:avLst>
                <a:gd name="adj" fmla="val 16667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151620" y="5464016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发布完成</a:t>
              </a:r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752475" y="5824538"/>
            <a:ext cx="43195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三级预览图降级：L1 实时渲染 → L2 占位预览 → L3 空状态前端加载 | AI解析失败不阻塞上传主流程</a:t>
            </a:r>
          </a:p>
        </p:txBody>
      </p:sp>
      <p:sp>
        <p:nvSpPr>
          <p:cNvPr id="76" name="Rectangle 76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1516511" y="67022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问答续接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725147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问答续接链：回答问题，但不打断学习主线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533400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1E6FE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333500"/>
            <a:ext cx="5334000" cy="342900"/>
          </a:xfrm>
          <a:prstGeom prst="roundRect">
            <a:avLst>
              <a:gd name="adj" fmla="val 33333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562100"/>
            <a:ext cx="5334000" cy="11430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987933" y="1431131"/>
            <a:ext cx="5011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问答流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750570" y="1855470"/>
            <a:ext cx="4964430" cy="878205"/>
            <a:chOff x="750570" y="1855470"/>
            <a:chExt cx="4964430" cy="878205"/>
          </a:xfrm>
        </p:grpSpPr>
        <p:sp>
          <p:nvSpPr>
            <p:cNvPr id="11" name="TextBox 11"/>
            <p:cNvSpPr txBox="1"/>
            <p:nvPr/>
          </p:nvSpPr>
          <p:spPr>
            <a:xfrm>
              <a:off x="750570" y="1855470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三级级联上下文构建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20478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44501" y="2141220"/>
              <a:ext cx="11209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L1 目标节点脚本优先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143250" y="2047875"/>
              <a:ext cx="257175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93617" y="2141220"/>
              <a:ext cx="12710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L2 当前页全部节点补充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2428875"/>
              <a:ext cx="257175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72375" y="2522220"/>
              <a:ext cx="11510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L3 全页文本拼接兜底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50570" y="2855595"/>
            <a:ext cx="11570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苏格拉底式教学约束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1522" y="3101816"/>
            <a:ext cx="11045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✖ 严禁直接给最终答案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1522" y="3311366"/>
            <a:ext cx="23477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✔ 先确认学生卡点 → 逐步引导思路 → 以问题结尾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1522" y="3520916"/>
            <a:ext cx="17646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✔ 回答绑定课件溯源页码，降低幻觉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62000" y="3667125"/>
            <a:ext cx="4953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52475" y="3729038"/>
            <a:ext cx="324445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SSE三事件推送：token 逐词 → sentence 完整回答 → final 结构化元数据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191250" y="1333500"/>
            <a:ext cx="542925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6191250" y="1333500"/>
            <a:ext cx="5429250" cy="342900"/>
          </a:xfrm>
          <a:prstGeom prst="roundRect">
            <a:avLst>
              <a:gd name="adj" fmla="val 33333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6191250" y="1562100"/>
            <a:ext cx="542925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655308" y="1431131"/>
            <a:ext cx="5011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续接流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6370320" y="1855470"/>
            <a:ext cx="5059680" cy="497205"/>
            <a:chOff x="6370320" y="1855470"/>
            <a:chExt cx="5059680" cy="497205"/>
          </a:xfrm>
        </p:grpSpPr>
        <p:sp>
          <p:nvSpPr>
            <p:cNvPr id="29" name="TextBox 29"/>
            <p:cNvSpPr txBox="1"/>
            <p:nvPr/>
          </p:nvSpPr>
          <p:spPr>
            <a:xfrm>
              <a:off x="6370320" y="1855470"/>
              <a:ext cx="15350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理解程度判定（双路策略）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381750" y="2047875"/>
              <a:ext cx="238125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63310" y="2149316"/>
              <a:ext cx="141813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❶ LLM综合语义分析（优先）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953500" y="2047875"/>
              <a:ext cx="247650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529441" y="2149316"/>
              <a:ext cx="13246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❷ 关键词匹配降级（兜底）</a:t>
              </a:r>
            </a:p>
          </p:txBody>
        </p:sp>
      </p:grpSp>
      <p:sp>
        <p:nvSpPr>
          <p:cNvPr id="35" name="Rectangle 35"/>
          <p:cNvSpPr/>
          <p:nvPr/>
        </p:nvSpPr>
        <p:spPr>
          <a:xfrm>
            <a:off x="6381750" y="2524125"/>
            <a:ext cx="1619250" cy="619125"/>
          </a:xfrm>
          <a:prstGeom prst="roundRect">
            <a:avLst>
              <a:gd name="adj" fmla="val 12308"/>
            </a:avLst>
          </a:prstGeom>
          <a:solidFill>
            <a:srgbClr val="FFEBE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987771" y="2665095"/>
            <a:ext cx="4072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E8553C"/>
                </a:solidFill>
                <a:latin typeface="Arial"/>
                <a:ea typeface="Microsoft YaHei"/>
                <a:cs typeface="Arial"/>
              </a:rPr>
              <a:t>● none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031831" y="2852738"/>
            <a:ext cx="3190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E8553C"/>
                </a:solidFill>
                <a:latin typeface="Arial"/>
                <a:ea typeface="Microsoft YaHei"/>
                <a:cs typeface="Arial"/>
              </a:rPr>
              <a:t>未理解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964525" y="2994184"/>
            <a:ext cx="45370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E8553C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→ 回退重讲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191500" y="2524125"/>
            <a:ext cx="1619250" cy="619125"/>
          </a:xfrm>
          <a:prstGeom prst="roundRect">
            <a:avLst>
              <a:gd name="adj" fmla="val 12308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725062" y="2665095"/>
            <a:ext cx="5521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● partial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791575" y="285273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部分理解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774275" y="2994184"/>
            <a:ext cx="45370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0E8C80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→ 补充讲解</a:t>
            </a:r>
          </a:p>
        </p:txBody>
      </p:sp>
      <p:sp>
        <p:nvSpPr>
          <p:cNvPr id="43" name="Rectangle 43"/>
          <p:cNvSpPr/>
          <p:nvPr/>
        </p:nvSpPr>
        <p:spPr>
          <a:xfrm>
            <a:off x="10001250" y="2524125"/>
            <a:ext cx="1428750" cy="619125"/>
          </a:xfrm>
          <a:prstGeom prst="roundRect">
            <a:avLst>
              <a:gd name="adj" fmla="val 12308"/>
            </a:avLst>
          </a:prstGeom>
          <a:solidFill>
            <a:srgbClr val="DDE6FF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10543525" y="2665095"/>
            <a:ext cx="344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● full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556081" y="2852738"/>
            <a:ext cx="3190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已理解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488775" y="2994184"/>
            <a:ext cx="45370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0E8C80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→ 跳过继续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371272" y="3387566"/>
            <a:ext cx="4113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打断时保存三元组：resumePage | resumeNodeID | resumeSec（精确到音频秒数）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1500" y="4286250"/>
            <a:ext cx="11049000" cy="2000250"/>
          </a:xfrm>
          <a:prstGeom prst="roundRect">
            <a:avLst>
              <a:gd name="adj" fmla="val 5714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451634" y="4450556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完整问答续接流程</a:t>
            </a:r>
          </a:p>
        </p:txBody>
      </p:sp>
      <p:grpSp>
        <p:nvGrpSpPr>
          <p:cNvPr id="70" name="Group 70"/>
          <p:cNvGrpSpPr/>
          <p:nvPr/>
        </p:nvGrpSpPr>
        <p:grpSpPr>
          <a:xfrm>
            <a:off x="762000" y="4810125"/>
            <a:ext cx="9677400" cy="342900"/>
            <a:chOff x="762000" y="4810125"/>
            <a:chExt cx="9677400" cy="342900"/>
          </a:xfrm>
        </p:grpSpPr>
        <p:sp>
          <p:nvSpPr>
            <p:cNvPr id="50" name="Rectangle 50"/>
            <p:cNvSpPr/>
            <p:nvPr/>
          </p:nvSpPr>
          <p:spPr>
            <a:xfrm>
              <a:off x="762000" y="481012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02995" y="49401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学生提问</a:t>
              </a:r>
            </a:p>
          </p:txBody>
        </p:sp>
        <p:sp>
          <p:nvSpPr>
            <p:cNvPr id="52" name="Polygon 52"/>
            <p:cNvSpPr/>
            <p:nvPr/>
          </p:nvSpPr>
          <p:spPr>
            <a:xfrm>
              <a:off x="198120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2152650" y="481012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438638" y="4940141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上下文构建</a:t>
              </a:r>
            </a:p>
          </p:txBody>
        </p:sp>
        <p:sp>
          <p:nvSpPr>
            <p:cNvPr id="55" name="Polygon 55"/>
            <p:cNvSpPr/>
            <p:nvPr/>
          </p:nvSpPr>
          <p:spPr>
            <a:xfrm>
              <a:off x="337185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3543300" y="481012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884295" y="49401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知识检索</a:t>
              </a:r>
            </a:p>
          </p:txBody>
        </p:sp>
        <p:sp>
          <p:nvSpPr>
            <p:cNvPr id="58" name="Polygon 58"/>
            <p:cNvSpPr/>
            <p:nvPr/>
          </p:nvSpPr>
          <p:spPr>
            <a:xfrm>
              <a:off x="476250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4933950" y="4810125"/>
              <a:ext cx="123825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212556" y="4940141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苏格拉底回答</a:t>
              </a:r>
            </a:p>
          </p:txBody>
        </p:sp>
        <p:sp>
          <p:nvSpPr>
            <p:cNvPr id="61" name="Polygon 61"/>
            <p:cNvSpPr/>
            <p:nvPr/>
          </p:nvSpPr>
          <p:spPr>
            <a:xfrm>
              <a:off x="624840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19850" y="481012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760845" y="49401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理解判定</a:t>
              </a:r>
            </a:p>
          </p:txBody>
        </p:sp>
        <p:sp>
          <p:nvSpPr>
            <p:cNvPr id="64" name="Polygon 64"/>
            <p:cNvSpPr/>
            <p:nvPr/>
          </p:nvSpPr>
          <p:spPr>
            <a:xfrm>
              <a:off x="763905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810500" y="481012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151495" y="49401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三态续接</a:t>
              </a:r>
            </a:p>
          </p:txBody>
        </p:sp>
        <p:sp>
          <p:nvSpPr>
            <p:cNvPr id="67" name="Polygon 67"/>
            <p:cNvSpPr/>
            <p:nvPr/>
          </p:nvSpPr>
          <p:spPr>
            <a:xfrm>
              <a:off x="902970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9201150" y="4810125"/>
              <a:ext cx="123825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589770" y="49401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返回学习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752475" y="5348288"/>
            <a:ext cx="148923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输入：question + page + nodeID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847975" y="5348288"/>
            <a:ext cx="4341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L1→L2→L3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4752975" y="5348288"/>
            <a:ext cx="619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课程知识优先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276975" y="5348288"/>
            <a:ext cx="484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SSE三事件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7800975" y="5348288"/>
            <a:ext cx="55911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LLM/关键词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9229725" y="5348288"/>
            <a:ext cx="85415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none/partial/full</a:t>
            </a:r>
          </a:p>
        </p:txBody>
      </p:sp>
      <p:sp>
        <p:nvSpPr>
          <p:cNvPr id="77" name="Rectangle 77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1516511" y="67022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赛题对标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271491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三大模块全覆盖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grpSp>
        <p:nvGrpSpPr>
          <p:cNvPr id="67" name="Group 67"/>
          <p:cNvGrpSpPr/>
          <p:nvPr/>
        </p:nvGrpSpPr>
        <p:grpSpPr>
          <a:xfrm>
            <a:off x="571500" y="1333500"/>
            <a:ext cx="11049000" cy="4619625"/>
            <a:chOff x="571500" y="1333500"/>
            <a:chExt cx="11049000" cy="4619625"/>
          </a:xfrm>
        </p:grpSpPr>
        <p:sp>
          <p:nvSpPr>
            <p:cNvPr id="7" name="Rectangle 7"/>
            <p:cNvSpPr/>
            <p:nvPr/>
          </p:nvSpPr>
          <p:spPr>
            <a:xfrm>
              <a:off x="571500" y="1333500"/>
              <a:ext cx="2667000" cy="419100"/>
            </a:xfrm>
            <a:prstGeom prst="roundRect">
              <a:avLst>
                <a:gd name="adj" fmla="val 18182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75673" y="146923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赛题模块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238500" y="1333500"/>
              <a:ext cx="5524500" cy="419100"/>
            </a:xfrm>
            <a:prstGeom prst="roundRect">
              <a:avLst>
                <a:gd name="adj" fmla="val 18182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198864" y="1469231"/>
              <a:ext cx="16037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项目实现（机制描述）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763000" y="1333500"/>
              <a:ext cx="2857500" cy="419100"/>
            </a:xfrm>
            <a:prstGeom prst="roundRect">
              <a:avLst>
                <a:gd name="adj" fmla="val 18182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62423" y="146923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对应算法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1857375"/>
              <a:ext cx="2667000" cy="1333500"/>
            </a:xfrm>
            <a:prstGeom prst="rect">
              <a:avLst/>
            </a:prstGeom>
            <a:solidFill>
              <a:srgbClr val="DDE6FF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93749" y="2206625"/>
              <a:ext cx="127001" cy="158751"/>
              <a:chOff x="793749" y="2206625"/>
              <a:chExt cx="127001" cy="15875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93749" y="2206625"/>
                <a:ext cx="127001" cy="158751"/>
              </a:xfrm>
              <a:custGeom>
                <a:avLst/>
                <a:gdLst/>
                <a:ahLst/>
                <a:cxnLst/>
                <a:rect l="l" t="t" r="r" b="b"/>
                <a:pathLst>
                  <a:path w="127001" h="158751">
                    <a:moveTo>
                      <a:pt x="63501" y="0"/>
                    </a:moveTo>
                    <a:lnTo>
                      <a:pt x="64429" y="56"/>
                    </a:lnTo>
                    <a:cubicBezTo>
                      <a:pt x="68077" y="486"/>
                      <a:pt x="70953" y="3362"/>
                      <a:pt x="71383" y="7009"/>
                    </a:cubicBezTo>
                    <a:lnTo>
                      <a:pt x="71438" y="7938"/>
                    </a:lnTo>
                    <a:lnTo>
                      <a:pt x="71438" y="39688"/>
                    </a:lnTo>
                    <a:lnTo>
                      <a:pt x="71478" y="40878"/>
                    </a:lnTo>
                    <a:cubicBezTo>
                      <a:pt x="72065" y="48688"/>
                      <a:pt x="78259" y="54903"/>
                      <a:pt x="86067" y="55515"/>
                    </a:cubicBezTo>
                    <a:lnTo>
                      <a:pt x="87313" y="55563"/>
                    </a:lnTo>
                    <a:lnTo>
                      <a:pt x="119063" y="55563"/>
                    </a:lnTo>
                    <a:lnTo>
                      <a:pt x="119992" y="55618"/>
                    </a:lnTo>
                    <a:cubicBezTo>
                      <a:pt x="123639" y="56048"/>
                      <a:pt x="126515" y="58924"/>
                      <a:pt x="126945" y="62571"/>
                    </a:cubicBezTo>
                    <a:lnTo>
                      <a:pt x="127001" y="63500"/>
                    </a:lnTo>
                    <a:lnTo>
                      <a:pt x="127001" y="134938"/>
                    </a:lnTo>
                    <a:cubicBezTo>
                      <a:pt x="127001" y="147547"/>
                      <a:pt x="117173" y="157971"/>
                      <a:pt x="104585" y="158710"/>
                    </a:cubicBezTo>
                    <a:lnTo>
                      <a:pt x="103188" y="158750"/>
                    </a:lnTo>
                    <a:lnTo>
                      <a:pt x="23813" y="158750"/>
                    </a:lnTo>
                    <a:cubicBezTo>
                      <a:pt x="11204" y="158751"/>
                      <a:pt x="780" y="148922"/>
                      <a:pt x="40" y="136334"/>
                    </a:cubicBezTo>
                    <a:lnTo>
                      <a:pt x="1" y="134938"/>
                    </a:lnTo>
                    <a:lnTo>
                      <a:pt x="1" y="23812"/>
                    </a:lnTo>
                    <a:cubicBezTo>
                      <a:pt x="0" y="11203"/>
                      <a:pt x="9829" y="779"/>
                      <a:pt x="22416" y="40"/>
                    </a:cubicBezTo>
                    <a:lnTo>
                      <a:pt x="23813" y="0"/>
                    </a:lnTo>
                    <a:close/>
                    <a:moveTo>
                      <a:pt x="87313" y="111125"/>
                    </a:moveTo>
                    <a:lnTo>
                      <a:pt x="39688" y="111125"/>
                    </a:lnTo>
                    <a:cubicBezTo>
                      <a:pt x="35304" y="111125"/>
                      <a:pt x="31751" y="114679"/>
                      <a:pt x="31751" y="119062"/>
                    </a:cubicBezTo>
                    <a:cubicBezTo>
                      <a:pt x="31751" y="123446"/>
                      <a:pt x="35304" y="127000"/>
                      <a:pt x="39688" y="127000"/>
                    </a:cubicBezTo>
                    <a:lnTo>
                      <a:pt x="87313" y="127000"/>
                    </a:lnTo>
                    <a:cubicBezTo>
                      <a:pt x="91697" y="127000"/>
                      <a:pt x="95251" y="123446"/>
                      <a:pt x="95251" y="119062"/>
                    </a:cubicBezTo>
                    <a:cubicBezTo>
                      <a:pt x="95251" y="114679"/>
                      <a:pt x="91697" y="111125"/>
                      <a:pt x="87313" y="111125"/>
                    </a:cubicBezTo>
                    <a:moveTo>
                      <a:pt x="87313" y="79375"/>
                    </a:moveTo>
                    <a:lnTo>
                      <a:pt x="39688" y="79375"/>
                    </a:lnTo>
                    <a:cubicBezTo>
                      <a:pt x="35304" y="79375"/>
                      <a:pt x="31751" y="82929"/>
                      <a:pt x="31751" y="87313"/>
                    </a:cubicBezTo>
                    <a:cubicBezTo>
                      <a:pt x="31751" y="91696"/>
                      <a:pt x="35304" y="95250"/>
                      <a:pt x="39688" y="95250"/>
                    </a:cubicBezTo>
                    <a:lnTo>
                      <a:pt x="87313" y="95250"/>
                    </a:lnTo>
                    <a:cubicBezTo>
                      <a:pt x="91697" y="95250"/>
                      <a:pt x="95251" y="91696"/>
                      <a:pt x="95251" y="87313"/>
                    </a:cubicBezTo>
                    <a:cubicBezTo>
                      <a:pt x="95251" y="82929"/>
                      <a:pt x="91697" y="79375"/>
                      <a:pt x="87313" y="79375"/>
                    </a:cubicBezTo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81055" y="2214555"/>
                <a:ext cx="31758" cy="31758"/>
              </a:xfrm>
              <a:custGeom>
                <a:avLst/>
                <a:gdLst/>
                <a:ahLst/>
                <a:cxnLst/>
                <a:rect l="l" t="t" r="r" b="b"/>
                <a:pathLst>
                  <a:path w="31758" h="31758">
                    <a:moveTo>
                      <a:pt x="31758" y="31758"/>
                    </a:moveTo>
                    <a:lnTo>
                      <a:pt x="8" y="3175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33462" y="221218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智课生成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7272" y="2482691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从课件上传到脚本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7272" y="2673191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生成全流程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238500" y="1857375"/>
              <a:ext cx="5524500" cy="1333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0D7E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417570" y="2045970"/>
              <a:ext cx="26331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三阶段解耦解析：Markdown理解→节点树构建→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17570" y="2255520"/>
              <a:ext cx="8629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逐节点脚本生成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17570" y="2465070"/>
              <a:ext cx="24711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节点双重结构：知识图谱定义+脚本片段映射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417570" y="2674620"/>
              <a:ext cx="17090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JSON Schema强制结构化输出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17570" y="2884170"/>
              <a:ext cx="19491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逐节点TTS语音合成+内容哈希缓存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763000" y="1857375"/>
              <a:ext cx="2857500" cy="1333500"/>
            </a:xfrm>
            <a:prstGeom prst="rect">
              <a:avLst/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943022" y="2054066"/>
              <a:ext cx="79105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三阶段解耦管线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953500" y="2286000"/>
              <a:ext cx="952500" cy="228600"/>
            </a:xfrm>
            <a:prstGeom prst="roundRect">
              <a:avLst>
                <a:gd name="adj" fmla="val 16667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90184" y="2366962"/>
              <a:ext cx="679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generator.py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43022" y="2577941"/>
              <a:ext cx="9230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JSON Schema约束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953500" y="2809875"/>
              <a:ext cx="952500" cy="228600"/>
            </a:xfrm>
            <a:prstGeom prst="roundRect">
              <a:avLst>
                <a:gd name="adj" fmla="val 16667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162693" y="2890838"/>
              <a:ext cx="53411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schema.py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71500" y="3238500"/>
              <a:ext cx="2667000" cy="1333500"/>
            </a:xfrm>
            <a:prstGeom prst="rect">
              <a:avLst/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777875" y="3595688"/>
              <a:ext cx="158750" cy="151184"/>
            </a:xfrm>
            <a:custGeom>
              <a:avLst/>
              <a:gdLst/>
              <a:ahLst/>
              <a:cxnLst/>
              <a:rect l="l" t="t" r="r" b="b"/>
              <a:pathLst>
                <a:path w="158750" h="151184">
                  <a:moveTo>
                    <a:pt x="127000" y="0"/>
                  </a:moveTo>
                  <a:cubicBezTo>
                    <a:pt x="144535" y="0"/>
                    <a:pt x="158750" y="14215"/>
                    <a:pt x="158750" y="31750"/>
                  </a:cubicBezTo>
                  <a:lnTo>
                    <a:pt x="158750" y="95250"/>
                  </a:lnTo>
                  <a:cubicBezTo>
                    <a:pt x="158750" y="112785"/>
                    <a:pt x="144535" y="127000"/>
                    <a:pt x="127000" y="127000"/>
                  </a:cubicBezTo>
                  <a:lnTo>
                    <a:pt x="89503" y="127000"/>
                  </a:lnTo>
                  <a:lnTo>
                    <a:pt x="51705" y="149677"/>
                  </a:lnTo>
                  <a:cubicBezTo>
                    <a:pt x="49392" y="151066"/>
                    <a:pt x="46532" y="151184"/>
                    <a:pt x="44112" y="149992"/>
                  </a:cubicBezTo>
                  <a:cubicBezTo>
                    <a:pt x="41693" y="148799"/>
                    <a:pt x="40044" y="146460"/>
                    <a:pt x="39735" y="143780"/>
                  </a:cubicBezTo>
                  <a:lnTo>
                    <a:pt x="39687" y="142875"/>
                  </a:lnTo>
                  <a:lnTo>
                    <a:pt x="39687" y="127000"/>
                  </a:lnTo>
                  <a:lnTo>
                    <a:pt x="31750" y="127000"/>
                  </a:lnTo>
                  <a:cubicBezTo>
                    <a:pt x="14832" y="127000"/>
                    <a:pt x="886" y="113734"/>
                    <a:pt x="40" y="96838"/>
                  </a:cubicBezTo>
                  <a:lnTo>
                    <a:pt x="0" y="95250"/>
                  </a:ln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  <a:moveTo>
                    <a:pt x="95250" y="71438"/>
                  </a:moveTo>
                  <a:lnTo>
                    <a:pt x="47625" y="71438"/>
                  </a:lnTo>
                  <a:cubicBezTo>
                    <a:pt x="43241" y="71438"/>
                    <a:pt x="39687" y="74991"/>
                    <a:pt x="39687" y="79375"/>
                  </a:cubicBezTo>
                  <a:cubicBezTo>
                    <a:pt x="39687" y="83759"/>
                    <a:pt x="43241" y="87313"/>
                    <a:pt x="47625" y="87313"/>
                  </a:cubicBezTo>
                  <a:lnTo>
                    <a:pt x="95250" y="87313"/>
                  </a:lnTo>
                  <a:cubicBezTo>
                    <a:pt x="99634" y="87313"/>
                    <a:pt x="103187" y="83759"/>
                    <a:pt x="103187" y="79375"/>
                  </a:cubicBezTo>
                  <a:cubicBezTo>
                    <a:pt x="103187" y="74991"/>
                    <a:pt x="99634" y="71438"/>
                    <a:pt x="95250" y="71438"/>
                  </a:cubicBezTo>
                  <a:moveTo>
                    <a:pt x="111125" y="39688"/>
                  </a:moveTo>
                  <a:lnTo>
                    <a:pt x="47625" y="39688"/>
                  </a:lnTo>
                  <a:cubicBezTo>
                    <a:pt x="43241" y="39688"/>
                    <a:pt x="39687" y="43241"/>
                    <a:pt x="39687" y="47625"/>
                  </a:cubicBezTo>
                  <a:cubicBezTo>
                    <a:pt x="39687" y="52009"/>
                    <a:pt x="43241" y="55562"/>
                    <a:pt x="47625" y="55562"/>
                  </a:cubicBezTo>
                  <a:lnTo>
                    <a:pt x="111125" y="55562"/>
                  </a:lnTo>
                  <a:cubicBezTo>
                    <a:pt x="115509" y="55562"/>
                    <a:pt x="119062" y="52009"/>
                    <a:pt x="119062" y="47625"/>
                  </a:cubicBezTo>
                  <a:cubicBezTo>
                    <a:pt x="119062" y="43241"/>
                    <a:pt x="115509" y="39688"/>
                    <a:pt x="111125" y="39688"/>
                  </a:cubicBezTo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33462" y="35933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实时问答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7272" y="3863816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基于课程知识约束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37272" y="4054316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的上下文问答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238500" y="3238500"/>
              <a:ext cx="5524500" cy="1333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0D7E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417570" y="3427095"/>
              <a:ext cx="21771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三级级联上下文构建：节点→页面→全页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417570" y="3636645"/>
              <a:ext cx="19250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苏格拉底式引导：禁止直接给答案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417570" y="3846195"/>
              <a:ext cx="22071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理解程度三态判定：none/partial/full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417570" y="405574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SSE三事件流式协议：token/sentence/final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763000" y="3238500"/>
              <a:ext cx="2857500" cy="1333500"/>
            </a:xfrm>
            <a:prstGeom prst="rect">
              <a:avLst/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943022" y="3435191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苏格拉底约束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953500" y="3667125"/>
              <a:ext cx="952500" cy="228600"/>
            </a:xfrm>
            <a:prstGeom prst="roundRect">
              <a:avLst>
                <a:gd name="adj" fmla="val 16667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82708" y="3748088"/>
              <a:ext cx="29408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qa.py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943022" y="3959066"/>
              <a:ext cx="64253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SSE流式协议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953500" y="4191000"/>
              <a:ext cx="952500" cy="228600"/>
            </a:xfrm>
            <a:prstGeom prst="roundRect">
              <a:avLst>
                <a:gd name="adj" fmla="val 16667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145191" y="4271962"/>
              <a:ext cx="56911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student.go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71500" y="4619625"/>
              <a:ext cx="2667000" cy="1333500"/>
            </a:xfrm>
            <a:prstGeom prst="rect">
              <a:avLst/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809624" y="4976416"/>
              <a:ext cx="119067" cy="143668"/>
            </a:xfrm>
            <a:custGeom>
              <a:avLst/>
              <a:gdLst/>
              <a:ahLst/>
              <a:cxnLst/>
              <a:rect l="l" t="t" r="r" b="b"/>
              <a:pathLst>
                <a:path w="119067" h="143668">
                  <a:moveTo>
                    <a:pt x="1" y="8334"/>
                  </a:moveTo>
                  <a:lnTo>
                    <a:pt x="1" y="135334"/>
                  </a:lnTo>
                  <a:cubicBezTo>
                    <a:pt x="0" y="138210"/>
                    <a:pt x="1555" y="140861"/>
                    <a:pt x="4065" y="142264"/>
                  </a:cubicBezTo>
                  <a:cubicBezTo>
                    <a:pt x="6575" y="143668"/>
                    <a:pt x="9648" y="143604"/>
                    <a:pt x="12098" y="142097"/>
                  </a:cubicBezTo>
                  <a:lnTo>
                    <a:pt x="115285" y="78597"/>
                  </a:lnTo>
                  <a:cubicBezTo>
                    <a:pt x="117635" y="77153"/>
                    <a:pt x="119067" y="74592"/>
                    <a:pt x="119067" y="71834"/>
                  </a:cubicBezTo>
                  <a:cubicBezTo>
                    <a:pt x="119067" y="69076"/>
                    <a:pt x="117635" y="66515"/>
                    <a:pt x="115285" y="65071"/>
                  </a:cubicBezTo>
                  <a:lnTo>
                    <a:pt x="12098" y="1571"/>
                  </a:lnTo>
                  <a:cubicBezTo>
                    <a:pt x="9648" y="64"/>
                    <a:pt x="6575" y="0"/>
                    <a:pt x="4065" y="1403"/>
                  </a:cubicBezTo>
                  <a:cubicBezTo>
                    <a:pt x="1555" y="2807"/>
                    <a:pt x="0" y="5458"/>
                    <a:pt x="1" y="8334"/>
                  </a:cubicBezTo>
                  <a:close/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33462" y="497443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进度续接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37272" y="5244941"/>
              <a:ext cx="79105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打断后自动精确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37272" y="5435441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恢复学习进度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238500" y="4619625"/>
              <a:ext cx="5524500" cy="1333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0D7E2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417570" y="4808220"/>
              <a:ext cx="19070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大模型综合语义判定（LLM优先）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417570" y="5017770"/>
              <a:ext cx="23091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关键词降级兜底（RETEACH_KEYWORDS）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417570" y="5227320"/>
              <a:ext cx="19971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节点级续接定位：node_id精确恢复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417570" y="5436870"/>
              <a:ext cx="2243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学习状态机驱动：讲授→问答→续接→回讲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763000" y="4619625"/>
              <a:ext cx="2857500" cy="1333500"/>
            </a:xfrm>
            <a:prstGeom prst="rect">
              <a:avLst/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943022" y="4816316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理解度判定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953500" y="5048250"/>
              <a:ext cx="1047750" cy="228600"/>
            </a:xfrm>
            <a:prstGeom prst="roundRect">
              <a:avLst>
                <a:gd name="adj" fmla="val 16667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192816" y="5129212"/>
              <a:ext cx="56911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student.go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943022" y="5340191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掌握度模型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953500" y="5572125"/>
              <a:ext cx="1047750" cy="228600"/>
            </a:xfrm>
            <a:prstGeom prst="roundRect">
              <a:avLst>
                <a:gd name="adj" fmla="val 16667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020294" y="5653088"/>
              <a:ext cx="91416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knowledge_map.go</a:t>
              </a:r>
            </a:p>
          </p:txBody>
        </p:sp>
      </p:grpSp>
      <p:sp>
        <p:nvSpPr>
          <p:cNvPr id="68" name="Rectangle 68"/>
          <p:cNvSpPr/>
          <p:nvPr/>
        </p:nvSpPr>
        <p:spPr>
          <a:xfrm>
            <a:off x="571500" y="6096000"/>
            <a:ext cx="11049000" cy="28575"/>
          </a:xfrm>
          <a:prstGeom prst="roundRect">
            <a:avLst>
              <a:gd name="adj" fmla="val 50000"/>
            </a:avLst>
          </a:prstGeom>
          <a:solidFill>
            <a:srgbClr val="1E6FE0">
              <a:alpha val="30000"/>
            </a:srgbClr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4224338" y="6236970"/>
            <a:ext cx="37433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三大模块完整覆盖赛题要求，每个模块对应独立的算法实现和代码验证</a:t>
            </a:r>
          </a:p>
        </p:txBody>
      </p:sp>
      <p:sp>
        <p:nvSpPr>
          <p:cNvPr id="70" name="Rectangle 70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516511" y="67022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项目进展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11733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项目进展清晰，已进入学校推广阶段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6260" y="1346835"/>
            <a:ext cx="8705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研发里程碑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571500" y="1666875"/>
            <a:ext cx="11239500" cy="342900"/>
            <a:chOff x="571500" y="1666875"/>
            <a:chExt cx="11239500" cy="342900"/>
          </a:xfrm>
        </p:grpSpPr>
        <p:sp>
          <p:nvSpPr>
            <p:cNvPr id="8" name="Rectangle 8"/>
            <p:cNvSpPr/>
            <p:nvPr/>
          </p:nvSpPr>
          <p:spPr>
            <a:xfrm>
              <a:off x="57150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87244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需求分析</a:t>
              </a:r>
            </a:p>
          </p:txBody>
        </p:sp>
        <p:sp>
          <p:nvSpPr>
            <p:cNvPr id="10" name="Polygon 10"/>
            <p:cNvSpPr/>
            <p:nvPr/>
          </p:nvSpPr>
          <p:spPr>
            <a:xfrm>
              <a:off x="2362200" y="17811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53365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149394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架构设计</a:t>
              </a:r>
            </a:p>
          </p:txBody>
        </p:sp>
        <p:sp>
          <p:nvSpPr>
            <p:cNvPr id="13" name="Polygon 13"/>
            <p:cNvSpPr/>
            <p:nvPr/>
          </p:nvSpPr>
          <p:spPr>
            <a:xfrm>
              <a:off x="4324350" y="17811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49580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111544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功能开发</a:t>
              </a:r>
            </a:p>
          </p:txBody>
        </p:sp>
        <p:sp>
          <p:nvSpPr>
            <p:cNvPr id="16" name="Polygon 16"/>
            <p:cNvSpPr/>
            <p:nvPr/>
          </p:nvSpPr>
          <p:spPr>
            <a:xfrm>
              <a:off x="6286500" y="17811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45795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73694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测试联调</a:t>
              </a:r>
            </a:p>
          </p:txBody>
        </p:sp>
        <p:sp>
          <p:nvSpPr>
            <p:cNvPr id="19" name="Polygon 19"/>
            <p:cNvSpPr/>
            <p:nvPr/>
          </p:nvSpPr>
          <p:spPr>
            <a:xfrm>
              <a:off x="8248650" y="17811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42010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35844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部署落地</a:t>
              </a:r>
            </a:p>
          </p:txBody>
        </p:sp>
        <p:sp>
          <p:nvSpPr>
            <p:cNvPr id="22" name="Polygon 22"/>
            <p:cNvSpPr/>
            <p:nvPr/>
          </p:nvSpPr>
          <p:spPr>
            <a:xfrm>
              <a:off x="10210800" y="17811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0382250" y="1666875"/>
              <a:ext cx="142875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855119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学校推广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571500" y="2286000"/>
            <a:ext cx="533400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571500" y="2286000"/>
            <a:ext cx="5334000" cy="47625"/>
          </a:xfrm>
          <a:prstGeom prst="roundRect">
            <a:avLst>
              <a:gd name="adj" fmla="val 50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46760" y="2489835"/>
            <a:ext cx="534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已完成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786854" y="2866549"/>
            <a:ext cx="2996096" cy="1926907"/>
            <a:chOff x="786854" y="2866549"/>
            <a:chExt cx="2996096" cy="1926907"/>
          </a:xfrm>
        </p:grpSpPr>
        <p:sp>
          <p:nvSpPr>
            <p:cNvPr id="29" name="Freeform 29"/>
            <p:cNvSpPr/>
            <p:nvPr/>
          </p:nvSpPr>
          <p:spPr>
            <a:xfrm>
              <a:off x="786854" y="2894982"/>
              <a:ext cx="109114" cy="77437"/>
            </a:xfrm>
            <a:custGeom>
              <a:avLst/>
              <a:gdLst/>
              <a:ahLst/>
              <a:cxnLst/>
              <a:rect l="l" t="t" r="r" b="b"/>
              <a:pathLst>
                <a:path w="109114" h="77437">
                  <a:moveTo>
                    <a:pt x="106635" y="2479"/>
                  </a:moveTo>
                  <a:cubicBezTo>
                    <a:pt x="109114" y="4959"/>
                    <a:pt x="109114" y="8978"/>
                    <a:pt x="106635" y="11458"/>
                  </a:cubicBezTo>
                  <a:lnTo>
                    <a:pt x="43135" y="74958"/>
                  </a:lnTo>
                  <a:cubicBezTo>
                    <a:pt x="40656" y="77437"/>
                    <a:pt x="36636" y="77437"/>
                    <a:pt x="34156" y="74958"/>
                  </a:cubicBezTo>
                  <a:lnTo>
                    <a:pt x="2406" y="43208"/>
                  </a:lnTo>
                  <a:cubicBezTo>
                    <a:pt x="0" y="40716"/>
                    <a:pt x="34" y="36756"/>
                    <a:pt x="2484" y="34306"/>
                  </a:cubicBezTo>
                  <a:cubicBezTo>
                    <a:pt x="4933" y="31857"/>
                    <a:pt x="8894" y="31822"/>
                    <a:pt x="11385" y="34229"/>
                  </a:cubicBezTo>
                  <a:lnTo>
                    <a:pt x="38646" y="61489"/>
                  </a:lnTo>
                  <a:lnTo>
                    <a:pt x="97656" y="2479"/>
                  </a:lnTo>
                  <a:cubicBezTo>
                    <a:pt x="100136" y="0"/>
                    <a:pt x="104156" y="0"/>
                    <a:pt x="106635" y="2479"/>
                  </a:cubicBezTo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87742" y="2866549"/>
              <a:ext cx="2105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教师端与学生端功能链路已开发完成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9648" y="3054191"/>
              <a:ext cx="13411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通过学校真实教学环境验证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786854" y="3418857"/>
              <a:ext cx="109114" cy="77437"/>
            </a:xfrm>
            <a:custGeom>
              <a:avLst/>
              <a:gdLst/>
              <a:ahLst/>
              <a:cxnLst/>
              <a:rect l="l" t="t" r="r" b="b"/>
              <a:pathLst>
                <a:path w="109114" h="77437">
                  <a:moveTo>
                    <a:pt x="106635" y="2479"/>
                  </a:moveTo>
                  <a:cubicBezTo>
                    <a:pt x="109114" y="4959"/>
                    <a:pt x="109114" y="8978"/>
                    <a:pt x="106635" y="11458"/>
                  </a:cubicBezTo>
                  <a:lnTo>
                    <a:pt x="43135" y="74958"/>
                  </a:lnTo>
                  <a:cubicBezTo>
                    <a:pt x="40656" y="77437"/>
                    <a:pt x="36636" y="77437"/>
                    <a:pt x="34156" y="74958"/>
                  </a:cubicBezTo>
                  <a:lnTo>
                    <a:pt x="2406" y="43208"/>
                  </a:lnTo>
                  <a:cubicBezTo>
                    <a:pt x="0" y="40716"/>
                    <a:pt x="34" y="36756"/>
                    <a:pt x="2484" y="34306"/>
                  </a:cubicBezTo>
                  <a:cubicBezTo>
                    <a:pt x="4933" y="31857"/>
                    <a:pt x="8894" y="31822"/>
                    <a:pt x="11385" y="34229"/>
                  </a:cubicBezTo>
                  <a:lnTo>
                    <a:pt x="38646" y="61489"/>
                  </a:lnTo>
                  <a:lnTo>
                    <a:pt x="97656" y="2479"/>
                  </a:lnTo>
                  <a:cubicBezTo>
                    <a:pt x="100136" y="0"/>
                    <a:pt x="104156" y="0"/>
                    <a:pt x="106635" y="2479"/>
                  </a:cubicBezTo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87742" y="3390424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端到端全链路闭环打通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9648" y="3578066"/>
              <a:ext cx="27933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从课件上传→节点化解析→上下文问答→三态续接→学情回传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786854" y="3942732"/>
              <a:ext cx="109114" cy="77437"/>
            </a:xfrm>
            <a:custGeom>
              <a:avLst/>
              <a:gdLst/>
              <a:ahLst/>
              <a:cxnLst/>
              <a:rect l="l" t="t" r="r" b="b"/>
              <a:pathLst>
                <a:path w="109114" h="77437">
                  <a:moveTo>
                    <a:pt x="106635" y="2479"/>
                  </a:moveTo>
                  <a:cubicBezTo>
                    <a:pt x="109114" y="4959"/>
                    <a:pt x="109114" y="8978"/>
                    <a:pt x="106635" y="11458"/>
                  </a:cubicBezTo>
                  <a:lnTo>
                    <a:pt x="43135" y="74958"/>
                  </a:lnTo>
                  <a:cubicBezTo>
                    <a:pt x="40656" y="77437"/>
                    <a:pt x="36636" y="77437"/>
                    <a:pt x="34156" y="74958"/>
                  </a:cubicBezTo>
                  <a:lnTo>
                    <a:pt x="2406" y="43208"/>
                  </a:lnTo>
                  <a:cubicBezTo>
                    <a:pt x="0" y="40716"/>
                    <a:pt x="34" y="36756"/>
                    <a:pt x="2484" y="34306"/>
                  </a:cubicBezTo>
                  <a:cubicBezTo>
                    <a:pt x="4933" y="31857"/>
                    <a:pt x="8894" y="31822"/>
                    <a:pt x="11385" y="34229"/>
                  </a:cubicBezTo>
                  <a:lnTo>
                    <a:pt x="38646" y="61489"/>
                  </a:lnTo>
                  <a:lnTo>
                    <a:pt x="97656" y="2479"/>
                  </a:lnTo>
                  <a:cubicBezTo>
                    <a:pt x="100136" y="0"/>
                    <a:pt x="104156" y="0"/>
                    <a:pt x="106635" y="2479"/>
                  </a:cubicBezTo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87742" y="3914299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三大核心模块全覆盖赛题要求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89648" y="4101941"/>
              <a:ext cx="15941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智课生成 · 实时问答 · 进度续接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786854" y="4466607"/>
              <a:ext cx="109114" cy="77437"/>
            </a:xfrm>
            <a:custGeom>
              <a:avLst/>
              <a:gdLst/>
              <a:ahLst/>
              <a:cxnLst/>
              <a:rect l="l" t="t" r="r" b="b"/>
              <a:pathLst>
                <a:path w="109114" h="77437">
                  <a:moveTo>
                    <a:pt x="106635" y="2479"/>
                  </a:moveTo>
                  <a:cubicBezTo>
                    <a:pt x="109114" y="4959"/>
                    <a:pt x="109114" y="8978"/>
                    <a:pt x="106635" y="11458"/>
                  </a:cubicBezTo>
                  <a:lnTo>
                    <a:pt x="43135" y="74958"/>
                  </a:lnTo>
                  <a:cubicBezTo>
                    <a:pt x="40656" y="77437"/>
                    <a:pt x="36636" y="77437"/>
                    <a:pt x="34156" y="74958"/>
                  </a:cubicBezTo>
                  <a:lnTo>
                    <a:pt x="2406" y="43208"/>
                  </a:lnTo>
                  <a:cubicBezTo>
                    <a:pt x="0" y="40716"/>
                    <a:pt x="34" y="36756"/>
                    <a:pt x="2484" y="34306"/>
                  </a:cubicBezTo>
                  <a:cubicBezTo>
                    <a:pt x="4933" y="31857"/>
                    <a:pt x="8894" y="31822"/>
                    <a:pt x="11385" y="34229"/>
                  </a:cubicBezTo>
                  <a:lnTo>
                    <a:pt x="38646" y="61489"/>
                  </a:lnTo>
                  <a:lnTo>
                    <a:pt x="97656" y="2479"/>
                  </a:lnTo>
                  <a:cubicBezTo>
                    <a:pt x="100136" y="0"/>
                    <a:pt x="104156" y="0"/>
                    <a:pt x="106635" y="2479"/>
                  </a:cubicBezTo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87742" y="4438174"/>
              <a:ext cx="15589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泛雅平台OpenAPI对接完成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9648" y="4625816"/>
              <a:ext cx="15941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课程同步 · 用户同步 · 课件解析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6191250" y="2286000"/>
            <a:ext cx="542925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191250" y="2286000"/>
            <a:ext cx="5429250" cy="4762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366510" y="248983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学校推广</a:t>
            </a:r>
          </a:p>
        </p:txBody>
      </p:sp>
      <p:sp>
        <p:nvSpPr>
          <p:cNvPr id="45" name="Freeform 45"/>
          <p:cNvSpPr/>
          <p:nvPr/>
        </p:nvSpPr>
        <p:spPr>
          <a:xfrm>
            <a:off x="6405562" y="2905125"/>
            <a:ext cx="142875" cy="111125"/>
          </a:xfrm>
          <a:custGeom>
            <a:avLst/>
            <a:gdLst/>
            <a:ahLst/>
            <a:cxnLst/>
            <a:rect l="l" t="t" r="r" b="b"/>
            <a:pathLst>
              <a:path w="142875" h="111125">
                <a:moveTo>
                  <a:pt x="119062" y="0"/>
                </a:moveTo>
                <a:cubicBezTo>
                  <a:pt x="132214" y="0"/>
                  <a:pt x="142875" y="10661"/>
                  <a:pt x="142875" y="23812"/>
                </a:cubicBezTo>
                <a:lnTo>
                  <a:pt x="142875" y="95250"/>
                </a:lnTo>
                <a:cubicBezTo>
                  <a:pt x="142875" y="104018"/>
                  <a:pt x="135768" y="111125"/>
                  <a:pt x="127000" y="111125"/>
                </a:cubicBezTo>
                <a:lnTo>
                  <a:pt x="111125" y="111125"/>
                </a:lnTo>
                <a:cubicBezTo>
                  <a:pt x="102357" y="111125"/>
                  <a:pt x="95250" y="104018"/>
                  <a:pt x="95250" y="95250"/>
                </a:cubicBezTo>
                <a:lnTo>
                  <a:pt x="95250" y="79375"/>
                </a:lnTo>
                <a:cubicBezTo>
                  <a:pt x="95250" y="66224"/>
                  <a:pt x="84589" y="55562"/>
                  <a:pt x="71438" y="55562"/>
                </a:cubicBezTo>
                <a:cubicBezTo>
                  <a:pt x="58286" y="55562"/>
                  <a:pt x="47625" y="66224"/>
                  <a:pt x="47625" y="79375"/>
                </a:cubicBezTo>
                <a:lnTo>
                  <a:pt x="47625" y="95250"/>
                </a:lnTo>
                <a:cubicBezTo>
                  <a:pt x="47625" y="104018"/>
                  <a:pt x="40518" y="111125"/>
                  <a:pt x="31750" y="111125"/>
                </a:cubicBezTo>
                <a:lnTo>
                  <a:pt x="15875" y="111125"/>
                </a:lnTo>
                <a:cubicBezTo>
                  <a:pt x="7107" y="111125"/>
                  <a:pt x="0" y="104018"/>
                  <a:pt x="0" y="95250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0E8C8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654165" y="2896552"/>
            <a:ext cx="10557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已启动校园试点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370320" y="3188970"/>
            <a:ext cx="18050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泛雅平台真实教学环境部署运行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370320" y="3417570"/>
            <a:ext cx="16850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真实教师和学生用户试用验证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370320" y="3646170"/>
            <a:ext cx="12050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学情数据采集与分析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370320" y="3874770"/>
            <a:ext cx="7249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迭代优化中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5143500"/>
            <a:ext cx="11049000" cy="104775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748665" y="53159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测试验证概览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762000" y="5572125"/>
            <a:ext cx="10572750" cy="404813"/>
            <a:chOff x="762000" y="5572125"/>
            <a:chExt cx="10572750" cy="404813"/>
          </a:xfrm>
        </p:grpSpPr>
        <p:sp>
          <p:nvSpPr>
            <p:cNvPr id="53" name="Rectangle 53"/>
            <p:cNvSpPr/>
            <p:nvPr/>
          </p:nvSpPr>
          <p:spPr>
            <a:xfrm>
              <a:off x="762000" y="5572125"/>
              <a:ext cx="1905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451038" y="56654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功能测试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354931" y="582453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三大模块全覆盖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2857500" y="5572125"/>
              <a:ext cx="1905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546539" y="56654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性能测试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442930" y="5824538"/>
              <a:ext cx="73413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SSE首包&lt;500ms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4953000" y="5572125"/>
              <a:ext cx="1905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642038" y="56654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压力测试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653445" y="5824538"/>
              <a:ext cx="50411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10协程并发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048500" y="5572125"/>
              <a:ext cx="1905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737538" y="56654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降级测试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641431" y="582453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双引擎自动切换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9144000" y="5572125"/>
              <a:ext cx="219075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796341" y="5665470"/>
              <a:ext cx="8860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AI能力专项验证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874806" y="5824538"/>
              <a:ext cx="72913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解析/问答/续接</a:t>
              </a:r>
            </a:p>
          </p:txBody>
        </p:sp>
      </p:grpSp>
      <p:sp>
        <p:nvSpPr>
          <p:cNvPr id="69" name="Rectangle 69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1516511" y="67022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团队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43867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DeepCore 团队 · 五人在线，全员攻坚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9118" y="1275874"/>
            <a:ext cx="30281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5人小团队 · ALL IN 一线开发 · 主责锚点 + 全员协同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619250"/>
            <a:ext cx="2057400" cy="3619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1E6FE0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1619250"/>
            <a:ext cx="2057400" cy="952500"/>
          </a:xfrm>
          <a:prstGeom prst="roundRect">
            <a:avLst>
              <a:gd name="adj" fmla="val 12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2457450"/>
            <a:ext cx="2057400" cy="11430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390650" y="1695450"/>
            <a:ext cx="419100" cy="419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475746" y="1832610"/>
            <a:ext cx="24890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2828" y="21726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项目管理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0570" y="280797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主责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1522" y="3006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进度管控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1522" y="31970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风险管控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1522" y="3387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甲方对接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3667125"/>
            <a:ext cx="16764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51522" y="3816191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可承担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2475" y="4014788"/>
            <a:ext cx="619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需求文档撰写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2475" y="418623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进度管理表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2475" y="435768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方案设计</a:t>
            </a:r>
          </a:p>
        </p:txBody>
      </p:sp>
      <p:sp>
        <p:nvSpPr>
          <p:cNvPr id="23" name="Rectangle 23"/>
          <p:cNvSpPr/>
          <p:nvPr/>
        </p:nvSpPr>
        <p:spPr>
          <a:xfrm>
            <a:off x="2781300" y="1619250"/>
            <a:ext cx="2057400" cy="3619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2781300" y="1619250"/>
            <a:ext cx="2057400" cy="952500"/>
          </a:xfrm>
          <a:prstGeom prst="roundRect">
            <a:avLst>
              <a:gd name="adj" fmla="val 12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2781300" y="2457450"/>
            <a:ext cx="205740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3600450" y="1695450"/>
            <a:ext cx="419100" cy="419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626739" y="183261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架构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29119" y="21726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产品与架构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960370" y="280797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主责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961322" y="3006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需求分析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961322" y="31970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原型设计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961322" y="3387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架构方案</a:t>
            </a:r>
          </a:p>
        </p:txBody>
      </p:sp>
      <p:sp>
        <p:nvSpPr>
          <p:cNvPr id="33" name="Rectangle 33"/>
          <p:cNvSpPr/>
          <p:nvPr/>
        </p:nvSpPr>
        <p:spPr>
          <a:xfrm>
            <a:off x="2971800" y="3667125"/>
            <a:ext cx="16764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2961322" y="3816191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可承担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962275" y="4014788"/>
            <a:ext cx="619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技术方案设计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962275" y="418623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工艺流程图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962275" y="435768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接口设计</a:t>
            </a:r>
          </a:p>
        </p:txBody>
      </p:sp>
      <p:sp>
        <p:nvSpPr>
          <p:cNvPr id="38" name="Rectangle 38"/>
          <p:cNvSpPr/>
          <p:nvPr/>
        </p:nvSpPr>
        <p:spPr>
          <a:xfrm>
            <a:off x="4991100" y="1619250"/>
            <a:ext cx="2057400" cy="3619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4991100" y="1619250"/>
            <a:ext cx="2057400" cy="952500"/>
          </a:xfrm>
          <a:prstGeom prst="roundRect">
            <a:avLst>
              <a:gd name="adj" fmla="val 12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4991100" y="2457450"/>
            <a:ext cx="205740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sp>
        <p:nvSpPr>
          <p:cNvPr id="41" name="Ellipse 41"/>
          <p:cNvSpPr/>
          <p:nvPr/>
        </p:nvSpPr>
        <p:spPr>
          <a:xfrm>
            <a:off x="5810250" y="1695450"/>
            <a:ext cx="419100" cy="419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865943" y="1832610"/>
            <a:ext cx="307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&lt;/&gt;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712428" y="21726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后端开发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170170" y="280797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主责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171122" y="3006566"/>
            <a:ext cx="5820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Go后端开发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171122" y="3197066"/>
            <a:ext cx="5710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数据库设计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171122" y="3387566"/>
            <a:ext cx="5545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AI中台对接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181600" y="3667125"/>
            <a:ext cx="16764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171122" y="3816191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可承担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172075" y="4014788"/>
            <a:ext cx="359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API开发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172075" y="4186238"/>
            <a:ext cx="66413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Python AI引擎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172075" y="435768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性能调优</a:t>
            </a:r>
          </a:p>
        </p:txBody>
      </p:sp>
      <p:sp>
        <p:nvSpPr>
          <p:cNvPr id="53" name="Rectangle 53"/>
          <p:cNvSpPr/>
          <p:nvPr/>
        </p:nvSpPr>
        <p:spPr>
          <a:xfrm>
            <a:off x="7200900" y="1619250"/>
            <a:ext cx="2057400" cy="3619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7B1FA2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7200900" y="1619250"/>
            <a:ext cx="2057400" cy="952500"/>
          </a:xfrm>
          <a:prstGeom prst="roundRect">
            <a:avLst>
              <a:gd name="adj" fmla="val 12000"/>
            </a:avLst>
          </a:prstGeom>
          <a:solidFill>
            <a:srgbClr val="7B1FA2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7200900" y="2457450"/>
            <a:ext cx="2057400" cy="114300"/>
          </a:xfrm>
          <a:prstGeom prst="rect">
            <a:avLst/>
          </a:prstGeom>
          <a:solidFill>
            <a:srgbClr val="7B1FA2"/>
          </a:solidFill>
          <a:ln>
            <a:noFill/>
          </a:ln>
        </p:spPr>
      </p:sp>
      <p:sp>
        <p:nvSpPr>
          <p:cNvPr id="56" name="Ellipse 56"/>
          <p:cNvSpPr/>
          <p:nvPr/>
        </p:nvSpPr>
        <p:spPr>
          <a:xfrm>
            <a:off x="8020050" y="1695450"/>
            <a:ext cx="419100" cy="419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153782" y="1848802"/>
            <a:ext cx="1516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UI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922228" y="21726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前端开发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379970" y="280797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主责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380922" y="3006566"/>
            <a:ext cx="5160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Vue 3开发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380922" y="3197066"/>
            <a:ext cx="5710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组件化架构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380922" y="3387566"/>
            <a:ext cx="64253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SSE流式渲染</a:t>
            </a:r>
          </a:p>
        </p:txBody>
      </p:sp>
      <p:sp>
        <p:nvSpPr>
          <p:cNvPr id="63" name="Rectangle 63"/>
          <p:cNvSpPr/>
          <p:nvPr/>
        </p:nvSpPr>
        <p:spPr>
          <a:xfrm>
            <a:off x="7391400" y="3667125"/>
            <a:ext cx="16764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7380922" y="3816191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7B1FA2"/>
                </a:solidFill>
                <a:latin typeface="Arial"/>
                <a:ea typeface="Microsoft YaHei"/>
                <a:cs typeface="Arial"/>
              </a:rPr>
              <a:t>可承担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381875" y="401478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交互设计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381875" y="418623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学情可视化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381875" y="435768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响应式开发</a:t>
            </a:r>
          </a:p>
        </p:txBody>
      </p:sp>
      <p:sp>
        <p:nvSpPr>
          <p:cNvPr id="68" name="Rectangle 68"/>
          <p:cNvSpPr/>
          <p:nvPr/>
        </p:nvSpPr>
        <p:spPr>
          <a:xfrm>
            <a:off x="9410700" y="1619250"/>
            <a:ext cx="2209800" cy="36195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4288">
            <a:solidFill>
              <a:srgbClr val="5A6478"/>
            </a:solidFill>
          </a:ln>
        </p:spPr>
      </p:sp>
      <p:sp>
        <p:nvSpPr>
          <p:cNvPr id="69" name="Rectangle 69"/>
          <p:cNvSpPr/>
          <p:nvPr/>
        </p:nvSpPr>
        <p:spPr>
          <a:xfrm>
            <a:off x="9410700" y="1619250"/>
            <a:ext cx="2209800" cy="952500"/>
          </a:xfrm>
          <a:prstGeom prst="roundRect">
            <a:avLst>
              <a:gd name="adj" fmla="val 12000"/>
            </a:avLst>
          </a:prstGeom>
          <a:solidFill>
            <a:srgbClr val="5A6478"/>
          </a:solidFill>
          <a:ln>
            <a:noFill/>
          </a:ln>
        </p:spPr>
      </p:sp>
      <p:sp>
        <p:nvSpPr>
          <p:cNvPr id="70" name="Rectangle 70"/>
          <p:cNvSpPr/>
          <p:nvPr/>
        </p:nvSpPr>
        <p:spPr>
          <a:xfrm>
            <a:off x="9410700" y="2457450"/>
            <a:ext cx="2209800" cy="114300"/>
          </a:xfrm>
          <a:prstGeom prst="rect">
            <a:avLst/>
          </a:prstGeom>
          <a:solidFill>
            <a:srgbClr val="5A6478"/>
          </a:solidFill>
          <a:ln>
            <a:noFill/>
          </a:ln>
        </p:spPr>
      </p:sp>
      <p:sp>
        <p:nvSpPr>
          <p:cNvPr id="71" name="Ellipse 71"/>
          <p:cNvSpPr/>
          <p:nvPr/>
        </p:nvSpPr>
        <p:spPr>
          <a:xfrm>
            <a:off x="10306050" y="1695450"/>
            <a:ext cx="419100" cy="419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10406703" y="1848802"/>
            <a:ext cx="2177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QA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134719" y="21726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测试与交付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589770" y="280797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主责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590722" y="3006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测试用例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9590722" y="31970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文档管理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9590722" y="3387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部署运维</a:t>
            </a:r>
          </a:p>
        </p:txBody>
      </p:sp>
      <p:sp>
        <p:nvSpPr>
          <p:cNvPr id="78" name="Rectangle 78"/>
          <p:cNvSpPr/>
          <p:nvPr/>
        </p:nvSpPr>
        <p:spPr>
          <a:xfrm>
            <a:off x="9601200" y="3667125"/>
            <a:ext cx="18288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9590722" y="3816191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可承担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9591675" y="401478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自动化测试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9591675" y="418623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容器化部署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9591675" y="435768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运维手册</a:t>
            </a:r>
          </a:p>
        </p:txBody>
      </p:sp>
      <p:sp>
        <p:nvSpPr>
          <p:cNvPr id="83" name="Rectangle 83"/>
          <p:cNvSpPr/>
          <p:nvPr/>
        </p:nvSpPr>
        <p:spPr>
          <a:xfrm>
            <a:off x="571500" y="5476875"/>
            <a:ext cx="11049000" cy="714375"/>
          </a:xfrm>
          <a:prstGeom prst="roundRect">
            <a:avLst>
              <a:gd name="adj" fmla="val 13333"/>
            </a:avLst>
          </a:prstGeom>
          <a:solidFill>
            <a:srgbClr val="1E6FE0">
              <a:alpha val="6000"/>
            </a:srgbClr>
          </a:solidFill>
          <a:ln>
            <a:noFill/>
          </a:ln>
        </p:spPr>
      </p:sp>
      <p:sp>
        <p:nvSpPr>
          <p:cNvPr id="84" name="TextBox 84"/>
          <p:cNvSpPr txBox="1"/>
          <p:nvPr/>
        </p:nvSpPr>
        <p:spPr>
          <a:xfrm>
            <a:off x="5117759" y="5609749"/>
            <a:ext cx="19564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协作模式：主责锚点 + 全员攻坚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3604712" y="5864066"/>
            <a:ext cx="498257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全员开发保障技术深度——每条业务线都有后备力量 | 主责锚点保障责任清晰——每块工作都有最终负责人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5041344" y="6015038"/>
            <a:ext cx="210931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代码自主开发率 &gt; 92% · 核心算法100%自主设计</a:t>
            </a:r>
          </a:p>
        </p:txBody>
      </p:sp>
      <p:sp>
        <p:nvSpPr>
          <p:cNvPr id="87" name="Rectangle 87"/>
          <p:cNvSpPr/>
          <p:nvPr/>
        </p:nvSpPr>
        <p:spPr>
          <a:xfrm>
            <a:off x="571500" y="6619875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561022" y="667369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1516511" y="6673691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6FE0"/>
              </a:gs>
              <a:gs pos="50000">
                <a:srgbClr val="1E6FE0"/>
              </a:gs>
              <a:gs pos="100000">
                <a:srgbClr val="0A2E6E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62000" y="381000"/>
            <a:ext cx="1524000" cy="1524000"/>
          </a:xfrm>
          <a:prstGeom prst="ellipse">
            <a:avLst/>
          </a:prstGeom>
          <a:noFill/>
          <a:ln w="14288">
            <a:solidFill>
              <a:srgbClr val="FFFFFF">
                <a:alpha val="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9525000" y="4762500"/>
            <a:ext cx="1905000" cy="1905000"/>
          </a:xfrm>
          <a:prstGeom prst="ellipse">
            <a:avLst/>
          </a:prstGeom>
          <a:noFill/>
          <a:ln w="14288">
            <a:solidFill>
              <a:srgbClr val="FFFFFF">
                <a:alpha val="5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10953750" y="952500"/>
            <a:ext cx="952500" cy="9525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4515231" y="2084070"/>
            <a:ext cx="3161538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谢谢观看</a:t>
            </a:r>
          </a:p>
        </p:txBody>
      </p:sp>
      <p:sp>
        <p:nvSpPr>
          <p:cNvPr id="7" name="Rectangle 7"/>
          <p:cNvSpPr/>
          <p:nvPr/>
        </p:nvSpPr>
        <p:spPr>
          <a:xfrm>
            <a:off x="5143500" y="2952750"/>
            <a:ext cx="19050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431649" y="3378518"/>
            <a:ext cx="33287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>
                    <a:alphaMod val="85000"/>
                  </a:srgbClr>
                </a:solidFill>
                <a:latin typeface="Arial"/>
                <a:ea typeface="Microsoft YaHei"/>
                <a:cs typeface="Arial"/>
              </a:rPr>
              <a:t>节点化底座 · 编排与能力分离 · 教学闭环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381250" y="4000500"/>
            <a:ext cx="7429500" cy="419100"/>
            <a:chOff x="2381250" y="4000500"/>
            <a:chExt cx="7429500" cy="419100"/>
          </a:xfrm>
        </p:grpSpPr>
        <p:sp>
          <p:nvSpPr>
            <p:cNvPr id="9" name="Rectangle 9"/>
            <p:cNvSpPr/>
            <p:nvPr/>
          </p:nvSpPr>
          <p:spPr>
            <a:xfrm>
              <a:off x="2381250" y="4000500"/>
              <a:ext cx="209550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961561" y="41524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三阶段解耦解析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048250" y="4000500"/>
              <a:ext cx="209550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628561" y="41524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双引擎自动降级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715250" y="4000500"/>
              <a:ext cx="209550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5561" y="41524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节点级精确续接</a:t>
              </a:r>
            </a:p>
          </p:txBody>
        </p:sp>
      </p:grpSp>
      <p:sp>
        <p:nvSpPr>
          <p:cNvPr id="16" name="Rectangle 16"/>
          <p:cNvSpPr/>
          <p:nvPr/>
        </p:nvSpPr>
        <p:spPr>
          <a:xfrm>
            <a:off x="4667250" y="4762500"/>
            <a:ext cx="285750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493468" y="4853940"/>
            <a:ext cx="120506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DEEPCORE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823585" y="5181124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参赛团队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143500" y="5619750"/>
            <a:ext cx="1905000" cy="342900"/>
          </a:xfrm>
          <a:prstGeom prst="roundRect">
            <a:avLst>
              <a:gd name="adj" fmla="val 50000"/>
            </a:avLst>
          </a:prstGeom>
          <a:solidFill>
            <a:srgbClr val="0E8C80">
              <a:alpha val="20000"/>
            </a:srgbClr>
          </a:solidFill>
          <a:ln w="9525">
            <a:solidFill>
              <a:srgbClr val="0E8C80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5604510" y="573214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欢迎各位评委提问</a:t>
            </a:r>
          </a:p>
        </p:txBody>
      </p:sp>
      <p:sp>
        <p:nvSpPr>
          <p:cNvPr id="21" name="Rectangle 21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0E8C80">
              <a:alpha val="3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
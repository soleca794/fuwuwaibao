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教师端五步流程。重点说两步：智课生成是三阶段解耦，每阶段独立优化。学情查看是四维加权评分，精准定位班级共性卡点。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学生端三个重点。第一，三级级联上下文构建，精确优先。第二，苏格拉底式约束——禁止直接给答案。第三，断点续学不是"继续播放"，而是三态判定。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用一条故事链把两端串起来。从上传到解析到学习到问答到续接到学情回传，完整闭环。一气呵成讲完，45秒内。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/>
              </a:gs>
              <a:gs pos="50000">
                <a:srgbClr val="0D47A1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F00"/>
              </a:gs>
              <a:gs pos="100000">
                <a:srgbClr val="FF8F0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8F00"/>
                </a:solidFill>
                <a:latin typeface="Georgia"/>
                <a:ea typeface="KaiTi"/>
                <a:cs typeface="Georgia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FF6F0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方案总览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7210" y="661035"/>
            <a:ext cx="800757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一份课件，秒变会讲课、能答疑、可续接的智课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E5E7E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01699" y="1736725"/>
            <a:ext cx="177802" cy="222251"/>
            <a:chOff x="901699" y="1736725"/>
            <a:chExt cx="177802" cy="222251"/>
          </a:xfrm>
        </p:grpSpPr>
        <p:sp>
          <p:nvSpPr>
            <p:cNvPr id="10" name="Freeform 10"/>
            <p:cNvSpPr/>
            <p:nvPr/>
          </p:nvSpPr>
          <p:spPr>
            <a:xfrm>
              <a:off x="901699" y="1736725"/>
              <a:ext cx="177802" cy="222251"/>
            </a:xfrm>
            <a:custGeom>
              <a:avLst/>
              <a:gdLst/>
              <a:ahLst/>
              <a:cxnLst/>
              <a:rect l="l" t="t" r="r" b="b"/>
              <a:pathLst>
                <a:path w="177802" h="222251">
                  <a:moveTo>
                    <a:pt x="88901" y="0"/>
                  </a:moveTo>
                  <a:lnTo>
                    <a:pt x="90201" y="78"/>
                  </a:lnTo>
                  <a:cubicBezTo>
                    <a:pt x="95307" y="680"/>
                    <a:pt x="99334" y="4706"/>
                    <a:pt x="99936" y="9812"/>
                  </a:cubicBezTo>
                  <a:lnTo>
                    <a:pt x="100013" y="11112"/>
                  </a:lnTo>
                  <a:lnTo>
                    <a:pt x="100013" y="55562"/>
                  </a:lnTo>
                  <a:lnTo>
                    <a:pt x="100069" y="57229"/>
                  </a:lnTo>
                  <a:cubicBezTo>
                    <a:pt x="100891" y="68163"/>
                    <a:pt x="109563" y="76864"/>
                    <a:pt x="120494" y="77721"/>
                  </a:cubicBezTo>
                  <a:lnTo>
                    <a:pt x="122238" y="77787"/>
                  </a:lnTo>
                  <a:lnTo>
                    <a:pt x="166688" y="77787"/>
                  </a:lnTo>
                  <a:lnTo>
                    <a:pt x="167989" y="77865"/>
                  </a:lnTo>
                  <a:cubicBezTo>
                    <a:pt x="173095" y="78467"/>
                    <a:pt x="177121" y="82494"/>
                    <a:pt x="177723" y="87600"/>
                  </a:cubicBezTo>
                  <a:lnTo>
                    <a:pt x="177801" y="88900"/>
                  </a:lnTo>
                  <a:lnTo>
                    <a:pt x="177801" y="188912"/>
                  </a:lnTo>
                  <a:cubicBezTo>
                    <a:pt x="177802" y="206565"/>
                    <a:pt x="164042" y="221159"/>
                    <a:pt x="146419" y="222194"/>
                  </a:cubicBezTo>
                  <a:lnTo>
                    <a:pt x="144463" y="222250"/>
                  </a:lnTo>
                  <a:lnTo>
                    <a:pt x="33338" y="222250"/>
                  </a:lnTo>
                  <a:cubicBezTo>
                    <a:pt x="15686" y="222251"/>
                    <a:pt x="1092" y="208491"/>
                    <a:pt x="57" y="190868"/>
                  </a:cubicBezTo>
                  <a:lnTo>
                    <a:pt x="1" y="188913"/>
                  </a:lnTo>
                  <a:lnTo>
                    <a:pt x="1" y="33338"/>
                  </a:lnTo>
                  <a:cubicBezTo>
                    <a:pt x="0" y="15685"/>
                    <a:pt x="13760" y="1091"/>
                    <a:pt x="31383" y="56"/>
                  </a:cubicBezTo>
                  <a:lnTo>
                    <a:pt x="33338" y="0"/>
                  </a:lnTo>
                  <a:close/>
                  <a:moveTo>
                    <a:pt x="122238" y="155575"/>
                  </a:moveTo>
                  <a:lnTo>
                    <a:pt x="55563" y="155575"/>
                  </a:lnTo>
                  <a:cubicBezTo>
                    <a:pt x="49426" y="155575"/>
                    <a:pt x="44451" y="160550"/>
                    <a:pt x="44451" y="166688"/>
                  </a:cubicBezTo>
                  <a:cubicBezTo>
                    <a:pt x="44451" y="172825"/>
                    <a:pt x="49426" y="177800"/>
                    <a:pt x="55563" y="177800"/>
                  </a:cubicBezTo>
                  <a:lnTo>
                    <a:pt x="122238" y="177800"/>
                  </a:lnTo>
                  <a:cubicBezTo>
                    <a:pt x="128376" y="177800"/>
                    <a:pt x="133351" y="172825"/>
                    <a:pt x="133351" y="166688"/>
                  </a:cubicBezTo>
                  <a:cubicBezTo>
                    <a:pt x="133351" y="160550"/>
                    <a:pt x="128376" y="155575"/>
                    <a:pt x="122238" y="155575"/>
                  </a:cubicBezTo>
                  <a:moveTo>
                    <a:pt x="122238" y="111125"/>
                  </a:moveTo>
                  <a:lnTo>
                    <a:pt x="55563" y="111125"/>
                  </a:lnTo>
                  <a:cubicBezTo>
                    <a:pt x="49426" y="111125"/>
                    <a:pt x="44451" y="116100"/>
                    <a:pt x="44451" y="122237"/>
                  </a:cubicBezTo>
                  <a:cubicBezTo>
                    <a:pt x="44451" y="128375"/>
                    <a:pt x="49426" y="133350"/>
                    <a:pt x="55563" y="133350"/>
                  </a:cubicBezTo>
                  <a:lnTo>
                    <a:pt x="122238" y="133350"/>
                  </a:lnTo>
                  <a:cubicBezTo>
                    <a:pt x="128376" y="133350"/>
                    <a:pt x="133351" y="128375"/>
                    <a:pt x="133351" y="122237"/>
                  </a:cubicBezTo>
                  <a:cubicBezTo>
                    <a:pt x="133351" y="116100"/>
                    <a:pt x="128376" y="111125"/>
                    <a:pt x="122238" y="111125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3926" y="1747826"/>
              <a:ext cx="44461" cy="44461"/>
            </a:xfrm>
            <a:custGeom>
              <a:avLst/>
              <a:gdLst/>
              <a:ahLst/>
              <a:cxnLst/>
              <a:rect l="l" t="t" r="r" b="b"/>
              <a:pathLst>
                <a:path w="44461" h="44461">
                  <a:moveTo>
                    <a:pt x="44461" y="44461"/>
                  </a:moveTo>
                  <a:lnTo>
                    <a:pt x="11" y="44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1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传即生成讲稿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962" y="21645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三阶段解耦解析，从文本提取到跨页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962" y="23931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语义聚合，自动生成可编辑的结构化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962" y="26217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讲授脚本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3238500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核心机制：三阶段解耦管线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820" y="3617595"/>
            <a:ext cx="2555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Markdown理解 → 节点树构建 → 逐节点脚本生成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E5E7E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4689475" y="1747838"/>
            <a:ext cx="222250" cy="211657"/>
          </a:xfrm>
          <a:custGeom>
            <a:avLst/>
            <a:gdLst/>
            <a:ahLst/>
            <a:cxnLst/>
            <a:rect l="l" t="t" r="r" b="b"/>
            <a:pathLst>
              <a:path w="222250" h="211657">
                <a:moveTo>
                  <a:pt x="177800" y="0"/>
                </a:moveTo>
                <a:cubicBezTo>
                  <a:pt x="202349" y="0"/>
                  <a:pt x="222250" y="19901"/>
                  <a:pt x="222250" y="44450"/>
                </a:cubicBezTo>
                <a:lnTo>
                  <a:pt x="222250" y="133350"/>
                </a:lnTo>
                <a:cubicBezTo>
                  <a:pt x="222250" y="157899"/>
                  <a:pt x="202349" y="177800"/>
                  <a:pt x="177800" y="177800"/>
                </a:cubicBezTo>
                <a:lnTo>
                  <a:pt x="125305" y="177800"/>
                </a:lnTo>
                <a:lnTo>
                  <a:pt x="72387" y="209548"/>
                </a:lnTo>
                <a:cubicBezTo>
                  <a:pt x="69149" y="211492"/>
                  <a:pt x="65145" y="211657"/>
                  <a:pt x="61757" y="209988"/>
                </a:cubicBezTo>
                <a:cubicBezTo>
                  <a:pt x="58370" y="208319"/>
                  <a:pt x="56061" y="205044"/>
                  <a:pt x="55629" y="201292"/>
                </a:cubicBezTo>
                <a:lnTo>
                  <a:pt x="55563" y="200025"/>
                </a:lnTo>
                <a:lnTo>
                  <a:pt x="55563" y="177800"/>
                </a:lnTo>
                <a:lnTo>
                  <a:pt x="44450" y="177800"/>
                </a:lnTo>
                <a:cubicBezTo>
                  <a:pt x="20765" y="177800"/>
                  <a:pt x="1240" y="159228"/>
                  <a:pt x="56" y="135573"/>
                </a:cubicBezTo>
                <a:lnTo>
                  <a:pt x="0" y="13335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  <a:moveTo>
                  <a:pt x="133350" y="100012"/>
                </a:moveTo>
                <a:lnTo>
                  <a:pt x="66675" y="100012"/>
                </a:lnTo>
                <a:cubicBezTo>
                  <a:pt x="60538" y="100012"/>
                  <a:pt x="55563" y="104988"/>
                  <a:pt x="55563" y="111125"/>
                </a:cubicBezTo>
                <a:cubicBezTo>
                  <a:pt x="55563" y="117262"/>
                  <a:pt x="60538" y="122238"/>
                  <a:pt x="66675" y="122238"/>
                </a:cubicBezTo>
                <a:lnTo>
                  <a:pt x="133350" y="122238"/>
                </a:lnTo>
                <a:cubicBezTo>
                  <a:pt x="139487" y="122238"/>
                  <a:pt x="144463" y="117262"/>
                  <a:pt x="144463" y="111125"/>
                </a:cubicBezTo>
                <a:cubicBezTo>
                  <a:pt x="144463" y="104988"/>
                  <a:pt x="139487" y="100012"/>
                  <a:pt x="133350" y="100012"/>
                </a:cubicBezTo>
                <a:moveTo>
                  <a:pt x="155575" y="55563"/>
                </a:moveTo>
                <a:lnTo>
                  <a:pt x="66675" y="55563"/>
                </a:lnTo>
                <a:cubicBezTo>
                  <a:pt x="60538" y="55563"/>
                  <a:pt x="55563" y="60538"/>
                  <a:pt x="55563" y="66675"/>
                </a:cubicBezTo>
                <a:cubicBezTo>
                  <a:pt x="55563" y="72812"/>
                  <a:pt x="60538" y="77787"/>
                  <a:pt x="66675" y="77787"/>
                </a:cubicBezTo>
                <a:lnTo>
                  <a:pt x="155575" y="77787"/>
                </a:lnTo>
                <a:cubicBezTo>
                  <a:pt x="161712" y="77787"/>
                  <a:pt x="166688" y="72812"/>
                  <a:pt x="166688" y="66675"/>
                </a:cubicBezTo>
                <a:cubicBezTo>
                  <a:pt x="166688" y="60538"/>
                  <a:pt x="161712" y="55563"/>
                  <a:pt x="155575" y="55563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02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问答秒级响应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164556"/>
            <a:ext cx="24513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本页优先检索 + 溯源生成，回答绑定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3931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课件页码，避免退化成开放聊天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667250" y="3238500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5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核心机制：三级级联上下文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5820" y="3617595"/>
            <a:ext cx="1739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节点脚本 → 页面内容 → 全页拼接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E5E7EB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19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8543924" y="1747283"/>
            <a:ext cx="166694" cy="201135"/>
          </a:xfrm>
          <a:custGeom>
            <a:avLst/>
            <a:gdLst/>
            <a:ahLst/>
            <a:cxnLst/>
            <a:rect l="l" t="t" r="r" b="b"/>
            <a:pathLst>
              <a:path w="166694" h="201135">
                <a:moveTo>
                  <a:pt x="1" y="11667"/>
                </a:moveTo>
                <a:lnTo>
                  <a:pt x="1" y="189467"/>
                </a:lnTo>
                <a:cubicBezTo>
                  <a:pt x="0" y="193494"/>
                  <a:pt x="2177" y="197206"/>
                  <a:pt x="5691" y="199170"/>
                </a:cubicBezTo>
                <a:cubicBezTo>
                  <a:pt x="9205" y="201135"/>
                  <a:pt x="13507" y="201045"/>
                  <a:pt x="16937" y="198935"/>
                </a:cubicBezTo>
                <a:lnTo>
                  <a:pt x="161399" y="110035"/>
                </a:lnTo>
                <a:cubicBezTo>
                  <a:pt x="164689" y="108014"/>
                  <a:pt x="166694" y="104429"/>
                  <a:pt x="166694" y="100567"/>
                </a:cubicBezTo>
                <a:cubicBezTo>
                  <a:pt x="166694" y="96706"/>
                  <a:pt x="164689" y="93121"/>
                  <a:pt x="161399" y="91100"/>
                </a:cubicBezTo>
                <a:lnTo>
                  <a:pt x="16937" y="2200"/>
                </a:lnTo>
                <a:cubicBezTo>
                  <a:pt x="13507" y="90"/>
                  <a:pt x="9205" y="0"/>
                  <a:pt x="5691" y="1965"/>
                </a:cubicBezTo>
                <a:cubicBezTo>
                  <a:pt x="2177" y="3929"/>
                  <a:pt x="0" y="7641"/>
                  <a:pt x="1" y="11667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39200" y="17430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打断后自动续接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62962" y="2164556"/>
            <a:ext cx="26013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理解程度三态判定 + 节点级续接定位，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62962" y="23931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477250" y="3238500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64868" y="33713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核心机制：三态续接模式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5820" y="3617595"/>
            <a:ext cx="2087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none→重讲 / partial→补充 / full→跳过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7675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24525" y="46177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五环教学闭环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562100" y="4800600"/>
            <a:ext cx="7353300" cy="685800"/>
            <a:chOff x="1562100" y="4800600"/>
            <a:chExt cx="7353300" cy="685800"/>
          </a:xfrm>
        </p:grpSpPr>
        <p:sp>
          <p:nvSpPr>
            <p:cNvPr id="40" name="Ellipse 40"/>
            <p:cNvSpPr/>
            <p:nvPr/>
          </p:nvSpPr>
          <p:spPr>
            <a:xfrm>
              <a:off x="1562100" y="4800600"/>
              <a:ext cx="685800" cy="685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756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可讲</a:t>
              </a:r>
            </a:p>
          </p:txBody>
        </p:sp>
        <p:sp>
          <p:nvSpPr>
            <p:cNvPr id="42" name="Polygon 42"/>
            <p:cNvSpPr/>
            <p:nvPr/>
          </p:nvSpPr>
          <p:spPr>
            <a:xfrm>
              <a:off x="2362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895600" y="4800600"/>
              <a:ext cx="685800" cy="685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89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可学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3695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229100" y="4800600"/>
              <a:ext cx="685800" cy="685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可问</a:t>
              </a:r>
            </a:p>
          </p:txBody>
        </p:sp>
        <p:sp>
          <p:nvSpPr>
            <p:cNvPr id="48" name="Polygon 48"/>
            <p:cNvSpPr/>
            <p:nvPr/>
          </p:nvSpPr>
          <p:spPr>
            <a:xfrm>
              <a:off x="5029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562600" y="4800600"/>
              <a:ext cx="685800" cy="685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56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可续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6362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96100" y="4800600"/>
              <a:ext cx="685800" cy="685800"/>
            </a:xfrm>
            <a:prstGeom prst="ellipse">
              <a:avLst/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0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可评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7696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29600" y="4800600"/>
              <a:ext cx="685800" cy="685800"/>
            </a:xfrm>
            <a:prstGeom prst="ellipse">
              <a:avLst/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23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可优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539829" y="5292566"/>
            <a:ext cx="3112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五环不是孤立环节——解析是问答的前提，问答产出是续接的输入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565C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FFF8E1"/>
          </a:solidFill>
          <a:ln w="14288">
            <a:solidFill>
              <a:srgbClr val="FF6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方案概述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一套底座，两端分工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810000" cy="47625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6640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设计思路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2029778"/>
            <a:ext cx="2014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“一套底座，两端分工”——底层是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277428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统一的AI能力中台，上层分别为教师和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5250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学生提供专属功能入口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95275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6760" y="31089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两个关键设计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524250"/>
            <a:ext cx="3429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3638074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❶ 编排层不做AI推理，保证响应延迟可控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952875"/>
            <a:ext cx="3429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40118" y="4066699"/>
            <a:ext cx="25990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❷ 双引擎降级，Dify不可用时自动切本地引擎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667250" y="1428750"/>
            <a:ext cx="695325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42510" y="16325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底座架构示意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48250" y="2000250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96309" y="2145506"/>
            <a:ext cx="14856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 · Go后端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6912" y="2319338"/>
            <a:ext cx="30244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学习状态机 | SSE流式转发 | 课件上传管道 | 任务调度 | OpenAPI适配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9225" y="203358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★</a:t>
            </a:r>
          </a:p>
        </p:txBody>
      </p:sp>
      <p:sp>
        <p:nvSpPr>
          <p:cNvPr id="24" name="Polygon 24"/>
          <p:cNvSpPr/>
          <p:nvPr/>
        </p:nvSpPr>
        <p:spPr>
          <a:xfrm>
            <a:off x="8143875" y="2476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048250" y="2619375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96897" y="2764631"/>
            <a:ext cx="30844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AI能力中台 · Dify工作流 + Python本地引擎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49452" y="2938462"/>
            <a:ext cx="23793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课件解析 | 知识入库 | 智能问答 | 脚本生成 | 语音合成</a:t>
            </a:r>
          </a:p>
        </p:txBody>
      </p:sp>
      <p:sp>
        <p:nvSpPr>
          <p:cNvPr id="28" name="Polygon 28"/>
          <p:cNvSpPr/>
          <p:nvPr/>
        </p:nvSpPr>
        <p:spPr>
          <a:xfrm>
            <a:off x="8143875" y="3095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CA3A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048250" y="3238500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31038" y="33837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19411" y="3557588"/>
            <a:ext cx="30394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PostgreSQL（结构化） | Redis（缓存/队列） | MinIO（对象存储）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048250" y="3905250"/>
            <a:ext cx="6381750" cy="34290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226368" y="4019074"/>
            <a:ext cx="4783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↻ 双引擎降级：Dify主引擎 → 故障自动切换 → 本地Python引擎（127.0.0.1:8000）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048250" y="4429125"/>
            <a:ext cx="3095625" cy="666750"/>
          </a:xfrm>
          <a:prstGeom prst="roundRect">
            <a:avLst>
              <a:gd name="adj" fmla="val 11429"/>
            </a:avLst>
          </a:prstGeom>
          <a:solidFill>
            <a:srgbClr val="E3F2FD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5278438" y="4635500"/>
            <a:ext cx="111125" cy="158750"/>
            <a:chOff x="5278438" y="4635500"/>
            <a:chExt cx="111125" cy="158750"/>
          </a:xfrm>
        </p:grpSpPr>
        <p:sp>
          <p:nvSpPr>
            <p:cNvPr id="35" name="Freeform 35"/>
            <p:cNvSpPr/>
            <p:nvPr/>
          </p:nvSpPr>
          <p:spPr>
            <a:xfrm>
              <a:off x="5294312" y="463550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687" y="0"/>
                  </a:moveTo>
                  <a:cubicBezTo>
                    <a:pt x="61606" y="0"/>
                    <a:pt x="79375" y="17769"/>
                    <a:pt x="79375" y="39687"/>
                  </a:cubicBezTo>
                  <a:cubicBezTo>
                    <a:pt x="79375" y="61606"/>
                    <a:pt x="61606" y="79375"/>
                    <a:pt x="39687" y="79375"/>
                  </a:cubicBezTo>
                  <a:cubicBezTo>
                    <a:pt x="17769" y="79375"/>
                    <a:pt x="0" y="61606"/>
                    <a:pt x="0" y="39687"/>
                  </a:cubicBezTo>
                  <a:lnTo>
                    <a:pt x="40" y="37965"/>
                  </a:lnTo>
                  <a:cubicBezTo>
                    <a:pt x="962" y="16737"/>
                    <a:pt x="18439" y="1"/>
                    <a:pt x="39687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278438" y="4730750"/>
              <a:ext cx="111125" cy="63500"/>
            </a:xfrm>
            <a:custGeom>
              <a:avLst/>
              <a:gdLst/>
              <a:ahLst/>
              <a:cxnLst/>
              <a:rect l="l" t="t" r="r" b="b"/>
              <a:pathLst>
                <a:path w="111125" h="63500">
                  <a:moveTo>
                    <a:pt x="71438" y="0"/>
                  </a:moveTo>
                  <a:cubicBezTo>
                    <a:pt x="93356" y="0"/>
                    <a:pt x="111125" y="17769"/>
                    <a:pt x="111125" y="39687"/>
                  </a:cubicBezTo>
                  <a:lnTo>
                    <a:pt x="111125" y="47625"/>
                  </a:lnTo>
                  <a:cubicBezTo>
                    <a:pt x="111125" y="56393"/>
                    <a:pt x="104018" y="63500"/>
                    <a:pt x="95250" y="63500"/>
                  </a:cubicBezTo>
                  <a:lnTo>
                    <a:pt x="15875" y="63500"/>
                  </a:lnTo>
                  <a:cubicBezTo>
                    <a:pt x="7107" y="63500"/>
                    <a:pt x="0" y="56393"/>
                    <a:pt x="0" y="47625"/>
                  </a:cubicBezTo>
                  <a:lnTo>
                    <a:pt x="0" y="39687"/>
                  </a:lnTo>
                  <a:cubicBezTo>
                    <a:pt x="0" y="17769"/>
                    <a:pt x="17769" y="0"/>
                    <a:pt x="39688" y="0"/>
                  </a:cubicBezTo>
                  <a:lnTo>
                    <a:pt x="71438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5511165" y="4649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4022" y="486394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课件管理 · 脚本编辑 · 发布授课 · 学情分析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34375" y="4429125"/>
            <a:ext cx="3095625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8564562" y="4635500"/>
            <a:ext cx="111125" cy="158750"/>
            <a:chOff x="8564562" y="4635500"/>
            <a:chExt cx="111125" cy="158750"/>
          </a:xfrm>
        </p:grpSpPr>
        <p:sp>
          <p:nvSpPr>
            <p:cNvPr id="41" name="Freeform 41"/>
            <p:cNvSpPr/>
            <p:nvPr/>
          </p:nvSpPr>
          <p:spPr>
            <a:xfrm>
              <a:off x="8580438" y="463550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687" y="0"/>
                  </a:moveTo>
                  <a:cubicBezTo>
                    <a:pt x="61606" y="0"/>
                    <a:pt x="79375" y="17769"/>
                    <a:pt x="79375" y="39687"/>
                  </a:cubicBezTo>
                  <a:cubicBezTo>
                    <a:pt x="79375" y="61606"/>
                    <a:pt x="61606" y="79375"/>
                    <a:pt x="39687" y="79375"/>
                  </a:cubicBezTo>
                  <a:cubicBezTo>
                    <a:pt x="17769" y="79375"/>
                    <a:pt x="0" y="61606"/>
                    <a:pt x="0" y="39687"/>
                  </a:cubicBezTo>
                  <a:lnTo>
                    <a:pt x="40" y="37965"/>
                  </a:lnTo>
                  <a:cubicBezTo>
                    <a:pt x="962" y="16737"/>
                    <a:pt x="18439" y="1"/>
                    <a:pt x="39687" y="0"/>
                  </a:cubicBez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564562" y="4730750"/>
              <a:ext cx="111125" cy="63500"/>
            </a:xfrm>
            <a:custGeom>
              <a:avLst/>
              <a:gdLst/>
              <a:ahLst/>
              <a:cxnLst/>
              <a:rect l="l" t="t" r="r" b="b"/>
              <a:pathLst>
                <a:path w="111125" h="63500">
                  <a:moveTo>
                    <a:pt x="71438" y="0"/>
                  </a:moveTo>
                  <a:cubicBezTo>
                    <a:pt x="93356" y="0"/>
                    <a:pt x="111125" y="17769"/>
                    <a:pt x="111125" y="39687"/>
                  </a:cubicBezTo>
                  <a:lnTo>
                    <a:pt x="111125" y="47625"/>
                  </a:lnTo>
                  <a:cubicBezTo>
                    <a:pt x="111125" y="56393"/>
                    <a:pt x="104018" y="63500"/>
                    <a:pt x="95250" y="63500"/>
                  </a:cubicBezTo>
                  <a:lnTo>
                    <a:pt x="15875" y="63500"/>
                  </a:lnTo>
                  <a:cubicBezTo>
                    <a:pt x="7107" y="63500"/>
                    <a:pt x="0" y="56393"/>
                    <a:pt x="0" y="47625"/>
                  </a:cubicBezTo>
                  <a:lnTo>
                    <a:pt x="0" y="39687"/>
                  </a:lnTo>
                  <a:cubicBezTo>
                    <a:pt x="0" y="17769"/>
                    <a:pt x="17769" y="0"/>
                    <a:pt x="39688" y="0"/>
                  </a:cubicBezTo>
                  <a:lnTo>
                    <a:pt x="71438" y="0"/>
                  </a:ln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8797290" y="4649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00148" y="4863941"/>
            <a:ext cx="23807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课程学习 · 上下文问答 · 断点续学 · 掌握度分析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FFF3E0"/>
            </a:solidFill>
            <a:ln w="14288">
              <a:solidFill>
                <a:srgbClr val="FF6F0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FFF3E0"/>
            </a:solidFill>
            <a:ln w="14288">
              <a:solidFill>
                <a:srgbClr val="FF6F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FFF3E0"/>
            </a:solidFill>
            <a:ln w="14288">
              <a:solidFill>
                <a:srgbClr val="FF6F0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4288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CA3AF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FF6F0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565C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565C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186541" y="15792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👨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282041" y="15792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👦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87600" y="15792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🔗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FF6F0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FF8F0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FF8F0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FF8F0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8F0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FF8F0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756359" y="3911441"/>
            <a:ext cx="14417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降级引擎：Python本地服务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25678" y="4642009"/>
            <a:ext cx="66522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127.0.0.1:8000</a:t>
            </a:r>
          </a:p>
        </p:txBody>
      </p:sp>
      <p:sp>
        <p:nvSpPr>
          <p:cNvPr id="64" name="Line 64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5" name="Rectangle 65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9" name="Group 69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6" name="Freeform 66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70" name="TextBox 70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1" name="Rectangle 71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FF6F0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Python引擎（127.0.0.1:8000），切换对用户透明。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84382" y="6379845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先节点化，再问答，最后续接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7547" y="2349341"/>
              <a:ext cx="16216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约束：JSON Schema strict模式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09318" y="2349341"/>
              <a:ext cx="12971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约束：node_id唯一性校验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71881" y="2177891"/>
              <a:ext cx="22872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输出：scripts[{node_id, segments[...]}]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79363" y="4579620"/>
              <a:ext cx="1337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前置依赖 prerequisites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FF6F0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2593" y="4579620"/>
              <a:ext cx="16490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segment_id + text + node_id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98365" y="4579620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segment_type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69608" y="5008245"/>
              <a:ext cx="14150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estimated_seconds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0F4F8"/>
            </a:solidFill>
            <a:ln w="14288">
              <a:solidFill>
                <a:srgbClr val="9CA3A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E3F2FD"/>
            </a:solidFill>
            <a:ln w="14288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CA3AF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4288">
              <a:solidFill>
                <a:srgbClr val="10B98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FF6F0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C62828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F8E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6F0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2E7D32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赛题对标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三大模块全覆盖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grpSp>
        <p:nvGrpSpPr>
          <p:cNvPr id="67" name="Group 67"/>
          <p:cNvGrpSpPr/>
          <p:nvPr/>
        </p:nvGrpSpPr>
        <p:grpSpPr>
          <a:xfrm>
            <a:off x="571500" y="1333500"/>
            <a:ext cx="11049000" cy="4619625"/>
            <a:chOff x="571500" y="1333500"/>
            <a:chExt cx="11049000" cy="4619625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2667000" cy="419100"/>
            </a:xfrm>
            <a:prstGeom prst="roundRect">
              <a:avLst>
                <a:gd name="adj" fmla="val 18182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67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333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98864" y="14692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项目实现（机制描述）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0" y="1333500"/>
              <a:ext cx="2857500" cy="419100"/>
            </a:xfrm>
            <a:prstGeom prst="roundRect">
              <a:avLst>
                <a:gd name="adj" fmla="val 18182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242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对应算法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857375"/>
              <a:ext cx="2667000" cy="13335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93749" y="2206625"/>
              <a:ext cx="127001" cy="158751"/>
              <a:chOff x="793749" y="2206625"/>
              <a:chExt cx="127001" cy="158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3749" y="2206625"/>
                <a:ext cx="127001" cy="158751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58751">
                    <a:moveTo>
                      <a:pt x="63501" y="0"/>
                    </a:moveTo>
                    <a:lnTo>
                      <a:pt x="64429" y="56"/>
                    </a:lnTo>
                    <a:cubicBezTo>
                      <a:pt x="68077" y="486"/>
                      <a:pt x="70953" y="3362"/>
                      <a:pt x="71383" y="7009"/>
                    </a:cubicBezTo>
                    <a:lnTo>
                      <a:pt x="71438" y="7938"/>
                    </a:lnTo>
                    <a:lnTo>
                      <a:pt x="71438" y="39688"/>
                    </a:lnTo>
                    <a:lnTo>
                      <a:pt x="71478" y="40878"/>
                    </a:lnTo>
                    <a:cubicBezTo>
                      <a:pt x="72065" y="48688"/>
                      <a:pt x="78259" y="54903"/>
                      <a:pt x="86067" y="55515"/>
                    </a:cubicBezTo>
                    <a:lnTo>
                      <a:pt x="87313" y="55563"/>
                    </a:lnTo>
                    <a:lnTo>
                      <a:pt x="119063" y="55563"/>
                    </a:lnTo>
                    <a:lnTo>
                      <a:pt x="119992" y="55618"/>
                    </a:lnTo>
                    <a:cubicBezTo>
                      <a:pt x="123639" y="56048"/>
                      <a:pt x="126515" y="58924"/>
                      <a:pt x="126945" y="62571"/>
                    </a:cubicBezTo>
                    <a:lnTo>
                      <a:pt x="127001" y="63500"/>
                    </a:lnTo>
                    <a:lnTo>
                      <a:pt x="127001" y="134938"/>
                    </a:lnTo>
                    <a:cubicBezTo>
                      <a:pt x="127001" y="147547"/>
                      <a:pt x="117173" y="157971"/>
                      <a:pt x="104585" y="158710"/>
                    </a:cubicBezTo>
                    <a:lnTo>
                      <a:pt x="103188" y="158750"/>
                    </a:lnTo>
                    <a:lnTo>
                      <a:pt x="23813" y="158750"/>
                    </a:lnTo>
                    <a:cubicBezTo>
                      <a:pt x="11204" y="158751"/>
                      <a:pt x="780" y="148922"/>
                      <a:pt x="40" y="136334"/>
                    </a:cubicBezTo>
                    <a:lnTo>
                      <a:pt x="1" y="134938"/>
                    </a:lnTo>
                    <a:lnTo>
                      <a:pt x="1" y="23812"/>
                    </a:lnTo>
                    <a:cubicBezTo>
                      <a:pt x="0" y="11203"/>
                      <a:pt x="9829" y="779"/>
                      <a:pt x="22416" y="40"/>
                    </a:cubicBezTo>
                    <a:lnTo>
                      <a:pt x="23813" y="0"/>
                    </a:lnTo>
                    <a:close/>
                    <a:moveTo>
                      <a:pt x="87313" y="111125"/>
                    </a:moveTo>
                    <a:lnTo>
                      <a:pt x="39688" y="111125"/>
                    </a:lnTo>
                    <a:cubicBezTo>
                      <a:pt x="35304" y="111125"/>
                      <a:pt x="31751" y="114679"/>
                      <a:pt x="31751" y="119062"/>
                    </a:cubicBezTo>
                    <a:cubicBezTo>
                      <a:pt x="31751" y="123446"/>
                      <a:pt x="35304" y="127000"/>
                      <a:pt x="39688" y="127000"/>
                    </a:cubicBezTo>
                    <a:lnTo>
                      <a:pt x="87313" y="127000"/>
                    </a:lnTo>
                    <a:cubicBezTo>
                      <a:pt x="91697" y="127000"/>
                      <a:pt x="95251" y="123446"/>
                      <a:pt x="95251" y="119062"/>
                    </a:cubicBezTo>
                    <a:cubicBezTo>
                      <a:pt x="95251" y="114679"/>
                      <a:pt x="91697" y="111125"/>
                      <a:pt x="87313" y="111125"/>
                    </a:cubicBezTo>
                    <a:moveTo>
                      <a:pt x="87313" y="79375"/>
                    </a:moveTo>
                    <a:lnTo>
                      <a:pt x="39688" y="79375"/>
                    </a:lnTo>
                    <a:cubicBezTo>
                      <a:pt x="35304" y="79375"/>
                      <a:pt x="31751" y="82929"/>
                      <a:pt x="31751" y="87313"/>
                    </a:cubicBezTo>
                    <a:cubicBezTo>
                      <a:pt x="31751" y="91696"/>
                      <a:pt x="35304" y="95250"/>
                      <a:pt x="39688" y="95250"/>
                    </a:cubicBezTo>
                    <a:lnTo>
                      <a:pt x="87313" y="95250"/>
                    </a:lnTo>
                    <a:cubicBezTo>
                      <a:pt x="91697" y="95250"/>
                      <a:pt x="95251" y="91696"/>
                      <a:pt x="95251" y="87313"/>
                    </a:cubicBezTo>
                    <a:cubicBezTo>
                      <a:pt x="95251" y="82929"/>
                      <a:pt x="91697" y="79375"/>
                      <a:pt x="87313" y="79375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1055" y="2214555"/>
                <a:ext cx="31758" cy="31758"/>
              </a:xfrm>
              <a:custGeom>
                <a:avLst/>
                <a:gdLst/>
                <a:ahLst/>
                <a:cxnLst/>
                <a:rect l="l" t="t" r="r" b="b"/>
                <a:pathLst>
                  <a:path w="31758" h="31758">
                    <a:moveTo>
                      <a:pt x="31758" y="31758"/>
                    </a:moveTo>
                    <a:lnTo>
                      <a:pt x="8" y="317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33462" y="221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272" y="24826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从课件上传到脚本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272" y="2673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生成全流程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185737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E5E7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17570" y="2045970"/>
              <a:ext cx="26331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三阶段解耦解析：Markdown理解→节点树构建→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2555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逐节点脚本生成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7570" y="2465070"/>
              <a:ext cx="2471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节点双重结构：知识图谱定义+脚本片段映射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7570" y="2674620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JSON Schema强制结构化输出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7570" y="2884170"/>
              <a:ext cx="1949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逐节点TTS语音合成+内容哈希缓存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1857375"/>
              <a:ext cx="2857500" cy="13335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43022" y="2054066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2286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0184" y="2366962"/>
              <a:ext cx="679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generator.py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3022" y="2577941"/>
              <a:ext cx="923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0" y="280987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62693" y="28908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schema.py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238500"/>
              <a:ext cx="2667000" cy="13335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7875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462" y="3593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实时问答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272" y="386381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基于课程知识约束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272" y="40543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的上下文问答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38500" y="3238500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17570" y="3427095"/>
              <a:ext cx="2177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三级级联上下文构建：节点→页面→全页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17570" y="363664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苏格拉底式引导：禁止直接给答案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17570" y="3846195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理解程度三态判定：none/partial/full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17570" y="40557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SSE三事件流式协议：token/sentence/final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63000" y="3238500"/>
              <a:ext cx="2857500" cy="13335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43022" y="343519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苏格拉底约束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53500" y="366712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2708" y="3748088"/>
              <a:ext cx="29408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qa.py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3022" y="3959066"/>
              <a:ext cx="6425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SSE流式协议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0" y="4191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5191" y="427196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619625"/>
              <a:ext cx="2667000" cy="13335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09624" y="4976416"/>
              <a:ext cx="119067" cy="143668"/>
            </a:xfrm>
            <a:custGeom>
              <a:avLst/>
              <a:gdLst/>
              <a:ahLst/>
              <a:cxnLst/>
              <a:rect l="l" t="t" r="r" b="b"/>
              <a:pathLst>
                <a:path w="119067" h="143668">
                  <a:moveTo>
                    <a:pt x="1" y="8334"/>
                  </a:moveTo>
                  <a:lnTo>
                    <a:pt x="1" y="135334"/>
                  </a:lnTo>
                  <a:cubicBezTo>
                    <a:pt x="0" y="138210"/>
                    <a:pt x="1555" y="140861"/>
                    <a:pt x="4065" y="142264"/>
                  </a:cubicBezTo>
                  <a:cubicBezTo>
                    <a:pt x="6575" y="143668"/>
                    <a:pt x="9648" y="143604"/>
                    <a:pt x="12098" y="142097"/>
                  </a:cubicBezTo>
                  <a:lnTo>
                    <a:pt x="115285" y="78597"/>
                  </a:lnTo>
                  <a:cubicBezTo>
                    <a:pt x="117635" y="77153"/>
                    <a:pt x="119067" y="74592"/>
                    <a:pt x="119067" y="71834"/>
                  </a:cubicBezTo>
                  <a:cubicBezTo>
                    <a:pt x="119067" y="69076"/>
                    <a:pt x="117635" y="66515"/>
                    <a:pt x="115285" y="65071"/>
                  </a:cubicBezTo>
                  <a:lnTo>
                    <a:pt x="12098" y="1571"/>
                  </a:lnTo>
                  <a:cubicBezTo>
                    <a:pt x="9648" y="64"/>
                    <a:pt x="6575" y="0"/>
                    <a:pt x="4065" y="1403"/>
                  </a:cubicBezTo>
                  <a:cubicBezTo>
                    <a:pt x="1555" y="2807"/>
                    <a:pt x="0" y="5458"/>
                    <a:pt x="1" y="833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3462" y="4974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进度续接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272" y="52449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打断后自动精确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5435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恢复学习进度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38500" y="461962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17570" y="4808220"/>
              <a:ext cx="1907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大模型综合语义判定（LLM优先）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7570" y="5017770"/>
              <a:ext cx="23091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关键词降级兜底（RETEACH_KEYWORDS）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17570" y="5227320"/>
              <a:ext cx="1997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节点级续接定位：node_id精确恢复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17570" y="5436870"/>
              <a:ext cx="2243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✔ 学习状态机驱动：讲授→问答→续接→回讲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0" y="4619625"/>
              <a:ext cx="2857500" cy="13335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43022" y="48163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5048250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92816" y="512921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3022" y="5340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掌握度模型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53500" y="5572125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20294" y="5653088"/>
              <a:ext cx="914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knowledge_map.go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096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565C0">
              <a:alpha val="3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4224338" y="6236970"/>
            <a:ext cx="3743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三大模块完整覆盖赛题要求，每个模块对应独立的算法实现和代码验证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CA3A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FF6F0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6B7280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/>
              </a:gs>
              <a:gs pos="50000">
                <a:srgbClr val="0D47A1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8F00"/>
                </a:solidFill>
                <a:latin typeface="Georgia"/>
                <a:ea typeface="KaiTi"/>
                <a:cs typeface="Georgia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FF6F00">
              <a:alpha val="20000"/>
            </a:srgbClr>
          </a:solidFill>
          <a:ln w="9525">
            <a:solidFill>
              <a:srgbClr val="FF6F0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FF6F0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
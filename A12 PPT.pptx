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一句话概括它要解决的问题：让静态课件不再只是被"播放"，而是能像一位真正的老师那样，会讲、会答、还会在被打断后接着往下讲。接下来的十几分钟，我会带大家看清楚它到底做了什么、怎么做到的，以及它对齐了赛题的哪些硬性要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先给大家一个整体印象。这一页是系统跑起来之后的真实形态：左边是按知识点组织的课件结构，中间是 AI 正在逐点讲授并配合语音，右侧是学生随时发起的提问。请大家记住三个关键动作——智化讲授、实时问答、进度续接，它们贯穿了我们整套方案，后面每一部分都会回到这三件事上。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要做这件事？今天的在线课件普遍存在三个痛点：内容是静态的，老师讲完就结束；学生有疑问只能自己消化，缺乏即时反馈；而一旦中途提问或离开，再回来就找不到刚才讲到哪了。这三点叠加,直接导致学习体验割裂、效率打折。我们的目标，就是把这三道裂缝补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这是系统的整体架构。从下往上看：最底层是泛雅平台与 AI 中台提供的基础能力；中间是我们自建的 OpenAPI 适配层，负责把底层能力封装成稳定接口；再往上是三大核心引擎——课件解析、智化讲授、互动问答；最顶层直接面向师生交互。这里请重点关注适配层，它让上层应用和底层模型彻底解耦，是整套系统能轻量演进的关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"解决方案"部分。我们把用户的完整旅程拆成了一条清晰的主线：上传课件、自动解析、生成讲稿、开始智化讲授、随时提问、自动续接。这一页是一张地图，帮助大家在后面的细节里始终知道自己站在哪一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第一步是课件上传与智化。教师只需上传 PPT 或 PDF，系统就会自动完成解析、结构化和讲稿生成，整个过程无需人工逐页处理。我们强调的是"零门槛接入"——老师手里现成的课件，不用改造就能直接用。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授环节的核心是"按教学节点逐点推进"。系统不会把整页文字一股脑念出来，而是拆成一个个教学节点，配合语音逐点讲解。这样做的好处是：讲授有清晰的进度游标，学生提问时我们能精确定位到"刚才讲到哪个节点"，这也是后面进度续接能实现的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完整的场景体验串起来给大家看：从学生听讲、到中途提问、到系统判断理解程度、再到自动决定是续讲、补充还是重讲，最后无缝回到讲授主线。请注意，这是一条闭环——交互的结果会反过来影响讲授的走向，而不是各走各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从这里开始进入"系统实现"。这一页是技术栈与数据流的总览：前端交互、后端编排、解析与问答两大算法管道，以及它们之间流动的数据。后面两页我会分别深入这两条算法管道，把最关键的技术细节讲清楚。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算法管道是多模态课件解析。它分四级：先把课件拆页渲染成高清图像；再用视觉语言模型识别标题、正文、图表和版面层级；接着做标准化校验、抽取知识点；最后让教师可视化预览确认。强调一点——我们提取的不只是文字，而是"教学逻辑"，最终产出是页级结构化内容加上一棵知识点层级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条管道是问答与续接。它的特点是"本页优先"：学生提问时，系统优先检索当前页和邻近上下文，生成带来源标注的答案。更关键的是输出的结构化字段——理解程度、是否重讲、续接节点和续接模式。正是这几个字段，驱动了下方三态续接策略：理解到位就续讲、部分理解就补充、没理解就回到原节点重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这一页直接回应赛题的硬指标。课件解析速度不超过两分钟一份，问答响应不超过五秒，知识点识别率不低于百分之八十，问答准确率不低于百分之八十五——四项全部达标。同时系统支持十路以上并发，可在 8 核 16G 的单机上轻量部署，大模型外部化、算力按需弹性扩展。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视角拉回赛题本身做个对照。赛题的三大模块——智课生成、实时问答、进度续接，我们逐项给出了对应的实现，并且全部覆盖。加上刚才那四项硬指标也都对齐，可以说这套系统是冲着赛题要求端到端打通的，没有遗漏的环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进入项目总结。先讲三个我们最自豪的创新点：一是结构化的讲授节点，让讲、答、续接共享同一个锚点；二是可驱动的问答，问答结果能直接推动学习进度；三是独立的 OpenAPI 适配层，便于轻量集成和能力扩展。同时我们也诚实地说明取舍和边界——大模型外部化换来了轻量与迭代速度，但 Dify 自托管的运维门槛、极端版面的解析鲁棒性，仍是我们要继续打磨的地方。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路线图。近期我们聚焦夯实可用性——提升解析鲁棒性、做大规模压测、增强教师编辑；中期迈向好用——学情画像、个性化推荐、多学科与多终端；远期走向规模化——自适应学习路径、校级部署和生态开放 API。从可用，到好用，再到规模化，这是我们清晰的三步走。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以上就是泛雅 AI 互动智课系统的全部介绍。我们希望做的事情其实很朴素：让每一页课件，都成为一位会讲、会答、会续接的 AI 老师。感谢各位评委的聆听，欢迎大家交流和试用，谢谢！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63E86"/>
                </a:gs>
                <a:gs pos="55000">
                  <a:srgbClr val="3A3FA0"/>
                </a:gs>
                <a:gs pos="100000">
                  <a:srgbClr val="5B3FB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7B3A3">
                    <a:alpha val="32000"/>
                  </a:srgbClr>
                </a:gs>
                <a:gs pos="100000">
                  <a:srgbClr val="17B3A3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85750" y="285750"/>
            <a:ext cx="11430000" cy="6953250"/>
            <a:chOff x="285750" y="285750"/>
            <a:chExt cx="11430000" cy="6953250"/>
          </a:xfrm>
        </p:grpSpPr>
        <p:sp>
          <p:nvSpPr>
            <p:cNvPr id="5" name="Ellipse 5"/>
            <p:cNvSpPr/>
            <p:nvPr/>
          </p:nvSpPr>
          <p:spPr>
            <a:xfrm>
              <a:off x="7524750" y="285750"/>
              <a:ext cx="4191000" cy="4191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96250" y="857250"/>
              <a:ext cx="3048000" cy="3048000"/>
            </a:xfrm>
            <a:prstGeom prst="ellipse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667750" y="1428750"/>
              <a:ext cx="1905000" cy="19050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85750" y="4953000"/>
              <a:ext cx="2286000" cy="2286000"/>
            </a:xfrm>
            <a:prstGeom prst="ellipse">
              <a:avLst/>
            </a:prstGeom>
            <a:solidFill>
              <a:srgbClr val="7B5BE0">
                <a:alpha val="18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353425" y="5114925"/>
              <a:ext cx="1276350" cy="666750"/>
              <a:chOff x="8353425" y="5114925"/>
              <a:chExt cx="1276350" cy="6667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3534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6582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89630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92678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572625" y="51149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83534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86582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89630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2678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9572625" y="54197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3534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86582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89630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92678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9572625" y="5724525"/>
                <a:ext cx="57150" cy="5715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</p:grpSp>
      </p:grpSp>
      <p:grpSp>
        <p:nvGrpSpPr>
          <p:cNvPr id="29" name="Group 29"/>
          <p:cNvGrpSpPr/>
          <p:nvPr/>
        </p:nvGrpSpPr>
        <p:grpSpPr>
          <a:xfrm>
            <a:off x="609600" y="552450"/>
            <a:ext cx="1851562" cy="461962"/>
            <a:chOff x="609600" y="552450"/>
            <a:chExt cx="1851562" cy="461962"/>
          </a:xfrm>
        </p:grpSpPr>
        <p:sp>
          <p:nvSpPr>
            <p:cNvPr id="26" name="Rectangle 26"/>
            <p:cNvSpPr/>
            <p:nvPr/>
          </p:nvSpPr>
          <p:spPr>
            <a:xfrm>
              <a:off x="609600" y="552450"/>
              <a:ext cx="457200" cy="457200"/>
            </a:xfrm>
            <a:prstGeom prst="roundRect">
              <a:avLst>
                <a:gd name="adj" fmla="val 27083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04850" y="64770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150019" y="0"/>
                  </a:moveTo>
                  <a:lnTo>
                    <a:pt x="150019" y="33338"/>
                  </a:lnTo>
                  <a:lnTo>
                    <a:pt x="216694" y="33338"/>
                  </a:lnTo>
                  <a:lnTo>
                    <a:pt x="266700" y="141684"/>
                  </a:lnTo>
                  <a:lnTo>
                    <a:pt x="216694" y="250031"/>
                  </a:lnTo>
                  <a:lnTo>
                    <a:pt x="50006" y="250031"/>
                  </a:lnTo>
                  <a:lnTo>
                    <a:pt x="0" y="141684"/>
                  </a:lnTo>
                  <a:lnTo>
                    <a:pt x="50006" y="33338"/>
                  </a:lnTo>
                  <a:lnTo>
                    <a:pt x="116681" y="33338"/>
                  </a:lnTo>
                  <a:lnTo>
                    <a:pt x="116681" y="0"/>
                  </a:lnTo>
                  <a:lnTo>
                    <a:pt x="150019" y="0"/>
                  </a:lnTo>
                  <a:close/>
                  <a:moveTo>
                    <a:pt x="76642" y="195664"/>
                  </a:moveTo>
                  <a:lnTo>
                    <a:pt x="133350" y="204389"/>
                  </a:lnTo>
                  <a:lnTo>
                    <a:pt x="190059" y="195664"/>
                  </a:lnTo>
                  <a:lnTo>
                    <a:pt x="184988" y="162714"/>
                  </a:lnTo>
                  <a:lnTo>
                    <a:pt x="133350" y="170658"/>
                  </a:lnTo>
                  <a:lnTo>
                    <a:pt x="81711" y="162714"/>
                  </a:lnTo>
                  <a:lnTo>
                    <a:pt x="76642" y="195664"/>
                  </a:lnTo>
                  <a:close/>
                  <a:moveTo>
                    <a:pt x="116681" y="112514"/>
                  </a:moveTo>
                  <a:cubicBezTo>
                    <a:pt x="116681" y="124022"/>
                    <a:pt x="107353" y="133350"/>
                    <a:pt x="95845" y="133350"/>
                  </a:cubicBezTo>
                  <a:cubicBezTo>
                    <a:pt x="84338" y="133350"/>
                    <a:pt x="75009" y="124022"/>
                    <a:pt x="75009" y="112514"/>
                  </a:cubicBezTo>
                  <a:cubicBezTo>
                    <a:pt x="75009" y="101007"/>
                    <a:pt x="84338" y="91678"/>
                    <a:pt x="95845" y="91678"/>
                  </a:cubicBezTo>
                  <a:cubicBezTo>
                    <a:pt x="107353" y="91678"/>
                    <a:pt x="116681" y="101007"/>
                    <a:pt x="116681" y="112514"/>
                  </a:cubicBezTo>
                  <a:close/>
                  <a:moveTo>
                    <a:pt x="170855" y="133350"/>
                  </a:moveTo>
                  <a:cubicBezTo>
                    <a:pt x="182363" y="133350"/>
                    <a:pt x="191691" y="124022"/>
                    <a:pt x="191691" y="112514"/>
                  </a:cubicBezTo>
                  <a:cubicBezTo>
                    <a:pt x="191691" y="101007"/>
                    <a:pt x="182363" y="91678"/>
                    <a:pt x="170855" y="91678"/>
                  </a:cubicBezTo>
                  <a:cubicBezTo>
                    <a:pt x="159347" y="91678"/>
                    <a:pt x="150019" y="101007"/>
                    <a:pt x="150019" y="112514"/>
                  </a:cubicBezTo>
                  <a:cubicBezTo>
                    <a:pt x="150019" y="124022"/>
                    <a:pt x="159347" y="133350"/>
                    <a:pt x="170855" y="1333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60145" y="679132"/>
              <a:ext cx="1301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77300" y="1638300"/>
            <a:ext cx="1485900" cy="1485900"/>
            <a:chOff x="8877300" y="1638300"/>
            <a:chExt cx="1485900" cy="1485900"/>
          </a:xfrm>
        </p:grpSpPr>
        <p:sp>
          <p:nvSpPr>
            <p:cNvPr id="30" name="Ellipse 30"/>
            <p:cNvSpPr/>
            <p:nvPr/>
          </p:nvSpPr>
          <p:spPr>
            <a:xfrm>
              <a:off x="8877300" y="1638300"/>
              <a:ext cx="1485900" cy="14859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124950" y="1885950"/>
              <a:ext cx="990600" cy="928688"/>
            </a:xfrm>
            <a:custGeom>
              <a:avLst/>
              <a:gdLst/>
              <a:ahLst/>
              <a:cxnLst/>
              <a:rect l="l" t="t" r="r" b="b"/>
              <a:pathLst>
                <a:path w="990600" h="928688">
                  <a:moveTo>
                    <a:pt x="557212" y="0"/>
                  </a:moveTo>
                  <a:lnTo>
                    <a:pt x="557212" y="123825"/>
                  </a:lnTo>
                  <a:lnTo>
                    <a:pt x="804862" y="123825"/>
                  </a:lnTo>
                  <a:lnTo>
                    <a:pt x="990600" y="526256"/>
                  </a:lnTo>
                  <a:lnTo>
                    <a:pt x="804862" y="928688"/>
                  </a:lnTo>
                  <a:lnTo>
                    <a:pt x="185738" y="928688"/>
                  </a:lnTo>
                  <a:lnTo>
                    <a:pt x="0" y="526256"/>
                  </a:lnTo>
                  <a:lnTo>
                    <a:pt x="185738" y="123825"/>
                  </a:lnTo>
                  <a:lnTo>
                    <a:pt x="433388" y="123825"/>
                  </a:lnTo>
                  <a:lnTo>
                    <a:pt x="433388" y="0"/>
                  </a:lnTo>
                  <a:lnTo>
                    <a:pt x="557212" y="0"/>
                  </a:lnTo>
                  <a:close/>
                  <a:moveTo>
                    <a:pt x="284670" y="726754"/>
                  </a:moveTo>
                  <a:lnTo>
                    <a:pt x="495300" y="759159"/>
                  </a:lnTo>
                  <a:lnTo>
                    <a:pt x="705933" y="726754"/>
                  </a:lnTo>
                  <a:lnTo>
                    <a:pt x="687099" y="604367"/>
                  </a:lnTo>
                  <a:lnTo>
                    <a:pt x="495300" y="633873"/>
                  </a:lnTo>
                  <a:lnTo>
                    <a:pt x="303499" y="604367"/>
                  </a:lnTo>
                  <a:lnTo>
                    <a:pt x="284670" y="726754"/>
                  </a:lnTo>
                  <a:close/>
                  <a:moveTo>
                    <a:pt x="433388" y="417909"/>
                  </a:moveTo>
                  <a:cubicBezTo>
                    <a:pt x="433388" y="460651"/>
                    <a:pt x="398739" y="495300"/>
                    <a:pt x="355997" y="495300"/>
                  </a:cubicBezTo>
                  <a:cubicBezTo>
                    <a:pt x="313255" y="495300"/>
                    <a:pt x="278606" y="460651"/>
                    <a:pt x="278606" y="417909"/>
                  </a:cubicBezTo>
                  <a:cubicBezTo>
                    <a:pt x="278606" y="375167"/>
                    <a:pt x="313255" y="340519"/>
                    <a:pt x="355997" y="340519"/>
                  </a:cubicBezTo>
                  <a:cubicBezTo>
                    <a:pt x="398739" y="340519"/>
                    <a:pt x="433388" y="375167"/>
                    <a:pt x="433388" y="417909"/>
                  </a:cubicBezTo>
                  <a:close/>
                  <a:moveTo>
                    <a:pt x="634603" y="495300"/>
                  </a:moveTo>
                  <a:cubicBezTo>
                    <a:pt x="677348" y="495300"/>
                    <a:pt x="711994" y="460651"/>
                    <a:pt x="711994" y="417909"/>
                  </a:cubicBezTo>
                  <a:cubicBezTo>
                    <a:pt x="711994" y="375167"/>
                    <a:pt x="677348" y="340519"/>
                    <a:pt x="634603" y="340519"/>
                  </a:cubicBezTo>
                  <a:cubicBezTo>
                    <a:pt x="591861" y="340519"/>
                    <a:pt x="557212" y="375167"/>
                    <a:pt x="557212" y="417909"/>
                  </a:cubicBezTo>
                  <a:cubicBezTo>
                    <a:pt x="557212" y="460651"/>
                    <a:pt x="591861" y="495300"/>
                    <a:pt x="634603" y="495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27685" y="2381250"/>
            <a:ext cx="6675399" cy="2286000"/>
            <a:chOff x="527685" y="2381250"/>
            <a:chExt cx="6675399" cy="2286000"/>
          </a:xfrm>
        </p:grpSpPr>
        <p:sp>
          <p:nvSpPr>
            <p:cNvPr id="33" name="Rectangle 33"/>
            <p:cNvSpPr/>
            <p:nvPr/>
          </p:nvSpPr>
          <p:spPr>
            <a:xfrm>
              <a:off x="609600" y="2381250"/>
              <a:ext cx="2095500" cy="3619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4860" y="2489835"/>
              <a:ext cx="21895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FE0FF"/>
                  </a:solidFill>
                  <a:latin typeface="Arial"/>
                  <a:ea typeface="Microsoft YaHei"/>
                  <a:cs typeface="Arial"/>
                </a:rPr>
                <a:t>服创大赛 A12 · 智能计算赛道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7685" y="3199448"/>
              <a:ext cx="6675399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6740" y="4110990"/>
              <a:ext cx="59864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DEF5"/>
                  </a:solidFill>
                  <a:latin typeface="Arial"/>
                  <a:ea typeface="Microsoft YaHei"/>
                  <a:cs typeface="Arial"/>
                </a:rPr>
                <a:t>把静态课件变成</a:t>
              </a:r>
              <a:r>
                <a:rPr lang="zh-CN" sz="1800" b="1" dirty="0">
                  <a:solidFill>
                    <a:srgbClr val="7FE3D6"/>
                  </a:solidFill>
                  <a:latin typeface="Arial"/>
                  <a:ea typeface="Microsoft YaHei"/>
                  <a:cs typeface="Arial"/>
                </a:rPr>
                <a:t>可讲授 · 可问答 · 可续接</a:t>
              </a:r>
              <a:r>
                <a:rPr lang="zh-CN" sz="1800" dirty="0">
                  <a:solidFill>
                    <a:srgbClr val="D6DEF5"/>
                  </a:solidFill>
                  <a:latin typeface="Arial"/>
                  <a:ea typeface="Microsoft YaHei"/>
                  <a:cs typeface="Arial"/>
                </a:rPr>
                <a:t>的 AI 学习伙伴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6291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93408" y="5958364"/>
            <a:ext cx="3900368" cy="525780"/>
            <a:chOff x="593408" y="5958364"/>
            <a:chExt cx="3900368" cy="525780"/>
          </a:xfrm>
        </p:grpSpPr>
        <p:sp>
          <p:nvSpPr>
            <p:cNvPr id="39" name="TextBox 39"/>
            <p:cNvSpPr txBox="1"/>
            <p:nvPr/>
          </p:nvSpPr>
          <p:spPr>
            <a:xfrm>
              <a:off x="593408" y="5958364"/>
              <a:ext cx="39003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EB8DA"/>
                  </a:solidFill>
                  <a:latin typeface="Arial"/>
                  <a:ea typeface="Microsoft YaHei"/>
                  <a:cs typeface="Arial"/>
                </a:rPr>
                <a:t>命题企业 超星集团 · 应用场景 高校通识课自主学习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3408" y="6225064"/>
              <a:ext cx="15855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参赛团队 DeepCore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952500"/>
            <a:ext cx="7720822" cy="528638"/>
            <a:chOff x="609600" y="952500"/>
            <a:chExt cx="7720822" cy="528638"/>
          </a:xfrm>
        </p:grpSpPr>
        <p:sp>
          <p:nvSpPr>
            <p:cNvPr id="7" name="Rectangle 7"/>
            <p:cNvSpPr/>
            <p:nvPr/>
          </p:nvSpPr>
          <p:spPr>
            <a:xfrm>
              <a:off x="609600" y="9525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7715" y="962978"/>
              <a:ext cx="75627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一份课件，秒变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会讲课、能答疑、可续接</a:t>
              </a:r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的智课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7750" y="1714500"/>
            <a:ext cx="10096500" cy="1243012"/>
            <a:chOff x="1047750" y="1714500"/>
            <a:chExt cx="10096500" cy="1243012"/>
          </a:xfrm>
        </p:grpSpPr>
        <p:sp>
          <p:nvSpPr>
            <p:cNvPr id="10" name="Rectangle 10"/>
            <p:cNvSpPr/>
            <p:nvPr/>
          </p:nvSpPr>
          <p:spPr>
            <a:xfrm>
              <a:off x="1047750" y="1714500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43025" y="2057400"/>
              <a:ext cx="400050" cy="457200"/>
              <a:chOff x="1343025" y="2057400"/>
              <a:chExt cx="400050" cy="457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57325" y="2057400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171450" y="0"/>
                    </a:moveTo>
                    <a:lnTo>
                      <a:pt x="0" y="0"/>
                    </a:ln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114300"/>
                    </a:ln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43025" y="2171700"/>
                <a:ext cx="2857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285750" y="342900"/>
                    </a:lnTo>
                    <a:lnTo>
                      <a:pt x="285750" y="285750"/>
                    </a:lnTo>
                    <a:lnTo>
                      <a:pt x="57150" y="285750"/>
                    </a:lnTo>
                    <a:lnTo>
                      <a:pt x="571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941195" y="2012632"/>
              <a:ext cx="2132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静态 PPT / PDF 课件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6910" y="2366010"/>
              <a:ext cx="16546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可看不可讲 · 互动缺失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19650" y="2133600"/>
              <a:ext cx="857250" cy="457200"/>
            </a:xfrm>
            <a:custGeom>
              <a:avLst/>
              <a:gdLst/>
              <a:ahLst/>
              <a:cxnLst/>
              <a:rect l="l" t="t" r="r" b="b"/>
              <a:pathLst>
                <a:path w="857250" h="457200">
                  <a:moveTo>
                    <a:pt x="0" y="152400"/>
                  </a:moveTo>
                  <a:lnTo>
                    <a:pt x="476250" y="152400"/>
                  </a:lnTo>
                  <a:lnTo>
                    <a:pt x="476250" y="0"/>
                  </a:lnTo>
                  <a:lnTo>
                    <a:pt x="857250" y="228600"/>
                  </a:lnTo>
                  <a:lnTo>
                    <a:pt x="476250" y="457200"/>
                  </a:lnTo>
                  <a:lnTo>
                    <a:pt x="4762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03386" y="27441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B3A3"/>
                  </a:solidFill>
                  <a:latin typeface="Arial"/>
                  <a:ea typeface="Microsoft YaHei"/>
                  <a:cs typeface="Arial"/>
                </a:rPr>
                <a:t>AI 引擎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00750" y="1714500"/>
              <a:ext cx="5143500" cy="1143000"/>
            </a:xfrm>
            <a:prstGeom prst="roundRect">
              <a:avLst>
                <a:gd name="adj" fmla="val 11667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0" scaled="1"/>
            </a:gradFill>
            <a:ln>
              <a:noFill/>
            </a:ln>
            <a:effectLst>
              <a:outerShdw blurRad="152400" dist="47625" dir="5400000" algn="ctr" rotWithShape="0">
                <a:srgbClr val="1D2433">
                  <a:alpha val="6000"/>
                </a:srgbClr>
              </a:outerShdw>
            </a:effectLst>
          </p:spPr>
        </p:sp>
        <p:grpSp>
          <p:nvGrpSpPr>
            <p:cNvPr id="24" name="Group 24"/>
            <p:cNvGrpSpPr/>
            <p:nvPr/>
          </p:nvGrpSpPr>
          <p:grpSpPr>
            <a:xfrm>
              <a:off x="6286500" y="2057400"/>
              <a:ext cx="457200" cy="457200"/>
              <a:chOff x="6286500" y="2057400"/>
              <a:chExt cx="457200" cy="457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515100" y="2057400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85725"/>
                    </a:moveTo>
                    <a:lnTo>
                      <a:pt x="71438" y="71438"/>
                    </a:lnTo>
                    <a:lnTo>
                      <a:pt x="85725" y="0"/>
                    </a:lnTo>
                    <a:lnTo>
                      <a:pt x="114300" y="0"/>
                    </a:lnTo>
                    <a:lnTo>
                      <a:pt x="128588" y="71438"/>
                    </a:lnTo>
                    <a:lnTo>
                      <a:pt x="200025" y="85725"/>
                    </a:lnTo>
                    <a:lnTo>
                      <a:pt x="200025" y="114300"/>
                    </a:lnTo>
                    <a:lnTo>
                      <a:pt x="128588" y="128588"/>
                    </a:lnTo>
                    <a:lnTo>
                      <a:pt x="114300" y="200025"/>
                    </a:lnTo>
                    <a:lnTo>
                      <a:pt x="85725" y="200025"/>
                    </a:lnTo>
                    <a:lnTo>
                      <a:pt x="71438" y="128588"/>
                    </a:lnTo>
                    <a:lnTo>
                      <a:pt x="0" y="11430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86500" y="2200275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71450"/>
                    </a:moveTo>
                    <a:lnTo>
                      <a:pt x="0" y="142875"/>
                    </a:lnTo>
                    <a:lnTo>
                      <a:pt x="114300" y="114300"/>
                    </a:lnTo>
                    <a:lnTo>
                      <a:pt x="142875" y="0"/>
                    </a:lnTo>
                    <a:lnTo>
                      <a:pt x="171450" y="0"/>
                    </a:lnTo>
                    <a:lnTo>
                      <a:pt x="200025" y="114300"/>
                    </a:lnTo>
                    <a:lnTo>
                      <a:pt x="314325" y="142875"/>
                    </a:lnTo>
                    <a:lnTo>
                      <a:pt x="314325" y="171450"/>
                    </a:lnTo>
                    <a:lnTo>
                      <a:pt x="200025" y="200025"/>
                    </a:lnTo>
                    <a:lnTo>
                      <a:pt x="171450" y="314325"/>
                    </a:lnTo>
                    <a:lnTo>
                      <a:pt x="142875" y="314325"/>
                    </a:lnTo>
                    <a:lnTo>
                      <a:pt x="114300" y="200025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15075" y="20716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  <a:lnTo>
                      <a:pt x="42862" y="85725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00825" y="24003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lnTo>
                      <a:pt x="57150" y="0"/>
                    </a:lnTo>
                    <a:lnTo>
                      <a:pt x="0" y="57150"/>
                    </a:lnTo>
                    <a:lnTo>
                      <a:pt x="57150" y="114300"/>
                    </a:lnTo>
                    <a:lnTo>
                      <a:pt x="114300" y="571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86550" y="22860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892290" y="1996440"/>
              <a:ext cx="13436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互动智课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99910" y="2366010"/>
              <a:ext cx="26388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6FF"/>
                  </a:solidFill>
                  <a:latin typeface="Arial"/>
                  <a:ea typeface="Microsoft YaHei"/>
                  <a:cs typeface="Arial"/>
                </a:rPr>
                <a:t>结构化讲授 · 上下文问答 · 断点续学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7750" y="3219450"/>
            <a:ext cx="10096500" cy="666750"/>
            <a:chOff x="1047750" y="3219450"/>
            <a:chExt cx="10096500" cy="666750"/>
          </a:xfrm>
        </p:grpSpPr>
        <p:sp>
          <p:nvSpPr>
            <p:cNvPr id="28" name="Rectangle 28"/>
            <p:cNvSpPr/>
            <p:nvPr/>
          </p:nvSpPr>
          <p:spPr>
            <a:xfrm>
              <a:off x="1047750" y="3219450"/>
              <a:ext cx="10096500" cy="666750"/>
            </a:xfrm>
            <a:prstGeom prst="roundRect">
              <a:avLst>
                <a:gd name="adj" fmla="val 20000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02068" y="3399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五环闭环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488758" y="3596164"/>
              <a:ext cx="8899874" cy="259080"/>
              <a:chOff x="1488758" y="3596164"/>
              <a:chExt cx="8899874" cy="25908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14887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课件解析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8222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1270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内容重构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605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7653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智能讲授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988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036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实时问答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73715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9AA3B5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419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进度续接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394508" y="3596164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B3A3"/>
                    </a:solidFill>
                    <a:latin typeface="Arial"/>
                    <a:ea typeface="Microsoft YaHei"/>
                    <a:cs typeface="Arial"/>
                  </a:rPr>
                  <a:t>↺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42158" y="35961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B3A3"/>
                    </a:solidFill>
                    <a:latin typeface="Arial"/>
                    <a:ea typeface="Microsoft YaHei"/>
                    <a:cs typeface="Arial"/>
                  </a:rPr>
                  <a:t>学情反馈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4305300"/>
            <a:ext cx="3181350" cy="1905000"/>
            <a:chOff x="1047750" y="4305300"/>
            <a:chExt cx="3181350" cy="1905000"/>
          </a:xfrm>
        </p:grpSpPr>
        <p:sp>
          <p:nvSpPr>
            <p:cNvPr id="43" name="Rectangle 43"/>
            <p:cNvSpPr/>
            <p:nvPr/>
          </p:nvSpPr>
          <p:spPr>
            <a:xfrm>
              <a:off x="1047750" y="4305300"/>
              <a:ext cx="318135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4305300"/>
              <a:ext cx="318135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314450" y="4681538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209550" y="0"/>
                  </a:moveTo>
                  <a:cubicBezTo>
                    <a:pt x="267415" y="0"/>
                    <a:pt x="314325" y="46909"/>
                    <a:pt x="314325" y="104775"/>
                  </a:cubicBezTo>
                  <a:lnTo>
                    <a:pt x="314325" y="130969"/>
                  </a:lnTo>
                  <a:cubicBezTo>
                    <a:pt x="372190" y="130969"/>
                    <a:pt x="419100" y="177878"/>
                    <a:pt x="419100" y="235744"/>
                  </a:cubicBezTo>
                  <a:lnTo>
                    <a:pt x="419100" y="314325"/>
                  </a:lnTo>
                  <a:lnTo>
                    <a:pt x="235744" y="314325"/>
                  </a:lnTo>
                  <a:lnTo>
                    <a:pt x="288131" y="261938"/>
                  </a:lnTo>
                  <a:lnTo>
                    <a:pt x="288131" y="235744"/>
                  </a:lnTo>
                  <a:lnTo>
                    <a:pt x="235744" y="235744"/>
                  </a:lnTo>
                  <a:lnTo>
                    <a:pt x="235744" y="157162"/>
                  </a:lnTo>
                  <a:lnTo>
                    <a:pt x="183356" y="157162"/>
                  </a:lnTo>
                  <a:lnTo>
                    <a:pt x="183356" y="235744"/>
                  </a:lnTo>
                  <a:lnTo>
                    <a:pt x="130969" y="235744"/>
                  </a:lnTo>
                  <a:lnTo>
                    <a:pt x="130969" y="261938"/>
                  </a:lnTo>
                  <a:lnTo>
                    <a:pt x="183356" y="314325"/>
                  </a:lnTo>
                  <a:lnTo>
                    <a:pt x="0" y="314325"/>
                  </a:lnTo>
                  <a:lnTo>
                    <a:pt x="0" y="209550"/>
                  </a:lnTo>
                  <a:cubicBezTo>
                    <a:pt x="0" y="151684"/>
                    <a:pt x="46909" y="104775"/>
                    <a:pt x="104775" y="104775"/>
                  </a:cubicBezTo>
                  <a:cubicBezTo>
                    <a:pt x="104775" y="46909"/>
                    <a:pt x="151684" y="0"/>
                    <a:pt x="209550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93495" y="5270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上传即生成讲稿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99210" y="56426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教师上传课件，自动解析并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99210" y="5871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输出结构化教学节点脚本。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495800" y="4305300"/>
            <a:ext cx="3181350" cy="1905000"/>
            <a:chOff x="4495800" y="4305300"/>
            <a:chExt cx="3181350" cy="1905000"/>
          </a:xfrm>
        </p:grpSpPr>
        <p:sp>
          <p:nvSpPr>
            <p:cNvPr id="50" name="Rectangle 50"/>
            <p:cNvSpPr/>
            <p:nvPr/>
          </p:nvSpPr>
          <p:spPr>
            <a:xfrm>
              <a:off x="4495800" y="4305300"/>
              <a:ext cx="318135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495800" y="4305300"/>
              <a:ext cx="318135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4814888" y="4629150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183356" y="183356"/>
                  </a:moveTo>
                  <a:lnTo>
                    <a:pt x="209550" y="0"/>
                  </a:lnTo>
                  <a:lnTo>
                    <a:pt x="157162" y="0"/>
                  </a:lnTo>
                  <a:lnTo>
                    <a:pt x="0" y="183356"/>
                  </a:lnTo>
                  <a:lnTo>
                    <a:pt x="0" y="235744"/>
                  </a:lnTo>
                  <a:lnTo>
                    <a:pt x="130969" y="235744"/>
                  </a:lnTo>
                  <a:lnTo>
                    <a:pt x="104775" y="419100"/>
                  </a:lnTo>
                  <a:lnTo>
                    <a:pt x="157162" y="419100"/>
                  </a:lnTo>
                  <a:lnTo>
                    <a:pt x="314325" y="235744"/>
                  </a:lnTo>
                  <a:lnTo>
                    <a:pt x="314325" y="183356"/>
                  </a:lnTo>
                  <a:lnTo>
                    <a:pt x="183356" y="183356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41545" y="52701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问答秒级响应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47260" y="5642610"/>
              <a:ext cx="19907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流式 SSE 输出，结合当前页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7260" y="58712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上下文，回答可溯源。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43850" y="4305300"/>
            <a:ext cx="3200400" cy="1905000"/>
            <a:chOff x="7943850" y="4305300"/>
            <a:chExt cx="32004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7943850" y="4305300"/>
              <a:ext cx="320040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943850" y="4305300"/>
              <a:ext cx="3200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236744" y="4655344"/>
              <a:ext cx="366712" cy="366712"/>
              <a:chOff x="8236744" y="4655344"/>
              <a:chExt cx="366712" cy="36671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236744" y="4655344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52388"/>
                    </a:moveTo>
                    <a:cubicBezTo>
                      <a:pt x="104775" y="81320"/>
                      <a:pt x="81320" y="104775"/>
                      <a:pt x="52388" y="104775"/>
                    </a:cubicBezTo>
                    <a:cubicBezTo>
                      <a:pt x="23455" y="104775"/>
                      <a:pt x="0" y="81320"/>
                      <a:pt x="0" y="52388"/>
                    </a:cubicBezTo>
                    <a:cubicBezTo>
                      <a:pt x="0" y="23455"/>
                      <a:pt x="23455" y="0"/>
                      <a:pt x="52388" y="0"/>
                    </a:cubicBezTo>
                    <a:cubicBezTo>
                      <a:pt x="81320" y="0"/>
                      <a:pt x="104775" y="23455"/>
                      <a:pt x="104775" y="52388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98681" y="4917281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52388"/>
                    </a:moveTo>
                    <a:cubicBezTo>
                      <a:pt x="104775" y="81321"/>
                      <a:pt x="81321" y="104775"/>
                      <a:pt x="52388" y="104775"/>
                    </a:cubicBezTo>
                    <a:cubicBezTo>
                      <a:pt x="23454" y="104775"/>
                      <a:pt x="0" y="81321"/>
                      <a:pt x="0" y="52388"/>
                    </a:cubicBezTo>
                    <a:cubicBezTo>
                      <a:pt x="0" y="23454"/>
                      <a:pt x="23454" y="0"/>
                      <a:pt x="52388" y="0"/>
                    </a:cubicBezTo>
                    <a:cubicBezTo>
                      <a:pt x="81321" y="0"/>
                      <a:pt x="104775" y="23454"/>
                      <a:pt x="104775" y="52388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62938" y="4655344"/>
                <a:ext cx="31432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66712">
                    <a:moveTo>
                      <a:pt x="183356" y="91678"/>
                    </a:moveTo>
                    <a:cubicBezTo>
                      <a:pt x="183356" y="69978"/>
                      <a:pt x="200947" y="52388"/>
                      <a:pt x="222647" y="52388"/>
                    </a:cubicBezTo>
                    <a:cubicBezTo>
                      <a:pt x="244346" y="52388"/>
                      <a:pt x="261938" y="69978"/>
                      <a:pt x="261938" y="91678"/>
                    </a:cubicBezTo>
                    <a:lnTo>
                      <a:pt x="261938" y="209550"/>
                    </a:lnTo>
                    <a:lnTo>
                      <a:pt x="314325" y="209550"/>
                    </a:lnTo>
                    <a:lnTo>
                      <a:pt x="314325" y="91678"/>
                    </a:lnTo>
                    <a:cubicBezTo>
                      <a:pt x="314325" y="41046"/>
                      <a:pt x="273279" y="0"/>
                      <a:pt x="222647" y="0"/>
                    </a:cubicBezTo>
                    <a:cubicBezTo>
                      <a:pt x="172014" y="0"/>
                      <a:pt x="130969" y="41046"/>
                      <a:pt x="130969" y="91678"/>
                    </a:cubicBezTo>
                    <a:lnTo>
                      <a:pt x="130969" y="275034"/>
                    </a:lnTo>
                    <a:cubicBezTo>
                      <a:pt x="130969" y="296733"/>
                      <a:pt x="113378" y="314325"/>
                      <a:pt x="91678" y="314325"/>
                    </a:cubicBezTo>
                    <a:cubicBezTo>
                      <a:pt x="69978" y="314325"/>
                      <a:pt x="52388" y="296733"/>
                      <a:pt x="52388" y="275034"/>
                    </a:cubicBezTo>
                    <a:lnTo>
                      <a:pt x="52388" y="157162"/>
                    </a:lnTo>
                    <a:lnTo>
                      <a:pt x="0" y="157162"/>
                    </a:lnTo>
                    <a:lnTo>
                      <a:pt x="0" y="275034"/>
                    </a:lnTo>
                    <a:cubicBezTo>
                      <a:pt x="0" y="325667"/>
                      <a:pt x="41046" y="366712"/>
                      <a:pt x="91678" y="366712"/>
                    </a:cubicBezTo>
                    <a:cubicBezTo>
                      <a:pt x="142311" y="366712"/>
                      <a:pt x="183356" y="325667"/>
                      <a:pt x="183356" y="275034"/>
                    </a:cubicBezTo>
                    <a:lnTo>
                      <a:pt x="183356" y="91678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189595" y="5270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打断后自动续接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95310" y="56426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判断理解程度，定位原节点，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95310" y="58712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续讲或重讲，进度不丢。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67" name="TextBox 67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42" grpId="0"/>
      <p:bldP spid="49" grpId="0"/>
      <p:bldP spid="56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17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5971303" cy="528638"/>
            <a:chOff x="609600" y="1104900"/>
            <a:chExt cx="5971303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581318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泛雅沉淀海量课件，却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"可看不可讲"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1962150"/>
            <a:ext cx="4191000" cy="4000500"/>
            <a:chOff x="609600" y="1962150"/>
            <a:chExt cx="4191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609600" y="1962150"/>
              <a:ext cx="4191000" cy="4000500"/>
            </a:xfrm>
            <a:prstGeom prst="roundRect">
              <a:avLst>
                <a:gd name="adj" fmla="val 4286"/>
              </a:avLst>
            </a:prstGeom>
            <a:gradFill>
              <a:gsLst>
                <a:gs pos="0">
                  <a:srgbClr val="163E86"/>
                </a:gs>
                <a:gs pos="100000">
                  <a:srgbClr val="5B3FB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52500" y="2471738"/>
              <a:ext cx="571500" cy="464344"/>
            </a:xfrm>
            <a:custGeom>
              <a:avLst/>
              <a:gdLst/>
              <a:ahLst/>
              <a:cxnLst/>
              <a:rect l="l" t="t" r="r" b="b"/>
              <a:pathLst>
                <a:path w="571500" h="464344">
                  <a:moveTo>
                    <a:pt x="0" y="0"/>
                  </a:moveTo>
                  <a:lnTo>
                    <a:pt x="128080" y="0"/>
                  </a:lnTo>
                  <a:cubicBezTo>
                    <a:pt x="160423" y="0"/>
                    <a:pt x="191442" y="12848"/>
                    <a:pt x="214312" y="35719"/>
                  </a:cubicBezTo>
                  <a:cubicBezTo>
                    <a:pt x="237183" y="58589"/>
                    <a:pt x="250031" y="89608"/>
                    <a:pt x="250031" y="121951"/>
                  </a:cubicBezTo>
                  <a:lnTo>
                    <a:pt x="250031" y="321469"/>
                  </a:lnTo>
                  <a:lnTo>
                    <a:pt x="321469" y="321469"/>
                  </a:lnTo>
                  <a:lnTo>
                    <a:pt x="321469" y="121951"/>
                  </a:lnTo>
                  <a:cubicBezTo>
                    <a:pt x="321469" y="89608"/>
                    <a:pt x="334317" y="58589"/>
                    <a:pt x="357188" y="35719"/>
                  </a:cubicBezTo>
                  <a:cubicBezTo>
                    <a:pt x="380058" y="12848"/>
                    <a:pt x="411076" y="0"/>
                    <a:pt x="443420" y="0"/>
                  </a:cubicBezTo>
                  <a:lnTo>
                    <a:pt x="571500" y="0"/>
                  </a:lnTo>
                  <a:lnTo>
                    <a:pt x="571500" y="392906"/>
                  </a:lnTo>
                  <a:lnTo>
                    <a:pt x="392906" y="392906"/>
                  </a:lnTo>
                  <a:lnTo>
                    <a:pt x="321469" y="464344"/>
                  </a:lnTo>
                  <a:lnTo>
                    <a:pt x="250031" y="464344"/>
                  </a:lnTo>
                  <a:lnTo>
                    <a:pt x="178594" y="392906"/>
                  </a:lnTo>
                  <a:lnTo>
                    <a:pt x="0" y="392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3925" y="33766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教育数字化转型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3925" y="375761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7FE3D6"/>
                  </a:solidFill>
                  <a:latin typeface="Arial"/>
                  <a:ea typeface="Microsoft YaHei"/>
                  <a:cs typeface="Arial"/>
                </a:rPr>
                <a:t>正在加速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5355" y="44072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/>
                  <a:ea typeface="Microsoft YaHei"/>
                  <a:cs typeface="Arial"/>
                </a:rPr>
                <a:t>个性化学习与高效知识传递，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5355" y="469296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/>
                  <a:ea typeface="Microsoft YaHei"/>
                  <a:cs typeface="Arial"/>
                </a:rPr>
                <a:t>成为高校教学的核心需求；课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5355" y="49787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/>
                  <a:ea typeface="Microsoft YaHei"/>
                  <a:cs typeface="Arial"/>
                </a:rPr>
                <a:t>件具备从"静态"升级为"AI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5355" y="5264468"/>
              <a:ext cx="1933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D8F5"/>
                  </a:solidFill>
                  <a:latin typeface="Arial"/>
                  <a:ea typeface="Microsoft YaHei"/>
                  <a:cs typeface="Arial"/>
                </a:rPr>
                <a:t>互动智课"的技术条件。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86400" y="2107882"/>
            <a:ext cx="6096000" cy="1044893"/>
            <a:chOff x="5486400" y="2107882"/>
            <a:chExt cx="6096000" cy="1044893"/>
          </a:xfrm>
        </p:grpSpPr>
        <p:grpSp>
          <p:nvGrpSpPr>
            <p:cNvPr id="31" name="Group 31"/>
            <p:cNvGrpSpPr/>
            <p:nvPr/>
          </p:nvGrpSpPr>
          <p:grpSpPr>
            <a:xfrm>
              <a:off x="5529262" y="2114550"/>
              <a:ext cx="257175" cy="342900"/>
              <a:chOff x="5529262" y="2114550"/>
              <a:chExt cx="257175" cy="3429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529262" y="225171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529262" y="235886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529262" y="211455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960745" y="21078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海量课程资源已沉淀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65508" y="2453164"/>
              <a:ext cx="46229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超星泛雅平台已服务大量高校、教师与学生，积累了大量优质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65508" y="2700814"/>
              <a:ext cx="30502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PPT / PDF 课件，但仍以静态形式呈现。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486400" y="3143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2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486400" y="3365182"/>
            <a:ext cx="6096000" cy="1044893"/>
            <a:chOff x="5486400" y="3365182"/>
            <a:chExt cx="6096000" cy="1044893"/>
          </a:xfrm>
        </p:grpSpPr>
        <p:grpSp>
          <p:nvGrpSpPr>
            <p:cNvPr id="39" name="Group 39"/>
            <p:cNvGrpSpPr/>
            <p:nvPr/>
          </p:nvGrpSpPr>
          <p:grpSpPr>
            <a:xfrm>
              <a:off x="5486400" y="3393281"/>
              <a:ext cx="342900" cy="320391"/>
              <a:chOff x="5486400" y="3393281"/>
              <a:chExt cx="342900" cy="32039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572125" y="3393281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85725" y="214312"/>
                    </a:lnTo>
                    <a:lnTo>
                      <a:pt x="128588" y="257175"/>
                    </a:lnTo>
                    <a:lnTo>
                      <a:pt x="171450" y="214312"/>
                    </a:lnTo>
                    <a:lnTo>
                      <a:pt x="257175" y="214312"/>
                    </a:lnTo>
                    <a:lnTo>
                      <a:pt x="257175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86400" y="3479006"/>
                <a:ext cx="186604" cy="234666"/>
              </a:xfrm>
              <a:custGeom>
                <a:avLst/>
                <a:gdLst/>
                <a:ahLst/>
                <a:cxnLst/>
                <a:rect l="l" t="t" r="r" b="b"/>
                <a:pathLst>
                  <a:path w="186604" h="234666">
                    <a:moveTo>
                      <a:pt x="42862" y="0"/>
                    </a:moveTo>
                    <a:lnTo>
                      <a:pt x="42862" y="171450"/>
                    </a:lnTo>
                    <a:lnTo>
                      <a:pt x="153696" y="171450"/>
                    </a:lnTo>
                    <a:lnTo>
                      <a:pt x="186604" y="204358"/>
                    </a:lnTo>
                    <a:lnTo>
                      <a:pt x="156296" y="234666"/>
                    </a:lnTo>
                    <a:lnTo>
                      <a:pt x="135942" y="214312"/>
                    </a:lnTo>
                    <a:lnTo>
                      <a:pt x="0" y="214312"/>
                    </a:lnTo>
                    <a:lnTo>
                      <a:pt x="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960745" y="33651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讲授、互动、续接能力缺失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65508" y="3710464"/>
              <a:ext cx="46399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静态课件需教师额外录制讲解视频才能"可听可学"，学生遇到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65508" y="39581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疑问难获上下文答疑，打断后又难以续接进度。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486400" y="44005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rgbClr val="E2E8F2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486400" y="4622482"/>
            <a:ext cx="6096000" cy="1359218"/>
            <a:chOff x="5486400" y="4622482"/>
            <a:chExt cx="6096000" cy="1359218"/>
          </a:xfrm>
        </p:grpSpPr>
        <p:grpSp>
          <p:nvGrpSpPr>
            <p:cNvPr id="50" name="Group 50"/>
            <p:cNvGrpSpPr/>
            <p:nvPr/>
          </p:nvGrpSpPr>
          <p:grpSpPr>
            <a:xfrm>
              <a:off x="5486400" y="4629150"/>
              <a:ext cx="342900" cy="342900"/>
              <a:chOff x="5486400" y="4629150"/>
              <a:chExt cx="342900" cy="3429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657850" y="4629150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0" y="64294"/>
                    </a:moveTo>
                    <a:lnTo>
                      <a:pt x="53578" y="53578"/>
                    </a:lnTo>
                    <a:lnTo>
                      <a:pt x="64294" y="0"/>
                    </a:lnTo>
                    <a:lnTo>
                      <a:pt x="85725" y="0"/>
                    </a:lnTo>
                    <a:lnTo>
                      <a:pt x="96441" y="53578"/>
                    </a:lnTo>
                    <a:lnTo>
                      <a:pt x="150019" y="64294"/>
                    </a:lnTo>
                    <a:lnTo>
                      <a:pt x="150019" y="85725"/>
                    </a:lnTo>
                    <a:lnTo>
                      <a:pt x="96441" y="96441"/>
                    </a:lnTo>
                    <a:lnTo>
                      <a:pt x="85725" y="150019"/>
                    </a:lnTo>
                    <a:lnTo>
                      <a:pt x="64294" y="150019"/>
                    </a:lnTo>
                    <a:lnTo>
                      <a:pt x="53578" y="96441"/>
                    </a:lnTo>
                    <a:lnTo>
                      <a:pt x="0" y="85725"/>
                    </a:lnTo>
                    <a:lnTo>
                      <a:pt x="0" y="64294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486400" y="4736306"/>
                <a:ext cx="235744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35744">
                    <a:moveTo>
                      <a:pt x="0" y="128588"/>
                    </a:moveTo>
                    <a:lnTo>
                      <a:pt x="0" y="107156"/>
                    </a:lnTo>
                    <a:lnTo>
                      <a:pt x="85725" y="85725"/>
                    </a:lnTo>
                    <a:lnTo>
                      <a:pt x="107156" y="0"/>
                    </a:lnTo>
                    <a:lnTo>
                      <a:pt x="128588" y="0"/>
                    </a:lnTo>
                    <a:lnTo>
                      <a:pt x="150019" y="85725"/>
                    </a:lnTo>
                    <a:lnTo>
                      <a:pt x="235744" y="107156"/>
                    </a:lnTo>
                    <a:lnTo>
                      <a:pt x="235744" y="128588"/>
                    </a:lnTo>
                    <a:lnTo>
                      <a:pt x="150019" y="150019"/>
                    </a:lnTo>
                    <a:lnTo>
                      <a:pt x="128588" y="235744"/>
                    </a:lnTo>
                    <a:lnTo>
                      <a:pt x="107156" y="235744"/>
                    </a:lnTo>
                    <a:lnTo>
                      <a:pt x="85725" y="150019"/>
                    </a:lnTo>
                    <a:lnTo>
                      <a:pt x="0" y="128588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507831" y="4639866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0" y="32147"/>
                    </a:moveTo>
                    <a:lnTo>
                      <a:pt x="32147" y="0"/>
                    </a:lnTo>
                    <a:lnTo>
                      <a:pt x="64294" y="32147"/>
                    </a:lnTo>
                    <a:lnTo>
                      <a:pt x="32147" y="64294"/>
                    </a:lnTo>
                    <a:lnTo>
                      <a:pt x="0" y="32147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722144" y="48863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lnTo>
                      <a:pt x="42862" y="0"/>
                    </a:lnTo>
                    <a:lnTo>
                      <a:pt x="0" y="42862"/>
                    </a:lnTo>
                    <a:lnTo>
                      <a:pt x="42862" y="85725"/>
                    </a:lnTo>
                    <a:lnTo>
                      <a:pt x="85725" y="42862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786438" y="480060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21431" y="42862"/>
                    </a:moveTo>
                    <a:cubicBezTo>
                      <a:pt x="33268" y="42862"/>
                      <a:pt x="42862" y="33268"/>
                      <a:pt x="42862" y="21431"/>
                    </a:cubicBezTo>
                    <a:cubicBezTo>
                      <a:pt x="42862" y="9595"/>
                      <a:pt x="33268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  <a:cubicBezTo>
                      <a:pt x="0" y="33268"/>
                      <a:pt x="9595" y="42862"/>
                      <a:pt x="21431" y="42862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960745" y="4622482"/>
              <a:ext cx="23868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 技术已具备升级基础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5508" y="4967764"/>
              <a:ext cx="49630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大语言模型、语音合成、多模态处理逐渐成熟，使课件解析、内容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65508" y="521541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生成、问答与讲授真正可落地。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86400" y="5600700"/>
              <a:ext cx="6096000" cy="381000"/>
            </a:xfrm>
            <a:prstGeom prst="roundRect">
              <a:avLst>
                <a:gd name="adj" fmla="val 25000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61660" y="5709285"/>
              <a:ext cx="5071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核心目标：让静态课件变成可讲授、可提问、可续接的智能学习内容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6" grpId="0"/>
      <p:bldP spid="44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17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3436287" cy="528638"/>
            <a:chOff x="609600" y="1104900"/>
            <a:chExt cx="343628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三类角色，</a:t>
              </a:r>
              <a:r>
                <a:rPr lang="zh-CN" sz="2550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三道断点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1657350"/>
            <a:ext cx="3429000" cy="4533900"/>
            <a:chOff x="609600" y="1657350"/>
            <a:chExt cx="3429000" cy="4533900"/>
          </a:xfrm>
        </p:grpSpPr>
        <p:sp>
          <p:nvSpPr>
            <p:cNvPr id="19" name="Rectangle 19"/>
            <p:cNvSpPr/>
            <p:nvPr/>
          </p:nvSpPr>
          <p:spPr>
            <a:xfrm>
              <a:off x="6096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6096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1F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63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04888" y="1959769"/>
              <a:ext cx="200025" cy="233362"/>
              <a:chOff x="1004888" y="1959769"/>
              <a:chExt cx="200025" cy="2333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54894" y="195976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50006" y="100012"/>
                    </a:moveTo>
                    <a:cubicBezTo>
                      <a:pt x="77624" y="100012"/>
                      <a:pt x="100012" y="77624"/>
                      <a:pt x="100012" y="50006"/>
                    </a:cubicBez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  <a:cubicBezTo>
                      <a:pt x="0" y="77624"/>
                      <a:pt x="22389" y="100012"/>
                      <a:pt x="50006" y="10001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04888" y="2093119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200025" y="50006"/>
                    </a:moveTo>
                    <a:cubicBezTo>
                      <a:pt x="200025" y="22388"/>
                      <a:pt x="177637" y="0"/>
                      <a:pt x="150019" y="0"/>
                    </a:cubicBezTo>
                    <a:lnTo>
                      <a:pt x="50006" y="0"/>
                    </a:lnTo>
                    <a:cubicBezTo>
                      <a:pt x="22389" y="0"/>
                      <a:pt x="0" y="22388"/>
                      <a:pt x="0" y="50006"/>
                    </a:cubicBezTo>
                    <a:lnTo>
                      <a:pt x="0" y="100012"/>
                    </a:lnTo>
                    <a:lnTo>
                      <a:pt x="200025" y="100012"/>
                    </a:lnTo>
                    <a:lnTo>
                      <a:pt x="200025" y="500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630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25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备课与内容生产负担重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67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7755" y="28260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备课与录课成本高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0612" y="30980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需逐字撰写讲稿、重复录制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612" y="33075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讲解视频。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667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7755" y="3816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讲授结构弱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612" y="40886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内容零散，缺少开场、讲解、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0612" y="42981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过渡的教学脚本结构。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667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87755" y="4807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反馈不足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06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难及时掌握学生自主学习中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0612" y="52887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的疑问与理解困难。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381500" y="1657350"/>
            <a:ext cx="3429000" cy="4533900"/>
            <a:chOff x="4381500" y="1657350"/>
            <a:chExt cx="3429000" cy="4533900"/>
          </a:xfrm>
        </p:grpSpPr>
        <p:sp>
          <p:nvSpPr>
            <p:cNvPr id="40" name="Rectangle 40"/>
            <p:cNvSpPr/>
            <p:nvPr/>
          </p:nvSpPr>
          <p:spPr>
            <a:xfrm>
              <a:off x="43815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41" name="Freeform 41"/>
            <p:cNvSpPr/>
            <p:nvPr/>
          </p:nvSpPr>
          <p:spPr>
            <a:xfrm>
              <a:off x="43815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1ECFE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482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743450" y="1959769"/>
              <a:ext cx="266700" cy="233362"/>
              <a:chOff x="4743450" y="1959769"/>
              <a:chExt cx="266700" cy="2333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793456" y="195976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743450" y="207645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910138" y="207645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910138" y="19764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2349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学生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444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自主学习缺少即时帮助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6386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59655" y="2826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问答不精准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62512" y="30980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问答难关联当前课件上下文，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62512" y="3307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答案针对性不足。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6386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859655" y="3816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进度易脱节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62512" y="40886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打断提问后，系统无法精准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62512" y="4298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续接原有讲授进度。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6386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59655" y="4807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缺个性化补讲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625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无法按理解程度补充讲解或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62512" y="5288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动态调整节奏。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153400" y="1657350"/>
            <a:ext cx="3429000" cy="4533900"/>
            <a:chOff x="8153400" y="1657350"/>
            <a:chExt cx="3429000" cy="4533900"/>
          </a:xfrm>
        </p:grpSpPr>
        <p:sp>
          <p:nvSpPr>
            <p:cNvPr id="63" name="Rectangle 63"/>
            <p:cNvSpPr/>
            <p:nvPr/>
          </p:nvSpPr>
          <p:spPr>
            <a:xfrm>
              <a:off x="8153400" y="1657350"/>
              <a:ext cx="3429000" cy="4533900"/>
            </a:xfrm>
            <a:prstGeom prst="roundRect">
              <a:avLst>
                <a:gd name="adj" fmla="val 388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3750"/>
                </a:srgbClr>
              </a:outerShdw>
            </a:effectLst>
          </p:spPr>
        </p:sp>
        <p:sp>
          <p:nvSpPr>
            <p:cNvPr id="64" name="Freeform 64"/>
            <p:cNvSpPr/>
            <p:nvPr/>
          </p:nvSpPr>
          <p:spPr>
            <a:xfrm>
              <a:off x="8153400" y="1657350"/>
              <a:ext cx="3429000" cy="819150"/>
            </a:xfrm>
            <a:custGeom>
              <a:avLst/>
              <a:gdLst/>
              <a:ahLst/>
              <a:cxnLst/>
              <a:rect l="l" t="t" r="r" b="b"/>
              <a:pathLst>
                <a:path w="3429000" h="8191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819150"/>
                  </a:lnTo>
                  <a:lnTo>
                    <a:pt x="0" y="81915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6F7F4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420100" y="184785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15350" y="197643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26670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266700" y="200025"/>
                  </a:lnTo>
                  <a:lnTo>
                    <a:pt x="266700" y="0"/>
                  </a:lnTo>
                  <a:close/>
                  <a:moveTo>
                    <a:pt x="50006" y="66675"/>
                  </a:moveTo>
                  <a:cubicBezTo>
                    <a:pt x="59212" y="66675"/>
                    <a:pt x="66675" y="59212"/>
                    <a:pt x="66675" y="50006"/>
                  </a:cubicBezTo>
                  <a:cubicBezTo>
                    <a:pt x="66675" y="40800"/>
                    <a:pt x="59212" y="33338"/>
                    <a:pt x="50006" y="33338"/>
                  </a:cubicBezTo>
                  <a:cubicBezTo>
                    <a:pt x="40800" y="33338"/>
                    <a:pt x="33338" y="40800"/>
                    <a:pt x="33338" y="50006"/>
                  </a:cubicBezTo>
                  <a:cubicBezTo>
                    <a:pt x="33338" y="59212"/>
                    <a:pt x="40800" y="66675"/>
                    <a:pt x="50006" y="66675"/>
                  </a:cubicBezTo>
                  <a:close/>
                  <a:moveTo>
                    <a:pt x="125016" y="50006"/>
                  </a:moveTo>
                  <a:cubicBezTo>
                    <a:pt x="125016" y="59212"/>
                    <a:pt x="117553" y="66675"/>
                    <a:pt x="108347" y="66675"/>
                  </a:cubicBezTo>
                  <a:cubicBezTo>
                    <a:pt x="99141" y="66675"/>
                    <a:pt x="91678" y="59212"/>
                    <a:pt x="91678" y="50006"/>
                  </a:cubicBezTo>
                  <a:cubicBezTo>
                    <a:pt x="91678" y="40800"/>
                    <a:pt x="99141" y="33338"/>
                    <a:pt x="108347" y="33338"/>
                  </a:cubicBezTo>
                  <a:cubicBezTo>
                    <a:pt x="117553" y="33338"/>
                    <a:pt x="125016" y="40800"/>
                    <a:pt x="125016" y="50006"/>
                  </a:cubicBezTo>
                  <a:close/>
                  <a:moveTo>
                    <a:pt x="166688" y="66675"/>
                  </a:moveTo>
                  <a:cubicBezTo>
                    <a:pt x="175894" y="66675"/>
                    <a:pt x="183356" y="59212"/>
                    <a:pt x="183356" y="50006"/>
                  </a:cubicBezTo>
                  <a:cubicBezTo>
                    <a:pt x="183356" y="40800"/>
                    <a:pt x="175894" y="33338"/>
                    <a:pt x="166688" y="33338"/>
                  </a:cubicBezTo>
                  <a:cubicBezTo>
                    <a:pt x="157482" y="33338"/>
                    <a:pt x="150019" y="40800"/>
                    <a:pt x="150019" y="50006"/>
                  </a:cubicBezTo>
                  <a:cubicBezTo>
                    <a:pt x="150019" y="59212"/>
                    <a:pt x="157482" y="66675"/>
                    <a:pt x="166688" y="666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068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平台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16365" y="22107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轻量集成与可扩展诉求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410575" y="28670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631555" y="28260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静态课件智化难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34412" y="30980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解析多停留在文本提取，难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34412" y="3307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识别知识点逻辑。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410575" y="38576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631555" y="3816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改造成本敏感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34412" y="40886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需轻量集成，不增加平台侧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34412" y="42981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过重改造负担。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8410575" y="4848225"/>
              <a:ext cx="95250" cy="9525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31555" y="48072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接口标准缺位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34412" y="50792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缺乏标准化、可异步对接的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34412" y="52887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接口与学情数据。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82" name="TextBox 8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9" grpId="0"/>
      <p:bldP spid="62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104900"/>
            <a:ext cx="3436287" cy="528638"/>
            <a:chOff x="609600" y="1104900"/>
            <a:chExt cx="343628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104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1153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一套底座，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两端分工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24000" y="1733550"/>
            <a:ext cx="4000500" cy="1123950"/>
            <a:chOff x="1524000" y="1733550"/>
            <a:chExt cx="4000500" cy="1123950"/>
          </a:xfrm>
        </p:grpSpPr>
        <p:sp>
          <p:nvSpPr>
            <p:cNvPr id="19" name="Rectangle 19"/>
            <p:cNvSpPr/>
            <p:nvPr/>
          </p:nvSpPr>
          <p:spPr>
            <a:xfrm>
              <a:off x="1524000" y="1733550"/>
              <a:ext cx="4000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9050">
              <a:solidFill>
                <a:srgbClr val="1E6F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52600" y="20002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902619" y="2133600"/>
              <a:ext cx="250031" cy="250031"/>
              <a:chOff x="1902619" y="2133600"/>
              <a:chExt cx="250031" cy="25003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902619" y="2195393"/>
                <a:ext cx="188239" cy="188238"/>
              </a:xfrm>
              <a:custGeom>
                <a:avLst/>
                <a:gdLst/>
                <a:ahLst/>
                <a:cxnLst/>
                <a:rect l="l" t="t" r="r" b="b"/>
                <a:pathLst>
                  <a:path w="188239" h="188238">
                    <a:moveTo>
                      <a:pt x="121563" y="0"/>
                    </a:moveTo>
                    <a:lnTo>
                      <a:pt x="0" y="121563"/>
                    </a:lnTo>
                    <a:lnTo>
                      <a:pt x="0" y="188238"/>
                    </a:lnTo>
                    <a:lnTo>
                      <a:pt x="66675" y="188238"/>
                    </a:lnTo>
                    <a:lnTo>
                      <a:pt x="188239" y="66675"/>
                    </a:lnTo>
                    <a:lnTo>
                      <a:pt x="121563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047755" y="2133600"/>
                <a:ext cx="104895" cy="104895"/>
              </a:xfrm>
              <a:custGeom>
                <a:avLst/>
                <a:gdLst/>
                <a:ahLst/>
                <a:cxnLst/>
                <a:rect l="l" t="t" r="r" b="b"/>
                <a:pathLst>
                  <a:path w="104895" h="104895">
                    <a:moveTo>
                      <a:pt x="0" y="38220"/>
                    </a:moveTo>
                    <a:lnTo>
                      <a:pt x="66675" y="104895"/>
                    </a:lnTo>
                    <a:lnTo>
                      <a:pt x="91086" y="80484"/>
                    </a:lnTo>
                    <a:cubicBezTo>
                      <a:pt x="99927" y="71642"/>
                      <a:pt x="104895" y="59650"/>
                      <a:pt x="104895" y="47146"/>
                    </a:cubicBezTo>
                    <a:cubicBezTo>
                      <a:pt x="104895" y="21108"/>
                      <a:pt x="83787" y="0"/>
                      <a:pt x="57749" y="0"/>
                    </a:cubicBezTo>
                    <a:cubicBezTo>
                      <a:pt x="45244" y="0"/>
                      <a:pt x="33252" y="4967"/>
                      <a:pt x="24411" y="13809"/>
                    </a:cubicBez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4536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0308" y="2396014"/>
              <a:ext cx="26592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智课生成 · 脚本编辑 · 发布 · 学情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0" y="1733550"/>
            <a:ext cx="4000500" cy="1123950"/>
            <a:chOff x="6667500" y="1733550"/>
            <a:chExt cx="4000500" cy="1123950"/>
          </a:xfrm>
        </p:grpSpPr>
        <p:sp>
          <p:nvSpPr>
            <p:cNvPr id="27" name="Rectangle 27"/>
            <p:cNvSpPr/>
            <p:nvPr/>
          </p:nvSpPr>
          <p:spPr>
            <a:xfrm>
              <a:off x="6667500" y="1733550"/>
              <a:ext cx="40005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9050">
              <a:solidFill>
                <a:srgbClr val="7B5BE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96100" y="20002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029450" y="2150269"/>
              <a:ext cx="266700" cy="233362"/>
              <a:chOff x="7029450" y="2150269"/>
              <a:chExt cx="266700" cy="2333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079456" y="2150269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83344" y="41672"/>
                    </a:moveTo>
                    <a:cubicBezTo>
                      <a:pt x="83344" y="64687"/>
                      <a:pt x="64687" y="83344"/>
                      <a:pt x="41672" y="83344"/>
                    </a:cubicBez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266950"/>
                <a:ext cx="133350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6681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116681"/>
                    </a:lnTo>
                    <a:lnTo>
                      <a:pt x="133350" y="116681"/>
                    </a:lnTo>
                    <a:lnTo>
                      <a:pt x="133350" y="0"/>
                    </a:lnTo>
                    <a:lnTo>
                      <a:pt x="50006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196138" y="2266950"/>
                <a:ext cx="10001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6681">
                    <a:moveTo>
                      <a:pt x="50006" y="0"/>
                    </a:moveTo>
                    <a:lnTo>
                      <a:pt x="0" y="0"/>
                    </a:lnTo>
                    <a:lnTo>
                      <a:pt x="0" y="116681"/>
                    </a:lnTo>
                    <a:lnTo>
                      <a:pt x="100012" y="116681"/>
                    </a:lnTo>
                    <a:lnTo>
                      <a:pt x="100012" y="50006"/>
                    </a:lnTo>
                    <a:cubicBezTo>
                      <a:pt x="100012" y="22389"/>
                      <a:pt x="77625" y="0"/>
                      <a:pt x="50006" y="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96138" y="21669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50" y="66675"/>
                      <a:pt x="66675" y="51749"/>
                      <a:pt x="66675" y="33338"/>
                    </a:cubicBezTo>
                    <a:cubicBezTo>
                      <a:pt x="66675" y="14926"/>
                      <a:pt x="51750" y="0"/>
                      <a:pt x="33338" y="0"/>
                    </a:cubicBezTo>
                    <a:cubicBezTo>
                      <a:pt x="14925" y="0"/>
                      <a:pt x="0" y="14926"/>
                      <a:pt x="0" y="33338"/>
                    </a:cubicBezTo>
                    <a:cubicBezTo>
                      <a:pt x="0" y="51749"/>
                      <a:pt x="14925" y="66675"/>
                      <a:pt x="33338" y="66675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7140" y="20154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学生端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3808" y="2396014"/>
              <a:ext cx="28292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课程学习 · 上下文问答 · 续学 · 强化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524250" y="2914650"/>
            <a:ext cx="5143501" cy="381000"/>
            <a:chOff x="3524250" y="2914650"/>
            <a:chExt cx="5143501" cy="381000"/>
          </a:xfrm>
        </p:grpSpPr>
        <p:sp>
          <p:nvSpPr>
            <p:cNvPr id="37" name="Line 37"/>
            <p:cNvSpPr/>
            <p:nvPr/>
          </p:nvSpPr>
          <p:spPr>
            <a:xfrm flipV="1">
              <a:off x="3524250" y="2914650"/>
              <a:ext cx="1" cy="381000"/>
            </a:xfrm>
            <a:prstGeom prst="line">
              <a:avLst/>
            </a:prstGeom>
            <a:noFill/>
            <a:ln w="28575">
              <a:solidFill>
                <a:srgbClr val="1E6FE0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8667750" y="2914650"/>
              <a:ext cx="1" cy="381000"/>
            </a:xfrm>
            <a:prstGeom prst="line">
              <a:avLst/>
            </a:prstGeom>
            <a:noFill/>
            <a:ln w="28575">
              <a:solidFill>
                <a:srgbClr val="7B5BE0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10056" y="3048952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统一能力 · 双端分发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24000" y="3314700"/>
            <a:ext cx="9144000" cy="1962150"/>
            <a:chOff x="1524000" y="3314700"/>
            <a:chExt cx="9144000" cy="1962150"/>
          </a:xfrm>
        </p:grpSpPr>
        <p:sp>
          <p:nvSpPr>
            <p:cNvPr id="41" name="Rectangle 41"/>
            <p:cNvSpPr/>
            <p:nvPr/>
          </p:nvSpPr>
          <p:spPr>
            <a:xfrm>
              <a:off x="1524000" y="3314700"/>
              <a:ext cx="9144000" cy="1962150"/>
            </a:xfrm>
            <a:prstGeom prst="roundRect">
              <a:avLst>
                <a:gd name="adj" fmla="val 7767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1733550" y="3514725"/>
              <a:ext cx="26844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一套 AI 底座 · 统一能力中枢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64870" y="3563302"/>
              <a:ext cx="1587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FD8F5"/>
                  </a:solidFill>
                  <a:latin typeface="Arial"/>
                  <a:ea typeface="Microsoft YaHei"/>
                  <a:cs typeface="Arial"/>
                </a:rPr>
                <a:t>三层协同 · 大模型外部化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752600" y="3867150"/>
              <a:ext cx="2743200" cy="1181100"/>
              <a:chOff x="1752600" y="3867150"/>
              <a:chExt cx="2743200" cy="11811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7526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943100" y="4079081"/>
                <a:ext cx="32385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42888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323850" y="242888"/>
                    </a:lnTo>
                    <a:lnTo>
                      <a:pt x="323850" y="0"/>
                    </a:lnTo>
                    <a:close/>
                    <a:moveTo>
                      <a:pt x="60722" y="80962"/>
                    </a:moveTo>
                    <a:cubicBezTo>
                      <a:pt x="71900" y="80962"/>
                      <a:pt x="80962" y="71900"/>
                      <a:pt x="80962" y="60722"/>
                    </a:cubicBezTo>
                    <a:cubicBezTo>
                      <a:pt x="80962" y="49543"/>
                      <a:pt x="71900" y="40481"/>
                      <a:pt x="60722" y="40481"/>
                    </a:cubicBezTo>
                    <a:cubicBezTo>
                      <a:pt x="49543" y="40481"/>
                      <a:pt x="40481" y="49543"/>
                      <a:pt x="40481" y="60722"/>
                    </a:cubicBezTo>
                    <a:cubicBezTo>
                      <a:pt x="40481" y="71900"/>
                      <a:pt x="49543" y="80962"/>
                      <a:pt x="60722" y="80962"/>
                    </a:cubicBezTo>
                    <a:close/>
                    <a:moveTo>
                      <a:pt x="151805" y="60722"/>
                    </a:moveTo>
                    <a:cubicBezTo>
                      <a:pt x="151805" y="71900"/>
                      <a:pt x="142743" y="80962"/>
                      <a:pt x="131564" y="80962"/>
                    </a:cubicBezTo>
                    <a:cubicBezTo>
                      <a:pt x="120386" y="80962"/>
                      <a:pt x="111323" y="71900"/>
                      <a:pt x="111323" y="60722"/>
                    </a:cubicBezTo>
                    <a:cubicBezTo>
                      <a:pt x="111323" y="49543"/>
                      <a:pt x="120386" y="40481"/>
                      <a:pt x="131564" y="40481"/>
                    </a:cubicBezTo>
                    <a:cubicBezTo>
                      <a:pt x="142743" y="40481"/>
                      <a:pt x="151805" y="49543"/>
                      <a:pt x="151805" y="60722"/>
                    </a:cubicBezTo>
                    <a:close/>
                    <a:moveTo>
                      <a:pt x="202406" y="80962"/>
                    </a:moveTo>
                    <a:cubicBezTo>
                      <a:pt x="213585" y="80962"/>
                      <a:pt x="222647" y="71900"/>
                      <a:pt x="222647" y="60722"/>
                    </a:cubicBezTo>
                    <a:cubicBezTo>
                      <a:pt x="222647" y="49543"/>
                      <a:pt x="213585" y="40481"/>
                      <a:pt x="202406" y="40481"/>
                    </a:cubicBezTo>
                    <a:cubicBezTo>
                      <a:pt x="191228" y="40481"/>
                      <a:pt x="182166" y="49543"/>
                      <a:pt x="182166" y="60722"/>
                    </a:cubicBezTo>
                    <a:cubicBezTo>
                      <a:pt x="182166" y="71900"/>
                      <a:pt x="191228" y="80962"/>
                      <a:pt x="202406" y="80962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2345055" y="4121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前端交互层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928812" y="4507706"/>
                <a:ext cx="16712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Vue 3 教师端 / 学生端，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928812" y="4717256"/>
                <a:ext cx="19788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课件管理、学习与问答交互。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724400" y="3867150"/>
              <a:ext cx="2743200" cy="1181100"/>
              <a:chOff x="4724400" y="3867150"/>
              <a:chExt cx="2743200" cy="1181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7244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921414" y="4038600"/>
                <a:ext cx="310823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10823" h="323850">
                    <a:moveTo>
                      <a:pt x="125051" y="0"/>
                    </a:moveTo>
                    <a:lnTo>
                      <a:pt x="185773" y="0"/>
                    </a:lnTo>
                    <a:lnTo>
                      <a:pt x="197793" y="48081"/>
                    </a:lnTo>
                    <a:cubicBezTo>
                      <a:pt x="210620" y="52858"/>
                      <a:pt x="222422" y="59741"/>
                      <a:pt x="232777" y="68310"/>
                    </a:cubicBezTo>
                    <a:lnTo>
                      <a:pt x="280462" y="54669"/>
                    </a:lnTo>
                    <a:lnTo>
                      <a:pt x="310823" y="107256"/>
                    </a:lnTo>
                    <a:lnTo>
                      <a:pt x="275181" y="141718"/>
                    </a:lnTo>
                    <a:cubicBezTo>
                      <a:pt x="276282" y="148290"/>
                      <a:pt x="276855" y="155041"/>
                      <a:pt x="276855" y="161925"/>
                    </a:cubicBezTo>
                    <a:cubicBezTo>
                      <a:pt x="276855" y="168809"/>
                      <a:pt x="276282" y="175560"/>
                      <a:pt x="275181" y="182132"/>
                    </a:cubicBezTo>
                    <a:lnTo>
                      <a:pt x="310823" y="216595"/>
                    </a:lnTo>
                    <a:lnTo>
                      <a:pt x="280462" y="269180"/>
                    </a:lnTo>
                    <a:lnTo>
                      <a:pt x="232777" y="255540"/>
                    </a:lnTo>
                    <a:cubicBezTo>
                      <a:pt x="222422" y="264108"/>
                      <a:pt x="210620" y="270992"/>
                      <a:pt x="197793" y="275768"/>
                    </a:cubicBezTo>
                    <a:lnTo>
                      <a:pt x="185773" y="323850"/>
                    </a:lnTo>
                    <a:lnTo>
                      <a:pt x="125051" y="323850"/>
                    </a:lnTo>
                    <a:lnTo>
                      <a:pt x="113030" y="275768"/>
                    </a:lnTo>
                    <a:cubicBezTo>
                      <a:pt x="100203" y="270992"/>
                      <a:pt x="88402" y="264108"/>
                      <a:pt x="78045" y="255540"/>
                    </a:cubicBezTo>
                    <a:lnTo>
                      <a:pt x="30361" y="269180"/>
                    </a:lnTo>
                    <a:lnTo>
                      <a:pt x="0" y="216595"/>
                    </a:lnTo>
                    <a:lnTo>
                      <a:pt x="35641" y="182132"/>
                    </a:lnTo>
                    <a:cubicBezTo>
                      <a:pt x="34541" y="175560"/>
                      <a:pt x="33968" y="168809"/>
                      <a:pt x="33968" y="161925"/>
                    </a:cubicBezTo>
                    <a:cubicBezTo>
                      <a:pt x="33968" y="155041"/>
                      <a:pt x="34541" y="148290"/>
                      <a:pt x="35641" y="141718"/>
                    </a:cubicBezTo>
                    <a:lnTo>
                      <a:pt x="0" y="107256"/>
                    </a:lnTo>
                    <a:lnTo>
                      <a:pt x="30361" y="54669"/>
                    </a:lnTo>
                    <a:lnTo>
                      <a:pt x="78045" y="68310"/>
                    </a:lnTo>
                    <a:cubicBezTo>
                      <a:pt x="88402" y="59741"/>
                      <a:pt x="100203" y="52858"/>
                      <a:pt x="113030" y="48081"/>
                    </a:cubicBezTo>
                    <a:lnTo>
                      <a:pt x="125051" y="0"/>
                    </a:lnTo>
                    <a:close/>
                    <a:moveTo>
                      <a:pt x="155412" y="202406"/>
                    </a:moveTo>
                    <a:cubicBezTo>
                      <a:pt x="177769" y="202406"/>
                      <a:pt x="195893" y="184282"/>
                      <a:pt x="195893" y="161925"/>
                    </a:cubicBezTo>
                    <a:cubicBezTo>
                      <a:pt x="195893" y="139568"/>
                      <a:pt x="177769" y="121444"/>
                      <a:pt x="155412" y="121444"/>
                    </a:cubicBezTo>
                    <a:cubicBezTo>
                      <a:pt x="133054" y="121444"/>
                      <a:pt x="114930" y="139568"/>
                      <a:pt x="114930" y="161925"/>
                    </a:cubicBezTo>
                    <a:cubicBezTo>
                      <a:pt x="114930" y="184282"/>
                      <a:pt x="133054" y="202406"/>
                      <a:pt x="155412" y="202406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316855" y="4121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业务编排层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900612" y="4507706"/>
                <a:ext cx="17387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Go 后端：鉴权、状态机、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900612" y="4717256"/>
                <a:ext cx="18363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SSE 代理、OpenAPI 适配。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696200" y="3867150"/>
              <a:ext cx="2743200" cy="1181100"/>
              <a:chOff x="7696200" y="3867150"/>
              <a:chExt cx="2743200" cy="1181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7696200" y="3867150"/>
                <a:ext cx="2743200" cy="118110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7886700" y="4038600"/>
                <a:ext cx="323850" cy="323850"/>
                <a:chOff x="7886700" y="4038600"/>
                <a:chExt cx="323850" cy="3238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48625" y="4038600"/>
                  <a:ext cx="141684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684" h="141684">
                      <a:moveTo>
                        <a:pt x="0" y="60722"/>
                      </a:moveTo>
                      <a:lnTo>
                        <a:pt x="50602" y="50602"/>
                      </a:lnTo>
                      <a:lnTo>
                        <a:pt x="60722" y="0"/>
                      </a:lnTo>
                      <a:lnTo>
                        <a:pt x="80962" y="0"/>
                      </a:lnTo>
                      <a:lnTo>
                        <a:pt x="91083" y="50602"/>
                      </a:lnTo>
                      <a:lnTo>
                        <a:pt x="141684" y="60722"/>
                      </a:lnTo>
                      <a:lnTo>
                        <a:pt x="141684" y="80962"/>
                      </a:lnTo>
                      <a:lnTo>
                        <a:pt x="91083" y="91083"/>
                      </a:lnTo>
                      <a:lnTo>
                        <a:pt x="80962" y="141684"/>
                      </a:lnTo>
                      <a:lnTo>
                        <a:pt x="60722" y="141684"/>
                      </a:lnTo>
                      <a:lnTo>
                        <a:pt x="50602" y="91083"/>
                      </a:lnTo>
                      <a:lnTo>
                        <a:pt x="0" y="80962"/>
                      </a:lnTo>
                      <a:lnTo>
                        <a:pt x="0" y="60722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886700" y="4139803"/>
                  <a:ext cx="222647" cy="222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222647">
                      <a:moveTo>
                        <a:pt x="0" y="121444"/>
                      </a:moveTo>
                      <a:lnTo>
                        <a:pt x="0" y="101203"/>
                      </a:lnTo>
                      <a:lnTo>
                        <a:pt x="80962" y="80962"/>
                      </a:lnTo>
                      <a:lnTo>
                        <a:pt x="101203" y="0"/>
                      </a:lnTo>
                      <a:lnTo>
                        <a:pt x="121444" y="0"/>
                      </a:lnTo>
                      <a:lnTo>
                        <a:pt x="141684" y="80962"/>
                      </a:lnTo>
                      <a:lnTo>
                        <a:pt x="222647" y="101203"/>
                      </a:lnTo>
                      <a:lnTo>
                        <a:pt x="222647" y="121444"/>
                      </a:lnTo>
                      <a:lnTo>
                        <a:pt x="141684" y="141684"/>
                      </a:lnTo>
                      <a:lnTo>
                        <a:pt x="121444" y="222647"/>
                      </a:lnTo>
                      <a:lnTo>
                        <a:pt x="101203" y="222647"/>
                      </a:lnTo>
                      <a:lnTo>
                        <a:pt x="80962" y="141684"/>
                      </a:lnTo>
                      <a:lnTo>
                        <a:pt x="0" y="121444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906941" y="4048720"/>
                  <a:ext cx="60722" cy="607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22" h="60722">
                      <a:moveTo>
                        <a:pt x="0" y="30361"/>
                      </a:moveTo>
                      <a:lnTo>
                        <a:pt x="30361" y="0"/>
                      </a:lnTo>
                      <a:lnTo>
                        <a:pt x="60722" y="30361"/>
                      </a:lnTo>
                      <a:lnTo>
                        <a:pt x="30361" y="60722"/>
                      </a:lnTo>
                      <a:lnTo>
                        <a:pt x="0" y="30361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109347" y="4281488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80962" y="40481"/>
                      </a:moveTo>
                      <a:lnTo>
                        <a:pt x="40481" y="0"/>
                      </a:lnTo>
                      <a:lnTo>
                        <a:pt x="0" y="40481"/>
                      </a:lnTo>
                      <a:lnTo>
                        <a:pt x="40481" y="80962"/>
                      </a:lnTo>
                      <a:lnTo>
                        <a:pt x="80962" y="40481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170069" y="4200525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20241" y="40481"/>
                      </a:moveTo>
                      <a:cubicBezTo>
                        <a:pt x="31420" y="40481"/>
                        <a:pt x="40481" y="31419"/>
                        <a:pt x="40481" y="20241"/>
                      </a:cubicBezTo>
                      <a:cubicBezTo>
                        <a:pt x="40481" y="9062"/>
                        <a:pt x="31420" y="0"/>
                        <a:pt x="20241" y="0"/>
                      </a:cubicBezTo>
                      <a:cubicBezTo>
                        <a:pt x="9062" y="0"/>
                        <a:pt x="0" y="9062"/>
                        <a:pt x="0" y="20241"/>
                      </a:cubicBezTo>
                      <a:cubicBezTo>
                        <a:pt x="0" y="31419"/>
                        <a:pt x="9062" y="40481"/>
                        <a:pt x="20241" y="40481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288655" y="41214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AI 能力中台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872412" y="4507706"/>
                <a:ext cx="19338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Dify + Python 引擎：解析、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872412" y="47172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RAG 问答、TTS 语音合成。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1524000" y="5486400"/>
            <a:ext cx="9144000" cy="533400"/>
            <a:chOff x="1524000" y="5486400"/>
            <a:chExt cx="9144000" cy="533400"/>
          </a:xfrm>
        </p:grpSpPr>
        <p:sp>
          <p:nvSpPr>
            <p:cNvPr id="68" name="Rectangle 68"/>
            <p:cNvSpPr/>
            <p:nvPr/>
          </p:nvSpPr>
          <p:spPr>
            <a:xfrm>
              <a:off x="1524000" y="5486400"/>
              <a:ext cx="9144000" cy="533400"/>
            </a:xfrm>
            <a:prstGeom prst="roundRect">
              <a:avLst>
                <a:gd name="adj" fmla="val 21429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1771650" y="56007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95250" y="0"/>
                  </a:moveTo>
                  <a:lnTo>
                    <a:pt x="95250" y="76200"/>
                  </a:lnTo>
                  <a:lnTo>
                    <a:pt x="171450" y="76200"/>
                  </a:lnTo>
                  <a:lnTo>
                    <a:pt x="171450" y="0"/>
                  </a:lnTo>
                  <a:lnTo>
                    <a:pt x="209550" y="0"/>
                  </a:lnTo>
                  <a:lnTo>
                    <a:pt x="209550" y="76200"/>
                  </a:lnTo>
                  <a:lnTo>
                    <a:pt x="266700" y="76200"/>
                  </a:lnTo>
                  <a:lnTo>
                    <a:pt x="266700" y="114300"/>
                  </a:lnTo>
                  <a:lnTo>
                    <a:pt x="228600" y="114300"/>
                  </a:lnTo>
                  <a:lnTo>
                    <a:pt x="228600" y="152400"/>
                  </a:lnTo>
                  <a:cubicBezTo>
                    <a:pt x="228600" y="198482"/>
                    <a:pt x="195876" y="236919"/>
                    <a:pt x="152400" y="245745"/>
                  </a:cubicBez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245745"/>
                  </a:lnTo>
                  <a:cubicBezTo>
                    <a:pt x="70823" y="236919"/>
                    <a:pt x="38100" y="198482"/>
                    <a:pt x="38100" y="152400"/>
                  </a:cubicBezTo>
                  <a:lnTo>
                    <a:pt x="38100" y="114300"/>
                  </a:lnTo>
                  <a:lnTo>
                    <a:pt x="0" y="114300"/>
                  </a:lnTo>
                  <a:lnTo>
                    <a:pt x="0" y="76200"/>
                  </a:lnTo>
                  <a:lnTo>
                    <a:pt x="57150" y="76200"/>
                  </a:lnTo>
                  <a:lnTo>
                    <a:pt x="5715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155508" y="5682139"/>
              <a:ext cx="75481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通过 OpenAPI 适配层与泛雅平台轻量集成 —— 底座统一沉淀能力，向教师端、学生端两端分发。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6" grpId="0"/>
      <p:bldP spid="40" grpId="0"/>
      <p:bldP spid="67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7435186" cy="528638"/>
            <a:chOff x="609600" y="1047750"/>
            <a:chExt cx="7435186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72770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教师端：把备课从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"逐字撰写"</a:t>
              </a:r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变成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"编辑确认"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2955" y="1549718"/>
            <a:ext cx="8495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上传课件即自动生成结构化讲授脚本，教师编辑确认后一键发布；五项能力覆盖从备课到学情的完整闭环。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9600" y="2057400"/>
            <a:ext cx="2057400" cy="3905250"/>
            <a:chOff x="609600" y="2057400"/>
            <a:chExt cx="20574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6096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71550" y="253365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152400" y="0"/>
                  </a:moveTo>
                  <a:cubicBezTo>
                    <a:pt x="194483" y="0"/>
                    <a:pt x="228600" y="34116"/>
                    <a:pt x="228600" y="76200"/>
                  </a:cubicBezTo>
                  <a:lnTo>
                    <a:pt x="228600" y="95250"/>
                  </a:lnTo>
                  <a:cubicBezTo>
                    <a:pt x="270683" y="95250"/>
                    <a:pt x="304800" y="129366"/>
                    <a:pt x="304800" y="171450"/>
                  </a:cubicBezTo>
                  <a:lnTo>
                    <a:pt x="304800" y="228600"/>
                  </a:lnTo>
                  <a:lnTo>
                    <a:pt x="171450" y="228600"/>
                  </a:lnTo>
                  <a:lnTo>
                    <a:pt x="209550" y="190500"/>
                  </a:lnTo>
                  <a:lnTo>
                    <a:pt x="209550" y="171450"/>
                  </a:lnTo>
                  <a:lnTo>
                    <a:pt x="171450" y="171450"/>
                  </a:lnTo>
                  <a:lnTo>
                    <a:pt x="171450" y="114300"/>
                  </a:lnTo>
                  <a:lnTo>
                    <a:pt x="133350" y="114300"/>
                  </a:lnTo>
                  <a:lnTo>
                    <a:pt x="133350" y="171450"/>
                  </a:lnTo>
                  <a:lnTo>
                    <a:pt x="95250" y="171450"/>
                  </a:lnTo>
                  <a:lnTo>
                    <a:pt x="95250" y="190500"/>
                  </a:lnTo>
                  <a:lnTo>
                    <a:pt x="133350" y="228600"/>
                  </a:lnTo>
                  <a:lnTo>
                    <a:pt x="0" y="228600"/>
                  </a:lnTo>
                  <a:lnTo>
                    <a:pt x="0" y="152400"/>
                  </a:lnTo>
                  <a:cubicBezTo>
                    <a:pt x="0" y="110316"/>
                    <a:pt x="34116" y="76200"/>
                    <a:pt x="76200" y="76200"/>
                  </a:cubicBezTo>
                  <a:cubicBezTo>
                    <a:pt x="76200" y="34116"/>
                    <a:pt x="110316" y="0"/>
                    <a:pt x="152400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1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课件上传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770" y="3503295"/>
              <a:ext cx="4450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STEP 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912" y="384095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支持 PPT / PDF 课件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91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上传，自动触发后台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9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解析任务。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838450" y="2057400"/>
            <a:ext cx="2057400" cy="3905250"/>
            <a:chOff x="2838450" y="2057400"/>
            <a:chExt cx="2057400" cy="3905250"/>
          </a:xfrm>
        </p:grpSpPr>
        <p:sp>
          <p:nvSpPr>
            <p:cNvPr id="30" name="Rectangle 30"/>
            <p:cNvSpPr/>
            <p:nvPr/>
          </p:nvSpPr>
          <p:spPr>
            <a:xfrm>
              <a:off x="28384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28384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670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200400" y="2495550"/>
              <a:ext cx="304800" cy="304800"/>
              <a:chOff x="3200400" y="2495550"/>
              <a:chExt cx="304800" cy="304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352800" y="249555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57150"/>
                    </a:moveTo>
                    <a:lnTo>
                      <a:pt x="47625" y="47625"/>
                    </a:lnTo>
                    <a:lnTo>
                      <a:pt x="57150" y="0"/>
                    </a:lnTo>
                    <a:lnTo>
                      <a:pt x="76200" y="0"/>
                    </a:lnTo>
                    <a:lnTo>
                      <a:pt x="85725" y="47625"/>
                    </a:lnTo>
                    <a:lnTo>
                      <a:pt x="133350" y="57150"/>
                    </a:lnTo>
                    <a:lnTo>
                      <a:pt x="133350" y="76200"/>
                    </a:lnTo>
                    <a:lnTo>
                      <a:pt x="85725" y="85725"/>
                    </a:lnTo>
                    <a:lnTo>
                      <a:pt x="76200" y="133350"/>
                    </a:lnTo>
                    <a:lnTo>
                      <a:pt x="57150" y="133350"/>
                    </a:lnTo>
                    <a:lnTo>
                      <a:pt x="47625" y="85725"/>
                    </a:lnTo>
                    <a:lnTo>
                      <a:pt x="0" y="762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200400" y="259080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114300"/>
                    </a:moveTo>
                    <a:lnTo>
                      <a:pt x="0" y="95250"/>
                    </a:lnTo>
                    <a:lnTo>
                      <a:pt x="76200" y="76200"/>
                    </a:lnTo>
                    <a:lnTo>
                      <a:pt x="95250" y="0"/>
                    </a:lnTo>
                    <a:lnTo>
                      <a:pt x="114300" y="0"/>
                    </a:lnTo>
                    <a:lnTo>
                      <a:pt x="133350" y="76200"/>
                    </a:lnTo>
                    <a:lnTo>
                      <a:pt x="209550" y="95250"/>
                    </a:lnTo>
                    <a:lnTo>
                      <a:pt x="209550" y="114300"/>
                    </a:lnTo>
                    <a:lnTo>
                      <a:pt x="133350" y="133350"/>
                    </a:lnTo>
                    <a:lnTo>
                      <a:pt x="114300" y="209550"/>
                    </a:lnTo>
                    <a:lnTo>
                      <a:pt x="95250" y="209550"/>
                    </a:lnTo>
                    <a:lnTo>
                      <a:pt x="76200" y="13335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19450" y="2505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  <a:lnTo>
                      <a:pt x="28575" y="5715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409950" y="2724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38100" y="0"/>
                    </a:lnTo>
                    <a:lnTo>
                      <a:pt x="0" y="38100"/>
                    </a:lnTo>
                    <a:lnTo>
                      <a:pt x="38100" y="76200"/>
                    </a:lnTo>
                    <a:lnTo>
                      <a:pt x="76200" y="3810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467100" y="2647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0480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5562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STEP 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52762" y="38409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 生成开场、讲解、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527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过渡的结构化脚本与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527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配套语音。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067300" y="2057400"/>
            <a:ext cx="2057400" cy="3905250"/>
            <a:chOff x="5067300" y="2057400"/>
            <a:chExt cx="2057400" cy="3905250"/>
          </a:xfrm>
        </p:grpSpPr>
        <p:sp>
          <p:nvSpPr>
            <p:cNvPr id="45" name="Rectangle 45"/>
            <p:cNvSpPr/>
            <p:nvPr/>
          </p:nvSpPr>
          <p:spPr>
            <a:xfrm>
              <a:off x="50673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0673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959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448300" y="2495550"/>
              <a:ext cx="285750" cy="285750"/>
              <a:chOff x="5448300" y="2495550"/>
              <a:chExt cx="285750" cy="2857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448300" y="2566170"/>
                <a:ext cx="215130" cy="215130"/>
              </a:xfrm>
              <a:custGeom>
                <a:avLst/>
                <a:gdLst/>
                <a:ahLst/>
                <a:cxnLst/>
                <a:rect l="l" t="t" r="r" b="b"/>
                <a:pathLst>
                  <a:path w="215130" h="215130">
                    <a:moveTo>
                      <a:pt x="138930" y="0"/>
                    </a:moveTo>
                    <a:lnTo>
                      <a:pt x="0" y="138930"/>
                    </a:lnTo>
                    <a:lnTo>
                      <a:pt x="0" y="215130"/>
                    </a:lnTo>
                    <a:lnTo>
                      <a:pt x="76200" y="215130"/>
                    </a:lnTo>
                    <a:lnTo>
                      <a:pt x="215130" y="76200"/>
                    </a:lnTo>
                    <a:lnTo>
                      <a:pt x="13893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614170" y="2495550"/>
                <a:ext cx="11988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19880" h="119880">
                    <a:moveTo>
                      <a:pt x="0" y="43680"/>
                    </a:moveTo>
                    <a:lnTo>
                      <a:pt x="76200" y="119880"/>
                    </a:lnTo>
                    <a:lnTo>
                      <a:pt x="104099" y="91982"/>
                    </a:lnTo>
                    <a:cubicBezTo>
                      <a:pt x="114203" y="81877"/>
                      <a:pt x="119880" y="68172"/>
                      <a:pt x="119880" y="53882"/>
                    </a:cubicBezTo>
                    <a:cubicBezTo>
                      <a:pt x="119880" y="24124"/>
                      <a:pt x="95757" y="0"/>
                      <a:pt x="65999" y="0"/>
                    </a:cubicBezTo>
                    <a:cubicBezTo>
                      <a:pt x="51707" y="0"/>
                      <a:pt x="38003" y="5677"/>
                      <a:pt x="27899" y="15782"/>
                    </a:cubicBezTo>
                    <a:lnTo>
                      <a:pt x="0" y="4368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2768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8447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STEP 03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1612" y="38409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在线增删改讲授节点、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1612" y="4069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调整顺序与表述，确认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16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教学内容。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296150" y="2057400"/>
            <a:ext cx="2057400" cy="3905250"/>
            <a:chOff x="7296150" y="2057400"/>
            <a:chExt cx="2057400" cy="3905250"/>
          </a:xfrm>
        </p:grpSpPr>
        <p:sp>
          <p:nvSpPr>
            <p:cNvPr id="57" name="Rectangle 57"/>
            <p:cNvSpPr/>
            <p:nvPr/>
          </p:nvSpPr>
          <p:spPr>
            <a:xfrm>
              <a:off x="72961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58" name="Rectangle 58"/>
            <p:cNvSpPr/>
            <p:nvPr/>
          </p:nvSpPr>
          <p:spPr>
            <a:xfrm>
              <a:off x="72961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247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658100" y="2495550"/>
              <a:ext cx="304800" cy="304800"/>
              <a:chOff x="7658100" y="2495550"/>
              <a:chExt cx="304800" cy="304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658100" y="24955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90500" y="304800"/>
                    </a:moveTo>
                    <a:lnTo>
                      <a:pt x="228600" y="266700"/>
                    </a:lnTo>
                    <a:lnTo>
                      <a:pt x="228600" y="190500"/>
                    </a:lnTo>
                    <a:lnTo>
                      <a:pt x="260164" y="158937"/>
                    </a:lnTo>
                    <a:cubicBezTo>
                      <a:pt x="288743" y="130356"/>
                      <a:pt x="304800" y="91593"/>
                      <a:pt x="304800" y="51174"/>
                    </a:cubicBezTo>
                    <a:lnTo>
                      <a:pt x="304800" y="0"/>
                    </a:lnTo>
                    <a:lnTo>
                      <a:pt x="253626" y="0"/>
                    </a:lnTo>
                    <a:cubicBezTo>
                      <a:pt x="213208" y="0"/>
                      <a:pt x="174444" y="16056"/>
                      <a:pt x="145863" y="44637"/>
                    </a:cubicBezTo>
                    <a:lnTo>
                      <a:pt x="114300" y="76200"/>
                    </a:lnTo>
                    <a:lnTo>
                      <a:pt x="38100" y="76200"/>
                    </a:lnTo>
                    <a:lnTo>
                      <a:pt x="0" y="114300"/>
                    </a:lnTo>
                    <a:lnTo>
                      <a:pt x="190500" y="304800"/>
                    </a:lnTo>
                    <a:close/>
                    <a:moveTo>
                      <a:pt x="200025" y="133350"/>
                    </a:moveTo>
                    <a:cubicBezTo>
                      <a:pt x="215806" y="133350"/>
                      <a:pt x="228600" y="120557"/>
                      <a:pt x="228600" y="104775"/>
                    </a:cubicBezTo>
                    <a:cubicBezTo>
                      <a:pt x="228600" y="88993"/>
                      <a:pt x="215806" y="76200"/>
                      <a:pt x="200025" y="76200"/>
                    </a:cubicBezTo>
                    <a:cubicBezTo>
                      <a:pt x="184243" y="76200"/>
                      <a:pt x="171450" y="88993"/>
                      <a:pt x="171450" y="104775"/>
                    </a:cubicBezTo>
                    <a:cubicBezTo>
                      <a:pt x="171450" y="120557"/>
                      <a:pt x="184243" y="133350"/>
                      <a:pt x="200025" y="13335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658100" y="2706483"/>
                <a:ext cx="93867" cy="93867"/>
              </a:xfrm>
              <a:custGeom>
                <a:avLst/>
                <a:gdLst/>
                <a:ahLst/>
                <a:cxnLst/>
                <a:rect l="l" t="t" r="r" b="b"/>
                <a:pathLst>
                  <a:path w="93867" h="93867">
                    <a:moveTo>
                      <a:pt x="93867" y="51115"/>
                    </a:moveTo>
                    <a:lnTo>
                      <a:pt x="42753" y="0"/>
                    </a:lnTo>
                    <a:lnTo>
                      <a:pt x="0" y="74817"/>
                    </a:lnTo>
                    <a:lnTo>
                      <a:pt x="19050" y="93867"/>
                    </a:lnTo>
                    <a:lnTo>
                      <a:pt x="93867" y="51115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5057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课程发布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1332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STEP 04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1046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一键发布为可学习的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104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互动智课，向学生端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104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开放学习。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525000" y="2057400"/>
            <a:ext cx="2057400" cy="3905250"/>
            <a:chOff x="9525000" y="2057400"/>
            <a:chExt cx="2057400" cy="3905250"/>
          </a:xfrm>
        </p:grpSpPr>
        <p:sp>
          <p:nvSpPr>
            <p:cNvPr id="69" name="Rectangle 69"/>
            <p:cNvSpPr/>
            <p:nvPr/>
          </p:nvSpPr>
          <p:spPr>
            <a:xfrm>
              <a:off x="95250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70" name="Rectangle 70"/>
            <p:cNvSpPr/>
            <p:nvPr/>
          </p:nvSpPr>
          <p:spPr>
            <a:xfrm>
              <a:off x="95250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7536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886950" y="2514600"/>
              <a:ext cx="304800" cy="266700"/>
              <a:chOff x="9886950" y="2514600"/>
              <a:chExt cx="304800" cy="2667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115550" y="25146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0001250" y="25908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886950" y="26670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97345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42170" y="3503295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STEP 05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3931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查看学习进度、提问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39312" y="4069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记录与薄弱知识点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39312" y="429815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分布。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82" name="TextBox 82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4" grpId="0"/>
      <p:bldP spid="56" grpId="0"/>
      <p:bldP spid="68" grpId="0"/>
      <p:bldP spid="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6649688" cy="528638"/>
            <a:chOff x="609600" y="1047750"/>
            <a:chExt cx="6649688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64915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学生端：</a:t>
              </a:r>
              <a:r>
                <a:rPr lang="zh-CN" sz="25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边听讲边提问</a:t>
              </a:r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，问完自动接着学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2955" y="1549718"/>
            <a:ext cx="87203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学生像看一节"会讲课"的课程一样学习，随时就当前页提问，AI 判断理解程度后自动续接进度并强化薄弱点。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09600" y="2057400"/>
            <a:ext cx="2057400" cy="3905250"/>
            <a:chOff x="609600" y="2057400"/>
            <a:chExt cx="20574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6096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71550" y="2533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1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课程学习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770" y="3503295"/>
              <a:ext cx="369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LEARN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91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按结构化节点逐步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912" y="4069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观看 AI 讲授，像上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912" y="42981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一节真人课。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838450" y="2057400"/>
            <a:ext cx="2057400" cy="3905250"/>
            <a:chOff x="2838450" y="2057400"/>
            <a:chExt cx="2057400" cy="3905250"/>
          </a:xfrm>
        </p:grpSpPr>
        <p:sp>
          <p:nvSpPr>
            <p:cNvPr id="30" name="Rectangle 30"/>
            <p:cNvSpPr/>
            <p:nvPr/>
          </p:nvSpPr>
          <p:spPr>
            <a:xfrm>
              <a:off x="28384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28384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670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200400" y="2514600"/>
              <a:ext cx="304800" cy="284792"/>
              <a:chOff x="3200400" y="2514600"/>
              <a:chExt cx="304800" cy="28479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276600" y="25146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190500"/>
                    </a:lnTo>
                    <a:lnTo>
                      <a:pt x="76200" y="190500"/>
                    </a:lnTo>
                    <a:lnTo>
                      <a:pt x="114300" y="228600"/>
                    </a:lnTo>
                    <a:lnTo>
                      <a:pt x="152400" y="190500"/>
                    </a:lnTo>
                    <a:lnTo>
                      <a:pt x="228600" y="1905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200400" y="2590800"/>
                <a:ext cx="165870" cy="208592"/>
              </a:xfrm>
              <a:custGeom>
                <a:avLst/>
                <a:gdLst/>
                <a:ahLst/>
                <a:cxnLst/>
                <a:rect l="l" t="t" r="r" b="b"/>
                <a:pathLst>
                  <a:path w="165870" h="208592">
                    <a:moveTo>
                      <a:pt x="38100" y="0"/>
                    </a:moveTo>
                    <a:lnTo>
                      <a:pt x="38100" y="152400"/>
                    </a:lnTo>
                    <a:lnTo>
                      <a:pt x="136618" y="152400"/>
                    </a:lnTo>
                    <a:lnTo>
                      <a:pt x="165870" y="181651"/>
                    </a:lnTo>
                    <a:lnTo>
                      <a:pt x="138930" y="208592"/>
                    </a:lnTo>
                    <a:lnTo>
                      <a:pt x="120837" y="190500"/>
                    </a:lnTo>
                    <a:lnTo>
                      <a:pt x="0" y="190500"/>
                    </a:ln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048000" y="31718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上下文问答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55620" y="3503295"/>
              <a:ext cx="2307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ASK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52762" y="38409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随时就当前页提问，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52762" y="4069556"/>
              <a:ext cx="11012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 结合本页内容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527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溯源作答。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67300" y="2057400"/>
            <a:ext cx="2057400" cy="3905250"/>
            <a:chOff x="5067300" y="2057400"/>
            <a:chExt cx="2057400" cy="3905250"/>
          </a:xfrm>
        </p:grpSpPr>
        <p:sp>
          <p:nvSpPr>
            <p:cNvPr id="42" name="Rectangle 42"/>
            <p:cNvSpPr/>
            <p:nvPr/>
          </p:nvSpPr>
          <p:spPr>
            <a:xfrm>
              <a:off x="50673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50673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2959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5448300" y="249555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38100" y="133350"/>
                  </a:moveTo>
                  <a:cubicBezTo>
                    <a:pt x="38100" y="80745"/>
                    <a:pt x="80745" y="38100"/>
                    <a:pt x="133350" y="38100"/>
                  </a:cubicBezTo>
                  <a:cubicBezTo>
                    <a:pt x="185955" y="38100"/>
                    <a:pt x="228600" y="80745"/>
                    <a:pt x="228600" y="133350"/>
                  </a:cubicBezTo>
                  <a:lnTo>
                    <a:pt x="228600" y="152400"/>
                  </a:lnTo>
                  <a:lnTo>
                    <a:pt x="171450" y="152400"/>
                  </a:lnTo>
                  <a:lnTo>
                    <a:pt x="171450" y="285750"/>
                  </a:lnTo>
                  <a:lnTo>
                    <a:pt x="209550" y="285750"/>
                  </a:lnTo>
                  <a:cubicBezTo>
                    <a:pt x="241114" y="285750"/>
                    <a:pt x="266700" y="260164"/>
                    <a:pt x="266700" y="228600"/>
                  </a:cubicBezTo>
                  <a:lnTo>
                    <a:pt x="266700" y="133350"/>
                  </a:lnTo>
                  <a:cubicBezTo>
                    <a:pt x="266700" y="59703"/>
                    <a:pt x="206997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lnTo>
                    <a:pt x="0" y="228600"/>
                  </a:lnTo>
                  <a:cubicBezTo>
                    <a:pt x="0" y="260164"/>
                    <a:pt x="25587" y="285750"/>
                    <a:pt x="57150" y="285750"/>
                  </a:cubicBezTo>
                  <a:lnTo>
                    <a:pt x="95250" y="285750"/>
                  </a:lnTo>
                  <a:lnTo>
                    <a:pt x="95250" y="152400"/>
                  </a:lnTo>
                  <a:lnTo>
                    <a:pt x="38100" y="152400"/>
                  </a:lnTo>
                  <a:lnTo>
                    <a:pt x="38100" y="13335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语音播放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4470" y="350329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LISTEN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81612" y="3840956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讲授脚本配 TTS 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161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音，支持边听边看，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16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解放双眼。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296150" y="2057400"/>
            <a:ext cx="2057400" cy="3905250"/>
            <a:chOff x="7296150" y="2057400"/>
            <a:chExt cx="2057400" cy="3905250"/>
          </a:xfrm>
        </p:grpSpPr>
        <p:sp>
          <p:nvSpPr>
            <p:cNvPr id="52" name="Rectangle 52"/>
            <p:cNvSpPr/>
            <p:nvPr/>
          </p:nvSpPr>
          <p:spPr>
            <a:xfrm>
              <a:off x="729615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729615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475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677150" y="2514600"/>
              <a:ext cx="266700" cy="266700"/>
              <a:chOff x="7677150" y="2514600"/>
              <a:chExt cx="266700" cy="2667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677150" y="2514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67650" y="27051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38100"/>
                    </a:moveTo>
                    <a:cubicBezTo>
                      <a:pt x="76200" y="59143"/>
                      <a:pt x="59143" y="76200"/>
                      <a:pt x="38100" y="76200"/>
                    </a:cubicBezTo>
                    <a:cubicBezTo>
                      <a:pt x="17057" y="76200"/>
                      <a:pt x="0" y="59143"/>
                      <a:pt x="0" y="38100"/>
                    </a:cubicBezTo>
                    <a:cubicBezTo>
                      <a:pt x="0" y="17057"/>
                      <a:pt x="17057" y="0"/>
                      <a:pt x="38100" y="0"/>
                    </a:cubicBezTo>
                    <a:cubicBezTo>
                      <a:pt x="59143" y="0"/>
                      <a:pt x="76200" y="17057"/>
                      <a:pt x="76200" y="38100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96200" y="25146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133350" y="66675"/>
                    </a:moveTo>
                    <a:cubicBezTo>
                      <a:pt x="133350" y="50893"/>
                      <a:pt x="146143" y="38100"/>
                      <a:pt x="161925" y="38100"/>
                    </a:cubicBezTo>
                    <a:cubicBezTo>
                      <a:pt x="177706" y="38100"/>
                      <a:pt x="190500" y="50893"/>
                      <a:pt x="190500" y="66675"/>
                    </a:cubicBezTo>
                    <a:lnTo>
                      <a:pt x="190500" y="152400"/>
                    </a:lnTo>
                    <a:lnTo>
                      <a:pt x="228600" y="152400"/>
                    </a:lnTo>
                    <a:lnTo>
                      <a:pt x="228600" y="66675"/>
                    </a:lnTo>
                    <a:cubicBezTo>
                      <a:pt x="228600" y="29851"/>
                      <a:pt x="198749" y="0"/>
                      <a:pt x="161925" y="0"/>
                    </a:cubicBezTo>
                    <a:cubicBezTo>
                      <a:pt x="125101" y="0"/>
                      <a:pt x="95250" y="29851"/>
                      <a:pt x="95250" y="66675"/>
                    </a:cubicBezTo>
                    <a:lnTo>
                      <a:pt x="95250" y="200025"/>
                    </a:lnTo>
                    <a:cubicBezTo>
                      <a:pt x="95250" y="215806"/>
                      <a:pt x="82457" y="228600"/>
                      <a:pt x="66675" y="228600"/>
                    </a:cubicBezTo>
                    <a:cubicBezTo>
                      <a:pt x="50893" y="228600"/>
                      <a:pt x="38100" y="215806"/>
                      <a:pt x="38100" y="200025"/>
                    </a:cubicBezTo>
                    <a:lnTo>
                      <a:pt x="38100" y="114300"/>
                    </a:lnTo>
                    <a:lnTo>
                      <a:pt x="0" y="114300"/>
                    </a:lnTo>
                    <a:lnTo>
                      <a:pt x="0" y="200025"/>
                    </a:lnTo>
                    <a:cubicBezTo>
                      <a:pt x="0" y="236849"/>
                      <a:pt x="29851" y="266700"/>
                      <a:pt x="66675" y="266700"/>
                    </a:cubicBezTo>
                    <a:cubicBezTo>
                      <a:pt x="103499" y="266700"/>
                      <a:pt x="133350" y="236849"/>
                      <a:pt x="133350" y="200025"/>
                    </a:cubicBezTo>
                    <a:lnTo>
                      <a:pt x="133350" y="6667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505700" y="3171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断点续学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13320" y="3503295"/>
              <a:ext cx="4639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RESUME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1046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提问打断后，自动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10462" y="4069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定位原节点，续讲或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046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重讲衔接。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525000" y="2057400"/>
            <a:ext cx="2057400" cy="3905250"/>
            <a:chOff x="9525000" y="2057400"/>
            <a:chExt cx="2057400" cy="3905250"/>
          </a:xfrm>
        </p:grpSpPr>
        <p:sp>
          <p:nvSpPr>
            <p:cNvPr id="65" name="Rectangle 65"/>
            <p:cNvSpPr/>
            <p:nvPr/>
          </p:nvSpPr>
          <p:spPr>
            <a:xfrm>
              <a:off x="9525000" y="2057400"/>
              <a:ext cx="2057400" cy="390525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6" name="Rectangle 66"/>
            <p:cNvSpPr/>
            <p:nvPr/>
          </p:nvSpPr>
          <p:spPr>
            <a:xfrm>
              <a:off x="9525000" y="2057400"/>
              <a:ext cx="20574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753600" y="2362200"/>
              <a:ext cx="571500" cy="5715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886950" y="2495550"/>
              <a:ext cx="304800" cy="304800"/>
              <a:chOff x="9886950" y="2495550"/>
              <a:chExt cx="304800" cy="3048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886950" y="24955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5624" y="38145"/>
                    </a:moveTo>
                    <a:cubicBezTo>
                      <a:pt x="154553" y="38115"/>
                      <a:pt x="153478" y="38100"/>
                      <a:pt x="152400" y="38100"/>
                    </a:cubicBezTo>
                    <a:cubicBezTo>
                      <a:pt x="89274" y="38100"/>
                      <a:pt x="38100" y="89274"/>
                      <a:pt x="38100" y="152400"/>
                    </a:cubicBezTo>
                    <a:cubicBezTo>
                      <a:pt x="38100" y="215526"/>
                      <a:pt x="89274" y="266700"/>
                      <a:pt x="152400" y="266700"/>
                    </a:cubicBezTo>
                    <a:cubicBezTo>
                      <a:pt x="215526" y="266700"/>
                      <a:pt x="266700" y="215526"/>
                      <a:pt x="266700" y="152400"/>
                    </a:cubicBezTo>
                    <a:cubicBezTo>
                      <a:pt x="266700" y="151322"/>
                      <a:pt x="266685" y="150247"/>
                      <a:pt x="266656" y="149176"/>
                    </a:cubicBezTo>
                    <a:lnTo>
                      <a:pt x="300308" y="115523"/>
                    </a:lnTo>
                    <a:cubicBezTo>
                      <a:pt x="303242" y="127332"/>
                      <a:pt x="304800" y="139684"/>
                      <a:pt x="304800" y="152400"/>
                    </a:cubicBezTo>
                    <a:cubicBezTo>
                      <a:pt x="304800" y="236569"/>
                      <a:pt x="236569" y="304800"/>
                      <a:pt x="152400" y="304800"/>
                    </a:cubicBezTo>
                    <a:cubicBezTo>
                      <a:pt x="68232" y="304800"/>
                      <a:pt x="0" y="236569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165116" y="0"/>
                      <a:pt x="177468" y="1557"/>
                      <a:pt x="189277" y="4492"/>
                    </a:cubicBezTo>
                    <a:lnTo>
                      <a:pt x="155624" y="38145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963150" y="2574150"/>
                <a:ext cx="150000" cy="15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50000">
                    <a:moveTo>
                      <a:pt x="0" y="73799"/>
                    </a:moveTo>
                    <a:cubicBezTo>
                      <a:pt x="0" y="38293"/>
                      <a:pt x="24284" y="8459"/>
                      <a:pt x="57150" y="0"/>
                    </a:cubicBezTo>
                    <a:lnTo>
                      <a:pt x="57150" y="40796"/>
                    </a:lnTo>
                    <a:cubicBezTo>
                      <a:pt x="45762" y="47384"/>
                      <a:pt x="38100" y="59697"/>
                      <a:pt x="38100" y="73799"/>
                    </a:cubicBezTo>
                    <a:cubicBezTo>
                      <a:pt x="38100" y="94841"/>
                      <a:pt x="55158" y="111899"/>
                      <a:pt x="76200" y="111899"/>
                    </a:cubicBezTo>
                    <a:cubicBezTo>
                      <a:pt x="90302" y="111899"/>
                      <a:pt x="102615" y="104237"/>
                      <a:pt x="109203" y="92849"/>
                    </a:cubicBezTo>
                    <a:lnTo>
                      <a:pt x="150000" y="92849"/>
                    </a:lnTo>
                    <a:cubicBezTo>
                      <a:pt x="141540" y="125715"/>
                      <a:pt x="111706" y="150000"/>
                      <a:pt x="76200" y="150000"/>
                    </a:cubicBezTo>
                    <a:cubicBezTo>
                      <a:pt x="34116" y="150000"/>
                      <a:pt x="0" y="115883"/>
                      <a:pt x="0" y="73799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0035405" y="2495550"/>
                <a:ext cx="156345" cy="156345"/>
              </a:xfrm>
              <a:custGeom>
                <a:avLst/>
                <a:gdLst/>
                <a:ahLst/>
                <a:cxnLst/>
                <a:rect l="l" t="t" r="r" b="b"/>
                <a:pathLst>
                  <a:path w="156345" h="156345">
                    <a:moveTo>
                      <a:pt x="118245" y="38100"/>
                    </a:moveTo>
                    <a:lnTo>
                      <a:pt x="99195" y="0"/>
                    </a:lnTo>
                    <a:lnTo>
                      <a:pt x="42045" y="57150"/>
                    </a:lnTo>
                    <a:lnTo>
                      <a:pt x="42045" y="87359"/>
                    </a:lnTo>
                    <a:lnTo>
                      <a:pt x="0" y="129405"/>
                    </a:lnTo>
                    <a:lnTo>
                      <a:pt x="26941" y="156345"/>
                    </a:lnTo>
                    <a:lnTo>
                      <a:pt x="68986" y="114300"/>
                    </a:lnTo>
                    <a:lnTo>
                      <a:pt x="99195" y="114300"/>
                    </a:lnTo>
                    <a:lnTo>
                      <a:pt x="156345" y="57150"/>
                    </a:lnTo>
                    <a:lnTo>
                      <a:pt x="118245" y="3810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734550" y="31718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薄弱点强化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42170" y="3503295"/>
              <a:ext cx="3946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FOCUS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39312" y="3840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依据理解程度针对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39312" y="4069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薄弱知识点补充讲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39312" y="42981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解与练习。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78" name="TextBox 7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1" grpId="0"/>
      <p:bldP spid="51" grpId="0"/>
      <p:bldP spid="64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04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47750"/>
            <a:ext cx="6292644" cy="528638"/>
            <a:chOff x="609600" y="1047750"/>
            <a:chExt cx="6292644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477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582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一条故事链，把两端串成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真实学习闭环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05000" y="2857500"/>
            <a:ext cx="8286750" cy="1714500"/>
            <a:chOff x="1905000" y="2857500"/>
            <a:chExt cx="8286750" cy="1714500"/>
          </a:xfrm>
        </p:grpSpPr>
        <p:sp>
          <p:nvSpPr>
            <p:cNvPr id="19" name="Freeform 19"/>
            <p:cNvSpPr/>
            <p:nvPr/>
          </p:nvSpPr>
          <p:spPr>
            <a:xfrm>
              <a:off x="1905000" y="2857500"/>
              <a:ext cx="8286750" cy="1714500"/>
            </a:xfrm>
            <a:custGeom>
              <a:avLst/>
              <a:gdLst/>
              <a:ahLst/>
              <a:cxnLst/>
              <a:rect l="l" t="t" r="r" b="b"/>
              <a:pathLst>
                <a:path w="8286750" h="1714500">
                  <a:moveTo>
                    <a:pt x="0" y="0"/>
                  </a:moveTo>
                  <a:lnTo>
                    <a:pt x="7429500" y="0"/>
                  </a:lnTo>
                  <a:cubicBezTo>
                    <a:pt x="7902946" y="0"/>
                    <a:pt x="8286750" y="383804"/>
                    <a:pt x="8286750" y="857250"/>
                  </a:cubicBezTo>
                  <a:cubicBezTo>
                    <a:pt x="8286750" y="1330696"/>
                    <a:pt x="7902946" y="1714500"/>
                    <a:pt x="7429500" y="1714500"/>
                  </a:cubicBezTo>
                  <a:lnTo>
                    <a:pt x="2476500" y="1714500"/>
                  </a:lnTo>
                </a:path>
              </a:pathLst>
            </a:custGeom>
            <a:noFill/>
            <a:ln w="228600" cap="rnd">
              <a:solidFill>
                <a:srgbClr val="E0E7FF"/>
              </a:solidFill>
              <a:round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76300" y="1962150"/>
            <a:ext cx="9486900" cy="552450"/>
            <a:chOff x="876300" y="1962150"/>
            <a:chExt cx="9486900" cy="552450"/>
          </a:xfrm>
        </p:grpSpPr>
        <p:grpSp>
          <p:nvGrpSpPr>
            <p:cNvPr id="24" name="Group 24"/>
            <p:cNvGrpSpPr/>
            <p:nvPr/>
          </p:nvGrpSpPr>
          <p:grpSpPr>
            <a:xfrm>
              <a:off x="876300" y="1962150"/>
              <a:ext cx="2057400" cy="552450"/>
              <a:chOff x="876300" y="1962150"/>
              <a:chExt cx="2057400" cy="5524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763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76300" y="1962150"/>
                <a:ext cx="2057400" cy="47625"/>
              </a:xfrm>
              <a:prstGeom prst="rect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32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教师上传课件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52800" y="1962150"/>
              <a:ext cx="2057400" cy="552450"/>
              <a:chOff x="3352800" y="1962150"/>
              <a:chExt cx="2057400" cy="5524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3528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352800" y="1962150"/>
                <a:ext cx="2057400" cy="47625"/>
              </a:xfrm>
              <a:prstGeom prst="rect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905613" y="2129314"/>
                <a:ext cx="9517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AI 生成智课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829300" y="1962150"/>
              <a:ext cx="2057400" cy="552450"/>
              <a:chOff x="5829300" y="1962150"/>
              <a:chExt cx="2057400" cy="5524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8293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829300" y="1962150"/>
                <a:ext cx="2057400" cy="47625"/>
              </a:xfrm>
              <a:prstGeom prst="rect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062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教师编辑确认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305800" y="1962150"/>
              <a:ext cx="2057400" cy="552450"/>
              <a:chOff x="8305800" y="1962150"/>
              <a:chExt cx="2057400" cy="552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305800" y="19621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8305800" y="1962150"/>
                <a:ext cx="2057400" cy="47625"/>
              </a:xfrm>
              <a:prstGeom prst="rect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782741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学生进入学习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3352800" y="4933950"/>
            <a:ext cx="7010400" cy="552450"/>
            <a:chOff x="3352800" y="4933950"/>
            <a:chExt cx="7010400" cy="552450"/>
          </a:xfrm>
        </p:grpSpPr>
        <p:grpSp>
          <p:nvGrpSpPr>
            <p:cNvPr id="41" name="Group 41"/>
            <p:cNvGrpSpPr/>
            <p:nvPr/>
          </p:nvGrpSpPr>
          <p:grpSpPr>
            <a:xfrm>
              <a:off x="8305800" y="4933950"/>
              <a:ext cx="2057400" cy="552450"/>
              <a:chOff x="8305800" y="4933950"/>
              <a:chExt cx="2057400" cy="552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3058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305800" y="4933950"/>
                <a:ext cx="2057400" cy="47625"/>
              </a:xfrm>
              <a:prstGeom prst="rect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693479" y="510111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实时上下文问答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829300" y="4933950"/>
              <a:ext cx="2057400" cy="552450"/>
              <a:chOff x="5829300" y="4933950"/>
              <a:chExt cx="2057400" cy="5524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8293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829300" y="4933950"/>
                <a:ext cx="2057400" cy="47625"/>
              </a:xfrm>
              <a:prstGeom prst="rect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306241" y="51011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自动续接进度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3352800" y="4933950"/>
              <a:ext cx="2057400" cy="552450"/>
              <a:chOff x="3352800" y="4933950"/>
              <a:chExt cx="2057400" cy="5524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352800" y="4933950"/>
                <a:ext cx="20574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600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352800" y="4933950"/>
                <a:ext cx="2057400" cy="47625"/>
              </a:xfrm>
              <a:prstGeom prst="rect">
                <a:avLst/>
              </a:pr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3829741" y="51011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学情回流教师</a:t>
                </a:r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1524000" y="2476500"/>
            <a:ext cx="8191500" cy="2476500"/>
            <a:chOff x="1524000" y="2476500"/>
            <a:chExt cx="8191500" cy="2476500"/>
          </a:xfrm>
        </p:grpSpPr>
        <p:grpSp>
          <p:nvGrpSpPr>
            <p:cNvPr id="54" name="Group 54"/>
            <p:cNvGrpSpPr/>
            <p:nvPr/>
          </p:nvGrpSpPr>
          <p:grpSpPr>
            <a:xfrm>
              <a:off x="1524000" y="2476500"/>
              <a:ext cx="762000" cy="762000"/>
              <a:chOff x="1524000" y="2476500"/>
              <a:chExt cx="762000" cy="7620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1524000" y="2476500"/>
                <a:ext cx="762000" cy="762000"/>
              </a:xfrm>
              <a:prstGeom prst="ellipse">
                <a:avLst/>
              </a:prstGeom>
              <a:solidFill>
                <a:srgbClr val="1E6F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619250" y="2571750"/>
                <a:ext cx="571500" cy="571500"/>
              </a:xfrm>
              <a:prstGeom prst="ellipse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752600" y="2743200"/>
                <a:ext cx="304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28600">
                    <a:moveTo>
                      <a:pt x="152400" y="0"/>
                    </a:moveTo>
                    <a:cubicBezTo>
                      <a:pt x="194483" y="0"/>
                      <a:pt x="228600" y="34116"/>
                      <a:pt x="228600" y="76200"/>
                    </a:cubicBezTo>
                    <a:lnTo>
                      <a:pt x="228600" y="95250"/>
                    </a:lnTo>
                    <a:cubicBezTo>
                      <a:pt x="270683" y="95250"/>
                      <a:pt x="304800" y="129366"/>
                      <a:pt x="304800" y="171450"/>
                    </a:cubicBezTo>
                    <a:lnTo>
                      <a:pt x="304800" y="228600"/>
                    </a:lnTo>
                    <a:lnTo>
                      <a:pt x="171450" y="228600"/>
                    </a:lnTo>
                    <a:lnTo>
                      <a:pt x="209550" y="190500"/>
                    </a:lnTo>
                    <a:lnTo>
                      <a:pt x="209550" y="171450"/>
                    </a:lnTo>
                    <a:lnTo>
                      <a:pt x="171450" y="171450"/>
                    </a:lnTo>
                    <a:lnTo>
                      <a:pt x="171450" y="114300"/>
                    </a:lnTo>
                    <a:lnTo>
                      <a:pt x="133350" y="114300"/>
                    </a:lnTo>
                    <a:lnTo>
                      <a:pt x="133350" y="171450"/>
                    </a:lnTo>
                    <a:lnTo>
                      <a:pt x="95250" y="171450"/>
                    </a:lnTo>
                    <a:lnTo>
                      <a:pt x="95250" y="190500"/>
                    </a:lnTo>
                    <a:lnTo>
                      <a:pt x="133350" y="228600"/>
                    </a:lnTo>
                    <a:lnTo>
                      <a:pt x="0" y="228600"/>
                    </a:lnTo>
                    <a:lnTo>
                      <a:pt x="0" y="152400"/>
                    </a:lnTo>
                    <a:cubicBezTo>
                      <a:pt x="0" y="110316"/>
                      <a:pt x="34116" y="76200"/>
                      <a:pt x="76200" y="76200"/>
                    </a:cubicBezTo>
                    <a:cubicBezTo>
                      <a:pt x="76200" y="34116"/>
                      <a:pt x="110316" y="0"/>
                      <a:pt x="152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4000500" y="2476500"/>
              <a:ext cx="762000" cy="762000"/>
              <a:chOff x="4000500" y="2476500"/>
              <a:chExt cx="762000" cy="7620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4000500" y="2476500"/>
                <a:ext cx="762000" cy="762000"/>
              </a:xfrm>
              <a:prstGeom prst="ellipse">
                <a:avLst/>
              </a:prstGeom>
              <a:solidFill>
                <a:srgbClr val="7B5B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4095750" y="2571750"/>
                <a:ext cx="571500" cy="571500"/>
              </a:xfrm>
              <a:prstGeom prst="ellipse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4229100" y="2705100"/>
                <a:ext cx="304800" cy="304800"/>
                <a:chOff x="4229100" y="2705100"/>
                <a:chExt cx="304800" cy="30480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4381500" y="27051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57150"/>
                      </a:moveTo>
                      <a:lnTo>
                        <a:pt x="47625" y="47625"/>
                      </a:ln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85725" y="47625"/>
                      </a:lnTo>
                      <a:lnTo>
                        <a:pt x="133350" y="57150"/>
                      </a:lnTo>
                      <a:lnTo>
                        <a:pt x="133350" y="76200"/>
                      </a:lnTo>
                      <a:lnTo>
                        <a:pt x="85725" y="85725"/>
                      </a:lnTo>
                      <a:lnTo>
                        <a:pt x="76200" y="133350"/>
                      </a:lnTo>
                      <a:lnTo>
                        <a:pt x="57150" y="133350"/>
                      </a:lnTo>
                      <a:lnTo>
                        <a:pt x="47625" y="85725"/>
                      </a:lnTo>
                      <a:lnTo>
                        <a:pt x="0" y="76200"/>
                      </a:lnTo>
                      <a:lnTo>
                        <a:pt x="0" y="5715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229100" y="2800350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14300"/>
                      </a:moveTo>
                      <a:lnTo>
                        <a:pt x="0" y="95250"/>
                      </a:lnTo>
                      <a:lnTo>
                        <a:pt x="76200" y="76200"/>
                      </a:lnTo>
                      <a:lnTo>
                        <a:pt x="95250" y="0"/>
                      </a:lnTo>
                      <a:lnTo>
                        <a:pt x="114300" y="0"/>
                      </a:lnTo>
                      <a:lnTo>
                        <a:pt x="133350" y="76200"/>
                      </a:lnTo>
                      <a:lnTo>
                        <a:pt x="209550" y="95250"/>
                      </a:lnTo>
                      <a:lnTo>
                        <a:pt x="209550" y="114300"/>
                      </a:lnTo>
                      <a:lnTo>
                        <a:pt x="133350" y="133350"/>
                      </a:lnTo>
                      <a:lnTo>
                        <a:pt x="114300" y="209550"/>
                      </a:lnTo>
                      <a:lnTo>
                        <a:pt x="95250" y="209550"/>
                      </a:lnTo>
                      <a:lnTo>
                        <a:pt x="76200" y="13335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48150" y="27146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lnTo>
                        <a:pt x="28575" y="0"/>
                      </a:lnTo>
                      <a:lnTo>
                        <a:pt x="57150" y="28575"/>
                      </a:lnTo>
                      <a:lnTo>
                        <a:pt x="28575" y="5715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438650" y="29337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lnTo>
                        <a:pt x="38100" y="0"/>
                      </a:lnTo>
                      <a:lnTo>
                        <a:pt x="0" y="38100"/>
                      </a:lnTo>
                      <a:lnTo>
                        <a:pt x="38100" y="76200"/>
                      </a:lnTo>
                      <a:lnTo>
                        <a:pt x="76200" y="381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495800" y="28575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38100"/>
                      </a:move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  <a:cubicBezTo>
                        <a:pt x="0" y="29571"/>
                        <a:pt x="8529" y="38100"/>
                        <a:pt x="1905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69" name="Group 69"/>
            <p:cNvGrpSpPr/>
            <p:nvPr/>
          </p:nvGrpSpPr>
          <p:grpSpPr>
            <a:xfrm>
              <a:off x="6477000" y="2476500"/>
              <a:ext cx="762000" cy="762000"/>
              <a:chOff x="6477000" y="2476500"/>
              <a:chExt cx="762000" cy="762000"/>
            </a:xfrm>
          </p:grpSpPr>
          <p:sp>
            <p:nvSpPr>
              <p:cNvPr id="64" name="Ellipse 64"/>
              <p:cNvSpPr/>
              <p:nvPr/>
            </p:nvSpPr>
            <p:spPr>
              <a:xfrm>
                <a:off x="6477000" y="2476500"/>
                <a:ext cx="762000" cy="762000"/>
              </a:xfrm>
              <a:prstGeom prst="ellipse">
                <a:avLst/>
              </a:prstGeom>
              <a:solidFill>
                <a:srgbClr val="17B3A3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572250" y="2571750"/>
                <a:ext cx="571500" cy="571500"/>
              </a:xfrm>
              <a:prstGeom prst="ellipse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6724650" y="2705100"/>
                <a:ext cx="285750" cy="285750"/>
                <a:chOff x="6724650" y="2705100"/>
                <a:chExt cx="285750" cy="28575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6724650" y="2775720"/>
                  <a:ext cx="215130" cy="215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130" h="215130">
                      <a:moveTo>
                        <a:pt x="138930" y="0"/>
                      </a:moveTo>
                      <a:lnTo>
                        <a:pt x="0" y="138930"/>
                      </a:lnTo>
                      <a:lnTo>
                        <a:pt x="0" y="215130"/>
                      </a:lnTo>
                      <a:lnTo>
                        <a:pt x="76200" y="215130"/>
                      </a:lnTo>
                      <a:lnTo>
                        <a:pt x="215130" y="76200"/>
                      </a:lnTo>
                      <a:lnTo>
                        <a:pt x="13893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6890520" y="2705100"/>
                  <a:ext cx="119880" cy="1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80" h="119880">
                      <a:moveTo>
                        <a:pt x="0" y="43680"/>
                      </a:moveTo>
                      <a:lnTo>
                        <a:pt x="76200" y="119880"/>
                      </a:lnTo>
                      <a:lnTo>
                        <a:pt x="104099" y="91982"/>
                      </a:lnTo>
                      <a:cubicBezTo>
                        <a:pt x="114203" y="81877"/>
                        <a:pt x="119880" y="68172"/>
                        <a:pt x="119880" y="53882"/>
                      </a:cubicBezTo>
                      <a:cubicBezTo>
                        <a:pt x="119880" y="24124"/>
                        <a:pt x="95757" y="0"/>
                        <a:pt x="65999" y="0"/>
                      </a:cubicBezTo>
                      <a:cubicBezTo>
                        <a:pt x="51707" y="0"/>
                        <a:pt x="38003" y="5677"/>
                        <a:pt x="27899" y="15782"/>
                      </a:cubicBezTo>
                      <a:lnTo>
                        <a:pt x="0" y="436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73" name="Group 73"/>
            <p:cNvGrpSpPr/>
            <p:nvPr/>
          </p:nvGrpSpPr>
          <p:grpSpPr>
            <a:xfrm>
              <a:off x="8953500" y="2476500"/>
              <a:ext cx="762000" cy="762000"/>
              <a:chOff x="8953500" y="2476500"/>
              <a:chExt cx="762000" cy="7620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953500" y="2476500"/>
                <a:ext cx="762000" cy="762000"/>
              </a:xfrm>
              <a:prstGeom prst="ellipse">
                <a:avLst/>
              </a:prstGeom>
              <a:solidFill>
                <a:srgbClr val="1E6F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9048750" y="2571750"/>
                <a:ext cx="571500" cy="571500"/>
              </a:xfrm>
              <a:prstGeom prst="ellipse">
                <a:avLst/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182100" y="2743200"/>
                <a:ext cx="3048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47650">
                    <a:moveTo>
                      <a:pt x="0" y="0"/>
                    </a:moveTo>
                    <a:lnTo>
                      <a:pt x="68309" y="0"/>
                    </a:lnTo>
                    <a:cubicBezTo>
                      <a:pt x="85559" y="0"/>
                      <a:pt x="102102" y="6852"/>
                      <a:pt x="114300" y="19050"/>
                    </a:cubicBezTo>
                    <a:cubicBezTo>
                      <a:pt x="126498" y="31248"/>
                      <a:pt x="133350" y="47791"/>
                      <a:pt x="133350" y="65041"/>
                    </a:cubicBezTo>
                    <a:lnTo>
                      <a:pt x="133350" y="171450"/>
                    </a:lnTo>
                    <a:lnTo>
                      <a:pt x="171450" y="171450"/>
                    </a:lnTo>
                    <a:lnTo>
                      <a:pt x="171450" y="65041"/>
                    </a:lnTo>
                    <a:cubicBezTo>
                      <a:pt x="171450" y="47791"/>
                      <a:pt x="178302" y="31248"/>
                      <a:pt x="190500" y="19050"/>
                    </a:cubicBezTo>
                    <a:cubicBezTo>
                      <a:pt x="202698" y="6852"/>
                      <a:pt x="219241" y="0"/>
                      <a:pt x="236491" y="0"/>
                    </a:cubicBezTo>
                    <a:lnTo>
                      <a:pt x="304800" y="0"/>
                    </a:lnTo>
                    <a:lnTo>
                      <a:pt x="304800" y="209550"/>
                    </a:lnTo>
                    <a:lnTo>
                      <a:pt x="2095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95250" y="209550"/>
                    </a:lnTo>
                    <a:lnTo>
                      <a:pt x="0" y="2095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8953500" y="4191000"/>
              <a:ext cx="762000" cy="762000"/>
              <a:chOff x="8953500" y="4191000"/>
              <a:chExt cx="762000" cy="7620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953500" y="4191000"/>
                <a:ext cx="762000" cy="762000"/>
              </a:xfrm>
              <a:prstGeom prst="ellipse">
                <a:avLst/>
              </a:prstGeom>
              <a:solidFill>
                <a:srgbClr val="7B5BE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9048750" y="4286250"/>
                <a:ext cx="571500" cy="571500"/>
              </a:xfrm>
              <a:prstGeom prst="ellipse">
                <a:avLst/>
              </a:prstGeom>
              <a:solidFill>
                <a:srgbClr val="7B5BE0"/>
              </a:solidFill>
              <a:ln>
                <a:noFill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9182100" y="4438650"/>
                <a:ext cx="304800" cy="284792"/>
                <a:chOff x="9182100" y="4438650"/>
                <a:chExt cx="304800" cy="284792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9258300" y="4438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228600" y="0"/>
                      </a:moveTo>
                      <a:lnTo>
                        <a:pt x="0" y="0"/>
                      </a:lnTo>
                      <a:lnTo>
                        <a:pt x="0" y="190500"/>
                      </a:lnTo>
                      <a:lnTo>
                        <a:pt x="76200" y="190500"/>
                      </a:lnTo>
                      <a:lnTo>
                        <a:pt x="114300" y="228600"/>
                      </a:lnTo>
                      <a:lnTo>
                        <a:pt x="152400" y="190500"/>
                      </a:lnTo>
                      <a:lnTo>
                        <a:pt x="228600" y="190500"/>
                      </a:lnTo>
                      <a:lnTo>
                        <a:pt x="228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9182100" y="4514850"/>
                  <a:ext cx="165870" cy="208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70" h="208592">
                      <a:moveTo>
                        <a:pt x="38100" y="0"/>
                      </a:moveTo>
                      <a:lnTo>
                        <a:pt x="38100" y="152400"/>
                      </a:lnTo>
                      <a:lnTo>
                        <a:pt x="136618" y="152400"/>
                      </a:lnTo>
                      <a:lnTo>
                        <a:pt x="165870" y="181651"/>
                      </a:lnTo>
                      <a:lnTo>
                        <a:pt x="138930" y="208592"/>
                      </a:lnTo>
                      <a:lnTo>
                        <a:pt x="120837" y="190500"/>
                      </a:lnTo>
                      <a:lnTo>
                        <a:pt x="0" y="190500"/>
                      </a:lnTo>
                      <a:lnTo>
                        <a:pt x="0" y="0"/>
                      </a:lnTo>
                      <a:lnTo>
                        <a:pt x="381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86" name="Group 86"/>
            <p:cNvGrpSpPr/>
            <p:nvPr/>
          </p:nvGrpSpPr>
          <p:grpSpPr>
            <a:xfrm>
              <a:off x="6477000" y="4191000"/>
              <a:ext cx="762000" cy="762000"/>
              <a:chOff x="6477000" y="4191000"/>
              <a:chExt cx="762000" cy="762000"/>
            </a:xfrm>
          </p:grpSpPr>
          <p:sp>
            <p:nvSpPr>
              <p:cNvPr id="80" name="Ellipse 80"/>
              <p:cNvSpPr/>
              <p:nvPr/>
            </p:nvSpPr>
            <p:spPr>
              <a:xfrm>
                <a:off x="6477000" y="4191000"/>
                <a:ext cx="762000" cy="762000"/>
              </a:xfrm>
              <a:prstGeom prst="ellipse">
                <a:avLst/>
              </a:prstGeom>
              <a:solidFill>
                <a:srgbClr val="17B3A3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6572250" y="4286250"/>
                <a:ext cx="571500" cy="571500"/>
              </a:xfrm>
              <a:prstGeom prst="ellipse">
                <a:avLst/>
              </a:prstGeom>
              <a:solidFill>
                <a:srgbClr val="17B3A3"/>
              </a:solidFill>
              <a:ln>
                <a:noFill/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6724650" y="4438650"/>
                <a:ext cx="266700" cy="266700"/>
                <a:chOff x="6724650" y="4438650"/>
                <a:chExt cx="266700" cy="26670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6724650" y="4438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2"/>
                        <a:pt x="59142" y="76200"/>
                        <a:pt x="38100" y="76200"/>
                      </a:cubicBezTo>
                      <a:cubicBezTo>
                        <a:pt x="17058" y="76200"/>
                        <a:pt x="0" y="59142"/>
                        <a:pt x="0" y="38100"/>
                      </a:cubicBez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6915150" y="46291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3"/>
                        <a:pt x="59143" y="76200"/>
                        <a:pt x="38100" y="76200"/>
                      </a:cubicBezTo>
                      <a:cubicBezTo>
                        <a:pt x="17057" y="76200"/>
                        <a:pt x="0" y="59143"/>
                        <a:pt x="0" y="38100"/>
                      </a:cubicBezTo>
                      <a:cubicBezTo>
                        <a:pt x="0" y="17057"/>
                        <a:pt x="17057" y="0"/>
                        <a:pt x="38100" y="0"/>
                      </a:cubicBezTo>
                      <a:cubicBezTo>
                        <a:pt x="59143" y="0"/>
                        <a:pt x="76200" y="17057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6743700" y="4438650"/>
                  <a:ext cx="2286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66700">
                      <a:moveTo>
                        <a:pt x="133350" y="66675"/>
                      </a:moveTo>
                      <a:cubicBezTo>
                        <a:pt x="133350" y="50893"/>
                        <a:pt x="146143" y="38100"/>
                        <a:pt x="161925" y="38100"/>
                      </a:cubicBezTo>
                      <a:cubicBezTo>
                        <a:pt x="177706" y="38100"/>
                        <a:pt x="190500" y="50893"/>
                        <a:pt x="190500" y="66675"/>
                      </a:cubicBezTo>
                      <a:lnTo>
                        <a:pt x="190500" y="152400"/>
                      </a:lnTo>
                      <a:lnTo>
                        <a:pt x="228600" y="152400"/>
                      </a:lnTo>
                      <a:lnTo>
                        <a:pt x="228600" y="66675"/>
                      </a:lnTo>
                      <a:cubicBezTo>
                        <a:pt x="228600" y="29851"/>
                        <a:pt x="198749" y="0"/>
                        <a:pt x="161925" y="0"/>
                      </a:cubicBezTo>
                      <a:cubicBezTo>
                        <a:pt x="125101" y="0"/>
                        <a:pt x="95250" y="29851"/>
                        <a:pt x="95250" y="66675"/>
                      </a:cubicBezTo>
                      <a:lnTo>
                        <a:pt x="95250" y="200025"/>
                      </a:lnTo>
                      <a:cubicBezTo>
                        <a:pt x="95250" y="215806"/>
                        <a:pt x="82457" y="228600"/>
                        <a:pt x="66675" y="228600"/>
                      </a:cubicBezTo>
                      <a:cubicBezTo>
                        <a:pt x="50893" y="228600"/>
                        <a:pt x="38100" y="215806"/>
                        <a:pt x="38100" y="200025"/>
                      </a:cubicBezTo>
                      <a:lnTo>
                        <a:pt x="38100" y="114300"/>
                      </a:lnTo>
                      <a:lnTo>
                        <a:pt x="0" y="114300"/>
                      </a:lnTo>
                      <a:lnTo>
                        <a:pt x="0" y="200025"/>
                      </a:lnTo>
                      <a:cubicBezTo>
                        <a:pt x="0" y="236849"/>
                        <a:pt x="29851" y="266700"/>
                        <a:pt x="66675" y="266700"/>
                      </a:cubicBezTo>
                      <a:cubicBezTo>
                        <a:pt x="103499" y="266700"/>
                        <a:pt x="133350" y="236849"/>
                        <a:pt x="133350" y="200025"/>
                      </a:cubicBezTo>
                      <a:lnTo>
                        <a:pt x="133350" y="666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  <p:grpSp>
          <p:nvGrpSpPr>
            <p:cNvPr id="93" name="Group 93"/>
            <p:cNvGrpSpPr/>
            <p:nvPr/>
          </p:nvGrpSpPr>
          <p:grpSpPr>
            <a:xfrm>
              <a:off x="4000500" y="4191000"/>
              <a:ext cx="762000" cy="762000"/>
              <a:chOff x="4000500" y="4191000"/>
              <a:chExt cx="762000" cy="762000"/>
            </a:xfrm>
          </p:grpSpPr>
          <p:sp>
            <p:nvSpPr>
              <p:cNvPr id="87" name="Ellipse 87"/>
              <p:cNvSpPr/>
              <p:nvPr/>
            </p:nvSpPr>
            <p:spPr>
              <a:xfrm>
                <a:off x="4000500" y="4191000"/>
                <a:ext cx="762000" cy="762000"/>
              </a:xfrm>
              <a:prstGeom prst="ellipse">
                <a:avLst/>
              </a:prstGeom>
              <a:solidFill>
                <a:srgbClr val="E8553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4095750" y="4286250"/>
                <a:ext cx="571500" cy="571500"/>
              </a:xfrm>
              <a:prstGeom prst="ellipse">
                <a:avLst/>
              </a:prstGeom>
              <a:solidFill>
                <a:srgbClr val="E8553C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4229100" y="4438650"/>
                <a:ext cx="304800" cy="266700"/>
                <a:chOff x="4229100" y="4438650"/>
                <a:chExt cx="304800" cy="266700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4457700" y="4438650"/>
                  <a:ext cx="76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66700">
                      <a:moveTo>
                        <a:pt x="76200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76200" y="266700"/>
                      </a:lnTo>
                      <a:lnTo>
                        <a:pt x="762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4343400" y="4514850"/>
                  <a:ext cx="762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905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190500"/>
                      </a:lnTo>
                      <a:lnTo>
                        <a:pt x="0" y="1905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4229100" y="4591050"/>
                  <a:ext cx="76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143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114300"/>
                      </a:lnTo>
                      <a:lnTo>
                        <a:pt x="0" y="1143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</p:grpSp>
      </p:grpSp>
      <p:grpSp>
        <p:nvGrpSpPr>
          <p:cNvPr id="97" name="Group 97"/>
          <p:cNvGrpSpPr/>
          <p:nvPr/>
        </p:nvGrpSpPr>
        <p:grpSpPr>
          <a:xfrm>
            <a:off x="609600" y="5867400"/>
            <a:ext cx="10972800" cy="457200"/>
            <a:chOff x="609600" y="5867400"/>
            <a:chExt cx="10972800" cy="457200"/>
          </a:xfrm>
        </p:grpSpPr>
        <p:sp>
          <p:nvSpPr>
            <p:cNvPr id="95" name="Rectangle 95"/>
            <p:cNvSpPr/>
            <p:nvPr/>
          </p:nvSpPr>
          <p:spPr>
            <a:xfrm>
              <a:off x="609600" y="586740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165596" y="6014085"/>
              <a:ext cx="58608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学情反馈回流教师端，驱动下一轮内容优化 —— 教师端与学生端形成持续闭环。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98" name="TextBox 9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37" grpId="0"/>
      <p:bldP spid="50" grpId="0"/>
      <p:bldP spid="94" grpId="0"/>
      <p:bldP spid="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5221510" cy="528638"/>
            <a:chOff x="609600" y="1009650"/>
            <a:chExt cx="5221510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薄业务、重编排：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四层清晰组织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3636" y="1524000"/>
            <a:ext cx="11068764" cy="1028700"/>
            <a:chOff x="513636" y="1524000"/>
            <a:chExt cx="11068764" cy="1028700"/>
          </a:xfrm>
        </p:grpSpPr>
        <p:sp>
          <p:nvSpPr>
            <p:cNvPr id="19" name="Rectangle 19"/>
            <p:cNvSpPr/>
            <p:nvPr/>
          </p:nvSpPr>
          <p:spPr>
            <a:xfrm>
              <a:off x="609600" y="1524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 rot="-5400000">
              <a:off x="513636" y="188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前端层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04900" y="1524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EFF4FE"/>
            </a:solidFill>
            <a:ln w="14288">
              <a:solidFill>
                <a:srgbClr val="BBD2F8"/>
              </a:solidFill>
              <a:custDash>
                <a:ds d="400000" sp="266666"/>
              </a:custDash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44918" y="1628299"/>
              <a:ext cx="2079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前端交互层 · Vue 3 + TypeScript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257300" y="1828800"/>
              <a:ext cx="3286125" cy="590550"/>
              <a:chOff x="1257300" y="1828800"/>
              <a:chExt cx="3286125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257300" y="1828800"/>
                <a:ext cx="328612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409700" y="2033588"/>
                <a:ext cx="2667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00025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66700" y="200025"/>
                    </a:lnTo>
                    <a:lnTo>
                      <a:pt x="266700" y="0"/>
                    </a:lnTo>
                    <a:close/>
                    <a:moveTo>
                      <a:pt x="50006" y="66675"/>
                    </a:moveTo>
                    <a:cubicBezTo>
                      <a:pt x="59212" y="66675"/>
                      <a:pt x="66675" y="59212"/>
                      <a:pt x="66675" y="50006"/>
                    </a:cubicBezTo>
                    <a:cubicBezTo>
                      <a:pt x="66675" y="40800"/>
                      <a:pt x="59212" y="33338"/>
                      <a:pt x="50006" y="33338"/>
                    </a:cubicBezTo>
                    <a:cubicBezTo>
                      <a:pt x="40800" y="33338"/>
                      <a:pt x="33338" y="40800"/>
                      <a:pt x="33338" y="50006"/>
                    </a:cubicBezTo>
                    <a:cubicBezTo>
                      <a:pt x="33338" y="59212"/>
                      <a:pt x="40800" y="66675"/>
                      <a:pt x="50006" y="66675"/>
                    </a:cubicBezTo>
                    <a:close/>
                    <a:moveTo>
                      <a:pt x="125016" y="50006"/>
                    </a:moveTo>
                    <a:cubicBezTo>
                      <a:pt x="125016" y="59212"/>
                      <a:pt x="117553" y="66675"/>
                      <a:pt x="108347" y="66675"/>
                    </a:cubicBezTo>
                    <a:cubicBezTo>
                      <a:pt x="99141" y="66675"/>
                      <a:pt x="91678" y="59212"/>
                      <a:pt x="91678" y="50006"/>
                    </a:cubicBezTo>
                    <a:cubicBezTo>
                      <a:pt x="91678" y="40800"/>
                      <a:pt x="99141" y="33338"/>
                      <a:pt x="108347" y="33338"/>
                    </a:cubicBezTo>
                    <a:cubicBezTo>
                      <a:pt x="117553" y="33338"/>
                      <a:pt x="125016" y="40800"/>
                      <a:pt x="125016" y="50006"/>
                    </a:cubicBezTo>
                    <a:close/>
                    <a:moveTo>
                      <a:pt x="166688" y="66675"/>
                    </a:moveTo>
                    <a:cubicBezTo>
                      <a:pt x="175894" y="66675"/>
                      <a:pt x="183356" y="59212"/>
                      <a:pt x="183356" y="50006"/>
                    </a:cubicBezTo>
                    <a:cubicBezTo>
                      <a:pt x="183356" y="40800"/>
                      <a:pt x="175894" y="33338"/>
                      <a:pt x="166688" y="33338"/>
                    </a:cubicBezTo>
                    <a:cubicBezTo>
                      <a:pt x="157482" y="33338"/>
                      <a:pt x="150019" y="40800"/>
                      <a:pt x="150019" y="50006"/>
                    </a:cubicBezTo>
                    <a:cubicBezTo>
                      <a:pt x="150019" y="59212"/>
                      <a:pt x="157482" y="66675"/>
                      <a:pt x="166688" y="66675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756410" y="1965960"/>
                <a:ext cx="9461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教师 Web 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59268" y="219979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课件管理 · 脚本编辑 · 学情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695825" y="1828800"/>
              <a:ext cx="3286125" cy="590550"/>
              <a:chOff x="4695825" y="1828800"/>
              <a:chExt cx="3286125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695825" y="1828800"/>
                <a:ext cx="328612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48225" y="2033588"/>
                <a:ext cx="266700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33362">
                    <a:moveTo>
                      <a:pt x="0" y="0"/>
                    </a:moveTo>
                    <a:lnTo>
                      <a:pt x="266700" y="0"/>
                    </a:lnTo>
                    <a:lnTo>
                      <a:pt x="266700" y="166688"/>
                    </a:lnTo>
                    <a:lnTo>
                      <a:pt x="166688" y="166688"/>
                    </a:lnTo>
                    <a:lnTo>
                      <a:pt x="166688" y="183356"/>
                    </a:lnTo>
                    <a:lnTo>
                      <a:pt x="200025" y="216694"/>
                    </a:lnTo>
                    <a:lnTo>
                      <a:pt x="200025" y="233362"/>
                    </a:lnTo>
                    <a:lnTo>
                      <a:pt x="66675" y="233362"/>
                    </a:lnTo>
                    <a:lnTo>
                      <a:pt x="66675" y="216694"/>
                    </a:lnTo>
                    <a:lnTo>
                      <a:pt x="100012" y="183356"/>
                    </a:lnTo>
                    <a:lnTo>
                      <a:pt x="100012" y="166688"/>
                    </a:lnTo>
                    <a:lnTo>
                      <a:pt x="0" y="166688"/>
                    </a:lnTo>
                    <a:lnTo>
                      <a:pt x="0" y="0"/>
                    </a:lnTo>
                    <a:close/>
                    <a:moveTo>
                      <a:pt x="33338" y="33338"/>
                    </a:moveTo>
                    <a:lnTo>
                      <a:pt x="233362" y="33338"/>
                    </a:lnTo>
                    <a:lnTo>
                      <a:pt x="233362" y="133350"/>
                    </a:lnTo>
                    <a:lnTo>
                      <a:pt x="33338" y="133350"/>
                    </a:lnTo>
                    <a:lnTo>
                      <a:pt x="33338" y="33338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194935" y="1965960"/>
                <a:ext cx="9461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学生 Web 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97792" y="219979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课程学习 · 问答 · 断点续学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134350" y="1828800"/>
              <a:ext cx="3295650" cy="590550"/>
              <a:chOff x="8134350" y="1828800"/>
              <a:chExt cx="32956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134350" y="1828800"/>
                <a:ext cx="32956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03419" y="20002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83344" y="0"/>
                    </a:moveTo>
                    <a:lnTo>
                      <a:pt x="83344" y="66675"/>
                    </a:lnTo>
                    <a:lnTo>
                      <a:pt x="150019" y="66675"/>
                    </a:lnTo>
                    <a:lnTo>
                      <a:pt x="150019" y="0"/>
                    </a:lnTo>
                    <a:lnTo>
                      <a:pt x="183356" y="0"/>
                    </a:lnTo>
                    <a:lnTo>
                      <a:pt x="183356" y="66675"/>
                    </a:lnTo>
                    <a:lnTo>
                      <a:pt x="233362" y="66675"/>
                    </a:lnTo>
                    <a:lnTo>
                      <a:pt x="233362" y="100012"/>
                    </a:lnTo>
                    <a:lnTo>
                      <a:pt x="200025" y="100012"/>
                    </a:lnTo>
                    <a:lnTo>
                      <a:pt x="200025" y="133350"/>
                    </a:lnTo>
                    <a:cubicBezTo>
                      <a:pt x="200025" y="173672"/>
                      <a:pt x="171391" y="207304"/>
                      <a:pt x="133350" y="215027"/>
                    </a:cubicBezTo>
                    <a:lnTo>
                      <a:pt x="133350" y="266700"/>
                    </a:lnTo>
                    <a:lnTo>
                      <a:pt x="100012" y="266700"/>
                    </a:lnTo>
                    <a:lnTo>
                      <a:pt x="100012" y="215027"/>
                    </a:lnTo>
                    <a:cubicBezTo>
                      <a:pt x="61970" y="207304"/>
                      <a:pt x="33338" y="173672"/>
                      <a:pt x="33338" y="133350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66675"/>
                    </a:lnTo>
                    <a:lnTo>
                      <a:pt x="50006" y="66675"/>
                    </a:lnTo>
                    <a:lnTo>
                      <a:pt x="50006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33460" y="196596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泛雅集成入口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36318" y="2199799"/>
                <a:ext cx="1077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OpenAPI 轻量接入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13636" y="2667000"/>
            <a:ext cx="11068764" cy="1028700"/>
            <a:chOff x="513636" y="2667000"/>
            <a:chExt cx="11068764" cy="1028700"/>
          </a:xfrm>
        </p:grpSpPr>
        <p:sp>
          <p:nvSpPr>
            <p:cNvPr id="39" name="Rectangle 39"/>
            <p:cNvSpPr/>
            <p:nvPr/>
          </p:nvSpPr>
          <p:spPr>
            <a:xfrm>
              <a:off x="609600" y="2667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 rot="-5400000">
              <a:off x="513636" y="3028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编排层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04900" y="2667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F4F0FE"/>
            </a:solidFill>
            <a:ln w="14288">
              <a:solidFill>
                <a:srgbClr val="CDBEF6"/>
              </a:solidFill>
              <a:custDash>
                <a:ds d="400000" sp="266666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44918" y="2771299"/>
              <a:ext cx="28301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业务编排层 · Go 后端服务（薄业务、强编排）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257300" y="2971800"/>
              <a:ext cx="2428875" cy="590550"/>
              <a:chOff x="1257300" y="2971800"/>
              <a:chExt cx="2428875" cy="5905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257300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406128" y="3143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108347" y="247650"/>
                    </a:moveTo>
                    <a:lnTo>
                      <a:pt x="51853" y="207297"/>
                    </a:lnTo>
                    <a:cubicBezTo>
                      <a:pt x="19313" y="184053"/>
                      <a:pt x="0" y="146526"/>
                      <a:pt x="0" y="106537"/>
                    </a:cubicBezTo>
                    <a:lnTo>
                      <a:pt x="0" y="46434"/>
                    </a:lnTo>
                    <a:lnTo>
                      <a:pt x="108347" y="0"/>
                    </a:lnTo>
                    <a:lnTo>
                      <a:pt x="216694" y="46434"/>
                    </a:lnTo>
                    <a:lnTo>
                      <a:pt x="216694" y="106537"/>
                    </a:lnTo>
                    <a:cubicBezTo>
                      <a:pt x="216694" y="146526"/>
                      <a:pt x="197382" y="184053"/>
                      <a:pt x="164840" y="207297"/>
                    </a:cubicBezTo>
                    <a:lnTo>
                      <a:pt x="108347" y="247650"/>
                    </a:lnTo>
                    <a:close/>
                    <a:moveTo>
                      <a:pt x="173465" y="88335"/>
                    </a:moveTo>
                    <a:lnTo>
                      <a:pt x="151576" y="66446"/>
                    </a:lnTo>
                    <a:lnTo>
                      <a:pt x="92869" y="125153"/>
                    </a:lnTo>
                    <a:lnTo>
                      <a:pt x="65118" y="97402"/>
                    </a:lnTo>
                    <a:lnTo>
                      <a:pt x="43229" y="119292"/>
                    </a:lnTo>
                    <a:lnTo>
                      <a:pt x="92869" y="168931"/>
                    </a:lnTo>
                    <a:lnTo>
                      <a:pt x="173465" y="8833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719262" y="3117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鉴权与会话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722120" y="3350895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用户态 · 权限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838575" y="2971800"/>
              <a:ext cx="2428875" cy="590550"/>
              <a:chOff x="3838575" y="2971800"/>
              <a:chExt cx="2428875" cy="5905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3838575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6906" y="3143250"/>
                <a:ext cx="237688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37688" h="247650">
                    <a:moveTo>
                      <a:pt x="95627" y="0"/>
                    </a:moveTo>
                    <a:lnTo>
                      <a:pt x="142061" y="0"/>
                    </a:lnTo>
                    <a:lnTo>
                      <a:pt x="151254" y="36768"/>
                    </a:lnTo>
                    <a:cubicBezTo>
                      <a:pt x="161062" y="40421"/>
                      <a:pt x="170087" y="45684"/>
                      <a:pt x="178006" y="52237"/>
                    </a:cubicBezTo>
                    <a:lnTo>
                      <a:pt x="214471" y="41806"/>
                    </a:lnTo>
                    <a:lnTo>
                      <a:pt x="237688" y="82019"/>
                    </a:lnTo>
                    <a:lnTo>
                      <a:pt x="210433" y="108373"/>
                    </a:lnTo>
                    <a:cubicBezTo>
                      <a:pt x="211275" y="113398"/>
                      <a:pt x="211713" y="118560"/>
                      <a:pt x="211713" y="123825"/>
                    </a:cubicBezTo>
                    <a:cubicBezTo>
                      <a:pt x="211713" y="129090"/>
                      <a:pt x="211275" y="134252"/>
                      <a:pt x="210433" y="139277"/>
                    </a:cubicBezTo>
                    <a:lnTo>
                      <a:pt x="237688" y="165631"/>
                    </a:lnTo>
                    <a:lnTo>
                      <a:pt x="214471" y="205844"/>
                    </a:lnTo>
                    <a:lnTo>
                      <a:pt x="178006" y="195413"/>
                    </a:lnTo>
                    <a:cubicBezTo>
                      <a:pt x="170087" y="201965"/>
                      <a:pt x="161062" y="207229"/>
                      <a:pt x="151254" y="210882"/>
                    </a:cubicBezTo>
                    <a:lnTo>
                      <a:pt x="142061" y="247650"/>
                    </a:lnTo>
                    <a:lnTo>
                      <a:pt x="95627" y="247650"/>
                    </a:lnTo>
                    <a:lnTo>
                      <a:pt x="86435" y="210882"/>
                    </a:lnTo>
                    <a:cubicBezTo>
                      <a:pt x="76626" y="207229"/>
                      <a:pt x="67601" y="201965"/>
                      <a:pt x="59682" y="195413"/>
                    </a:cubicBezTo>
                    <a:lnTo>
                      <a:pt x="23217" y="205844"/>
                    </a:lnTo>
                    <a:lnTo>
                      <a:pt x="0" y="165631"/>
                    </a:lnTo>
                    <a:lnTo>
                      <a:pt x="27255" y="139277"/>
                    </a:lnTo>
                    <a:cubicBezTo>
                      <a:pt x="26413" y="134252"/>
                      <a:pt x="25975" y="129090"/>
                      <a:pt x="25975" y="123825"/>
                    </a:cubicBezTo>
                    <a:cubicBezTo>
                      <a:pt x="25975" y="118560"/>
                      <a:pt x="26413" y="113398"/>
                      <a:pt x="27255" y="108373"/>
                    </a:cubicBezTo>
                    <a:lnTo>
                      <a:pt x="0" y="82019"/>
                    </a:lnTo>
                    <a:lnTo>
                      <a:pt x="23217" y="41806"/>
                    </a:lnTo>
                    <a:lnTo>
                      <a:pt x="59682" y="52237"/>
                    </a:lnTo>
                    <a:cubicBezTo>
                      <a:pt x="67601" y="45684"/>
                      <a:pt x="76626" y="40421"/>
                      <a:pt x="86435" y="36768"/>
                    </a:cubicBezTo>
                    <a:lnTo>
                      <a:pt x="95627" y="0"/>
                    </a:lnTo>
                    <a:close/>
                    <a:moveTo>
                      <a:pt x="118844" y="154781"/>
                    </a:moveTo>
                    <a:cubicBezTo>
                      <a:pt x="135941" y="154781"/>
                      <a:pt x="149800" y="140922"/>
                      <a:pt x="149800" y="123825"/>
                    </a:cubicBezTo>
                    <a:cubicBezTo>
                      <a:pt x="149800" y="106728"/>
                      <a:pt x="135941" y="92869"/>
                      <a:pt x="118844" y="92869"/>
                    </a:cubicBezTo>
                    <a:cubicBezTo>
                      <a:pt x="101747" y="92869"/>
                      <a:pt x="87888" y="106728"/>
                      <a:pt x="87888" y="123825"/>
                    </a:cubicBezTo>
                    <a:cubicBezTo>
                      <a:pt x="87888" y="140922"/>
                      <a:pt x="101747" y="154781"/>
                      <a:pt x="118844" y="154781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300538" y="3117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学习状态机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03395" y="335089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讲授 · 问答 · 续接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419850" y="2971800"/>
              <a:ext cx="2428875" cy="590550"/>
              <a:chOff x="6419850" y="2971800"/>
              <a:chExt cx="2428875" cy="5905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419850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4156" y="3143250"/>
                <a:ext cx="185738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47650">
                    <a:moveTo>
                      <a:pt x="108347" y="108347"/>
                    </a:moveTo>
                    <a:lnTo>
                      <a:pt x="123825" y="0"/>
                    </a:lnTo>
                    <a:lnTo>
                      <a:pt x="92869" y="0"/>
                    </a:lnTo>
                    <a:lnTo>
                      <a:pt x="0" y="108347"/>
                    </a:lnTo>
                    <a:lnTo>
                      <a:pt x="0" y="139303"/>
                    </a:lnTo>
                    <a:lnTo>
                      <a:pt x="77391" y="139303"/>
                    </a:lnTo>
                    <a:lnTo>
                      <a:pt x="61912" y="247650"/>
                    </a:lnTo>
                    <a:lnTo>
                      <a:pt x="92869" y="247650"/>
                    </a:lnTo>
                    <a:lnTo>
                      <a:pt x="185738" y="139303"/>
                    </a:lnTo>
                    <a:lnTo>
                      <a:pt x="185738" y="108347"/>
                    </a:lnTo>
                    <a:lnTo>
                      <a:pt x="108347" y="108347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81812" y="3117056"/>
                <a:ext cx="9658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SSE 流式代理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84670" y="3350895"/>
                <a:ext cx="9169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实时转发 AI 输出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9001125" y="2971800"/>
              <a:ext cx="2428875" cy="590550"/>
              <a:chOff x="9001125" y="2971800"/>
              <a:chExt cx="2428875" cy="5905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9001125" y="2971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49953" y="3143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77391" y="0"/>
                    </a:moveTo>
                    <a:lnTo>
                      <a:pt x="77391" y="61912"/>
                    </a:lnTo>
                    <a:lnTo>
                      <a:pt x="139303" y="61912"/>
                    </a:lnTo>
                    <a:lnTo>
                      <a:pt x="139303" y="0"/>
                    </a:lnTo>
                    <a:lnTo>
                      <a:pt x="170259" y="0"/>
                    </a:lnTo>
                    <a:lnTo>
                      <a:pt x="170259" y="61912"/>
                    </a:lnTo>
                    <a:lnTo>
                      <a:pt x="216694" y="61912"/>
                    </a:lnTo>
                    <a:lnTo>
                      <a:pt x="216694" y="92869"/>
                    </a:lnTo>
                    <a:lnTo>
                      <a:pt x="185738" y="92869"/>
                    </a:lnTo>
                    <a:lnTo>
                      <a:pt x="185738" y="123825"/>
                    </a:lnTo>
                    <a:cubicBezTo>
                      <a:pt x="185738" y="161267"/>
                      <a:pt x="159149" y="192497"/>
                      <a:pt x="123825" y="199668"/>
                    </a:cubicBezTo>
                    <a:lnTo>
                      <a:pt x="123825" y="247650"/>
                    </a:lnTo>
                    <a:lnTo>
                      <a:pt x="92869" y="247650"/>
                    </a:lnTo>
                    <a:lnTo>
                      <a:pt x="92869" y="199668"/>
                    </a:lnTo>
                    <a:cubicBezTo>
                      <a:pt x="57544" y="192497"/>
                      <a:pt x="30956" y="161267"/>
                      <a:pt x="30956" y="123825"/>
                    </a:cubicBezTo>
                    <a:lnTo>
                      <a:pt x="30956" y="92869"/>
                    </a:lnTo>
                    <a:lnTo>
                      <a:pt x="0" y="92869"/>
                    </a:lnTo>
                    <a:lnTo>
                      <a:pt x="0" y="61912"/>
                    </a:lnTo>
                    <a:lnTo>
                      <a:pt x="46434" y="61912"/>
                    </a:lnTo>
                    <a:lnTo>
                      <a:pt x="46434" y="0"/>
                    </a:lnTo>
                    <a:lnTo>
                      <a:pt x="77391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463088" y="3117056"/>
                <a:ext cx="9894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OpenAPI 适配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465945" y="3350895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对接 Dify 工作流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602897" y="3810000"/>
            <a:ext cx="10979503" cy="1028700"/>
            <a:chOff x="602897" y="3810000"/>
            <a:chExt cx="10979503" cy="1028700"/>
          </a:xfrm>
        </p:grpSpPr>
        <p:sp>
          <p:nvSpPr>
            <p:cNvPr id="64" name="Rectangle 64"/>
            <p:cNvSpPr/>
            <p:nvPr/>
          </p:nvSpPr>
          <p:spPr>
            <a:xfrm>
              <a:off x="609600" y="38100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 rot="-5400000">
              <a:off x="602897" y="4171950"/>
              <a:ext cx="489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层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104900" y="3810000"/>
              <a:ext cx="10477500" cy="1028700"/>
            </a:xfrm>
            <a:prstGeom prst="roundRect">
              <a:avLst>
                <a:gd name="adj" fmla="val 11111"/>
              </a:avLst>
            </a:prstGeom>
            <a:solidFill>
              <a:srgbClr val="E9F8F5"/>
            </a:solidFill>
            <a:ln w="14288">
              <a:solidFill>
                <a:srgbClr val="9FE2D7"/>
              </a:solidFill>
              <a:custDash>
                <a:ds d="400000" sp="266666"/>
              </a:custDash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44918" y="3914299"/>
              <a:ext cx="3226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AI 能力中台 · Dify 编排 + Python 引擎 + 外部大模型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1257300" y="4114800"/>
              <a:ext cx="2428875" cy="590550"/>
              <a:chOff x="1257300" y="4114800"/>
              <a:chExt cx="2428875" cy="5905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1257300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390650" y="4286250"/>
                <a:ext cx="216694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47650">
                    <a:moveTo>
                      <a:pt x="170259" y="92869"/>
                    </a:moveTo>
                    <a:cubicBezTo>
                      <a:pt x="195905" y="92869"/>
                      <a:pt x="216694" y="72079"/>
                      <a:pt x="216694" y="46434"/>
                    </a:cubicBezTo>
                    <a:cubicBezTo>
                      <a:pt x="216694" y="20789"/>
                      <a:pt x="195905" y="0"/>
                      <a:pt x="170259" y="0"/>
                    </a:cubicBezTo>
                    <a:cubicBezTo>
                      <a:pt x="144614" y="0"/>
                      <a:pt x="123825" y="20789"/>
                      <a:pt x="123825" y="46434"/>
                    </a:cubicBezTo>
                    <a:cubicBezTo>
                      <a:pt x="123825" y="49897"/>
                      <a:pt x="124204" y="53271"/>
                      <a:pt x="124923" y="56517"/>
                    </a:cubicBezTo>
                    <a:lnTo>
                      <a:pt x="75357" y="87496"/>
                    </a:lnTo>
                    <a:cubicBezTo>
                      <a:pt x="67423" y="81171"/>
                      <a:pt x="57370" y="77391"/>
                      <a:pt x="46434" y="77391"/>
                    </a:cubicBezTo>
                    <a:cubicBezTo>
                      <a:pt x="20789" y="77391"/>
                      <a:pt x="0" y="98180"/>
                      <a:pt x="0" y="123825"/>
                    </a:cubicBezTo>
                    <a:cubicBezTo>
                      <a:pt x="0" y="149470"/>
                      <a:pt x="20789" y="170259"/>
                      <a:pt x="46434" y="170259"/>
                    </a:cubicBezTo>
                    <a:cubicBezTo>
                      <a:pt x="57370" y="170259"/>
                      <a:pt x="67423" y="166480"/>
                      <a:pt x="75357" y="160154"/>
                    </a:cubicBezTo>
                    <a:lnTo>
                      <a:pt x="124923" y="191133"/>
                    </a:lnTo>
                    <a:cubicBezTo>
                      <a:pt x="124204" y="194379"/>
                      <a:pt x="123825" y="197753"/>
                      <a:pt x="123825" y="201216"/>
                    </a:cubicBezTo>
                    <a:cubicBezTo>
                      <a:pt x="123825" y="226861"/>
                      <a:pt x="144614" y="247650"/>
                      <a:pt x="170259" y="247650"/>
                    </a:cubicBezTo>
                    <a:cubicBezTo>
                      <a:pt x="195905" y="247650"/>
                      <a:pt x="216694" y="226861"/>
                      <a:pt x="216694" y="201216"/>
                    </a:cubicBezTo>
                    <a:cubicBezTo>
                      <a:pt x="216694" y="175570"/>
                      <a:pt x="195905" y="154781"/>
                      <a:pt x="170259" y="154781"/>
                    </a:cubicBezTo>
                    <a:cubicBezTo>
                      <a:pt x="159324" y="154781"/>
                      <a:pt x="149271" y="158561"/>
                      <a:pt x="141337" y="164887"/>
                    </a:cubicBezTo>
                    <a:lnTo>
                      <a:pt x="91771" y="133908"/>
                    </a:lnTo>
                    <a:cubicBezTo>
                      <a:pt x="92490" y="130662"/>
                      <a:pt x="92869" y="127288"/>
                      <a:pt x="92869" y="123825"/>
                    </a:cubicBezTo>
                    <a:cubicBezTo>
                      <a:pt x="92869" y="120362"/>
                      <a:pt x="92490" y="116988"/>
                      <a:pt x="91771" y="113742"/>
                    </a:cubicBezTo>
                    <a:lnTo>
                      <a:pt x="141337" y="82764"/>
                    </a:lnTo>
                    <a:cubicBezTo>
                      <a:pt x="149271" y="89089"/>
                      <a:pt x="159324" y="92869"/>
                      <a:pt x="170259" y="92869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719262" y="4260056"/>
                <a:ext cx="6980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Dify 编排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722120" y="4493895"/>
                <a:ext cx="7189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工作流 · RAG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838575" y="4114800"/>
              <a:ext cx="2428875" cy="590550"/>
              <a:chOff x="3838575" y="4114800"/>
              <a:chExt cx="2428875" cy="5905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3838575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971925" y="4286250"/>
                <a:ext cx="243116" cy="243116"/>
              </a:xfrm>
              <a:custGeom>
                <a:avLst/>
                <a:gdLst/>
                <a:ahLst/>
                <a:cxnLst/>
                <a:rect l="l" t="t" r="r" b="b"/>
                <a:pathLst>
                  <a:path w="243116" h="243116">
                    <a:moveTo>
                      <a:pt x="173234" y="195123"/>
                    </a:moveTo>
                    <a:cubicBezTo>
                      <a:pt x="155147" y="208670"/>
                      <a:pt x="132684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85" y="0"/>
                      <a:pt x="216694" y="48509"/>
                      <a:pt x="216694" y="108347"/>
                    </a:cubicBezTo>
                    <a:cubicBezTo>
                      <a:pt x="216694" y="132684"/>
                      <a:pt x="208670" y="155147"/>
                      <a:pt x="195123" y="173234"/>
                    </a:cubicBezTo>
                    <a:lnTo>
                      <a:pt x="243116" y="221227"/>
                    </a:lnTo>
                    <a:lnTo>
                      <a:pt x="221227" y="243116"/>
                    </a:lnTo>
                    <a:lnTo>
                      <a:pt x="173234" y="195123"/>
                    </a:lnTo>
                    <a:close/>
                    <a:moveTo>
                      <a:pt x="86458" y="130236"/>
                    </a:moveTo>
                    <a:lnTo>
                      <a:pt x="64568" y="152126"/>
                    </a:lnTo>
                    <a:cubicBezTo>
                      <a:pt x="40390" y="127947"/>
                      <a:pt x="40390" y="88746"/>
                      <a:pt x="64568" y="64568"/>
                    </a:cubicBezTo>
                    <a:cubicBezTo>
                      <a:pt x="88746" y="40390"/>
                      <a:pt x="127947" y="40390"/>
                      <a:pt x="152126" y="64568"/>
                    </a:cubicBezTo>
                    <a:lnTo>
                      <a:pt x="130236" y="86458"/>
                    </a:lnTo>
                    <a:cubicBezTo>
                      <a:pt x="118147" y="74368"/>
                      <a:pt x="98547" y="74368"/>
                      <a:pt x="86458" y="86458"/>
                    </a:cubicBezTo>
                    <a:cubicBezTo>
                      <a:pt x="74368" y="98547"/>
                      <a:pt x="74368" y="118147"/>
                      <a:pt x="86458" y="130236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4300538" y="4260056"/>
                <a:ext cx="1225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Python 解析引擎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303395" y="44938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课件多模态解析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419850" y="4114800"/>
              <a:ext cx="2428875" cy="590550"/>
              <a:chOff x="6419850" y="4114800"/>
              <a:chExt cx="2428875" cy="5905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6419850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53200" y="4286250"/>
                <a:ext cx="247650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32172">
                    <a:moveTo>
                      <a:pt x="139303" y="0"/>
                    </a:moveTo>
                    <a:lnTo>
                      <a:pt x="139303" y="30956"/>
                    </a:lnTo>
                    <a:lnTo>
                      <a:pt x="201216" y="30956"/>
                    </a:lnTo>
                    <a:lnTo>
                      <a:pt x="247650" y="131564"/>
                    </a:lnTo>
                    <a:lnTo>
                      <a:pt x="201216" y="232172"/>
                    </a:lnTo>
                    <a:lnTo>
                      <a:pt x="46434" y="232172"/>
                    </a:lnTo>
                    <a:lnTo>
                      <a:pt x="0" y="131564"/>
                    </a:lnTo>
                    <a:lnTo>
                      <a:pt x="46434" y="30956"/>
                    </a:lnTo>
                    <a:lnTo>
                      <a:pt x="108347" y="30956"/>
                    </a:lnTo>
                    <a:lnTo>
                      <a:pt x="108347" y="0"/>
                    </a:lnTo>
                    <a:lnTo>
                      <a:pt x="139303" y="0"/>
                    </a:lnTo>
                    <a:close/>
                    <a:moveTo>
                      <a:pt x="71167" y="181688"/>
                    </a:moveTo>
                    <a:lnTo>
                      <a:pt x="123825" y="189790"/>
                    </a:lnTo>
                    <a:lnTo>
                      <a:pt x="176483" y="181688"/>
                    </a:lnTo>
                    <a:lnTo>
                      <a:pt x="171775" y="151092"/>
                    </a:lnTo>
                    <a:lnTo>
                      <a:pt x="123825" y="158468"/>
                    </a:lnTo>
                    <a:lnTo>
                      <a:pt x="75875" y="151092"/>
                    </a:lnTo>
                    <a:lnTo>
                      <a:pt x="71167" y="181688"/>
                    </a:lnTo>
                    <a:close/>
                    <a:moveTo>
                      <a:pt x="108347" y="104477"/>
                    </a:moveTo>
                    <a:cubicBezTo>
                      <a:pt x="108347" y="115163"/>
                      <a:pt x="99685" y="123825"/>
                      <a:pt x="88999" y="123825"/>
                    </a:cubicBezTo>
                    <a:cubicBezTo>
                      <a:pt x="78314" y="123825"/>
                      <a:pt x="69652" y="115163"/>
                      <a:pt x="69652" y="104477"/>
                    </a:cubicBezTo>
                    <a:cubicBezTo>
                      <a:pt x="69652" y="93792"/>
                      <a:pt x="78314" y="85130"/>
                      <a:pt x="88999" y="85130"/>
                    </a:cubicBezTo>
                    <a:cubicBezTo>
                      <a:pt x="99685" y="85130"/>
                      <a:pt x="108347" y="93792"/>
                      <a:pt x="108347" y="104477"/>
                    </a:cubicBezTo>
                    <a:close/>
                    <a:moveTo>
                      <a:pt x="158651" y="123825"/>
                    </a:moveTo>
                    <a:cubicBezTo>
                      <a:pt x="169337" y="123825"/>
                      <a:pt x="177998" y="115163"/>
                      <a:pt x="177998" y="104477"/>
                    </a:cubicBezTo>
                    <a:cubicBezTo>
                      <a:pt x="177998" y="93792"/>
                      <a:pt x="169337" y="85130"/>
                      <a:pt x="158651" y="85130"/>
                    </a:cubicBezTo>
                    <a:cubicBezTo>
                      <a:pt x="147965" y="85130"/>
                      <a:pt x="139303" y="93792"/>
                      <a:pt x="139303" y="104477"/>
                    </a:cubicBezTo>
                    <a:cubicBezTo>
                      <a:pt x="139303" y="115163"/>
                      <a:pt x="147965" y="123825"/>
                      <a:pt x="158651" y="123825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881812" y="42600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通义千问 LLM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884670" y="4493895"/>
                <a:ext cx="8269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外部大模型 API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9001125" y="4114800"/>
              <a:ext cx="2428875" cy="590550"/>
              <a:chOff x="9001125" y="4114800"/>
              <a:chExt cx="2428875" cy="59055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9001125" y="4114800"/>
                <a:ext cx="2428875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9134475" y="4301728"/>
                <a:ext cx="247650" cy="216694"/>
                <a:chOff x="9134475" y="4301728"/>
                <a:chExt cx="247650" cy="216694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9134475" y="4301728"/>
                  <a:ext cx="1238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216694">
                      <a:moveTo>
                        <a:pt x="92869" y="0"/>
                      </a:moveTo>
                      <a:lnTo>
                        <a:pt x="123825" y="0"/>
                      </a:lnTo>
                      <a:lnTo>
                        <a:pt x="123825" y="216694"/>
                      </a:lnTo>
                      <a:lnTo>
                        <a:pt x="92869" y="216694"/>
                      </a:lnTo>
                      <a:lnTo>
                        <a:pt x="30956" y="154781"/>
                      </a:lnTo>
                      <a:lnTo>
                        <a:pt x="0" y="154781"/>
                      </a:lnTo>
                      <a:lnTo>
                        <a:pt x="0" y="61912"/>
                      </a:lnTo>
                      <a:lnTo>
                        <a:pt x="30956" y="61912"/>
                      </a:lnTo>
                      <a:lnTo>
                        <a:pt x="92869" y="0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9289256" y="4317206"/>
                  <a:ext cx="92869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185738">
                      <a:moveTo>
                        <a:pt x="61912" y="92869"/>
                      </a:moveTo>
                      <a:cubicBezTo>
                        <a:pt x="61912" y="58675"/>
                        <a:pt x="34193" y="30956"/>
                        <a:pt x="0" y="30956"/>
                      </a:cubicBezTo>
                      <a:lnTo>
                        <a:pt x="0" y="0"/>
                      </a:lnTo>
                      <a:cubicBezTo>
                        <a:pt x="51290" y="0"/>
                        <a:pt x="92869" y="41579"/>
                        <a:pt x="92869" y="92869"/>
                      </a:cubicBezTo>
                      <a:cubicBezTo>
                        <a:pt x="92869" y="144159"/>
                        <a:pt x="51290" y="185738"/>
                        <a:pt x="0" y="185738"/>
                      </a:cubicBezTo>
                      <a:lnTo>
                        <a:pt x="0" y="154781"/>
                      </a:lnTo>
                      <a:cubicBezTo>
                        <a:pt x="34193" y="154781"/>
                        <a:pt x="61912" y="127061"/>
                        <a:pt x="61912" y="92869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9289256" y="4379119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30956" y="30956"/>
                      </a:moveTo>
                      <a:cubicBezTo>
                        <a:pt x="30956" y="48053"/>
                        <a:pt x="17097" y="61912"/>
                        <a:pt x="0" y="61912"/>
                      </a:cubicBezTo>
                      <a:lnTo>
                        <a:pt x="0" y="0"/>
                      </a:lnTo>
                      <a:cubicBezTo>
                        <a:pt x="17097" y="0"/>
                        <a:pt x="30956" y="13860"/>
                        <a:pt x="30956" y="30956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9463088" y="4260056"/>
                <a:ext cx="9658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TTS 语音合成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465945" y="44938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讲授语音生成</a:t>
                </a:r>
              </a:p>
            </p:txBody>
          </p:sp>
        </p:grpSp>
      </p:grpSp>
      <p:grpSp>
        <p:nvGrpSpPr>
          <p:cNvPr id="113" name="Group 113"/>
          <p:cNvGrpSpPr/>
          <p:nvPr/>
        </p:nvGrpSpPr>
        <p:grpSpPr>
          <a:xfrm>
            <a:off x="609600" y="4953000"/>
            <a:ext cx="10972800" cy="819150"/>
            <a:chOff x="609600" y="4953000"/>
            <a:chExt cx="10972800" cy="819150"/>
          </a:xfrm>
        </p:grpSpPr>
        <p:sp>
          <p:nvSpPr>
            <p:cNvPr id="92" name="Rectangle 92"/>
            <p:cNvSpPr/>
            <p:nvPr/>
          </p:nvSpPr>
          <p:spPr>
            <a:xfrm>
              <a:off x="609600" y="4953000"/>
              <a:ext cx="381000" cy="819150"/>
            </a:xfrm>
            <a:prstGeom prst="roundRect">
              <a:avLst>
                <a:gd name="adj" fmla="val 20000"/>
              </a:avLst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 rot="-5400000">
              <a:off x="632984" y="5225415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设施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104900" y="4953000"/>
              <a:ext cx="10477500" cy="819150"/>
            </a:xfrm>
            <a:prstGeom prst="roundRect">
              <a:avLst>
                <a:gd name="adj" fmla="val 13953"/>
              </a:avLst>
            </a:prstGeom>
            <a:solidFill>
              <a:srgbClr val="F1F4F8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44918" y="5057299"/>
              <a:ext cx="14104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基础设施 · 数据与存储</a:t>
              </a:r>
            </a:p>
          </p:txBody>
        </p:sp>
        <p:grpSp>
          <p:nvGrpSpPr>
            <p:cNvPr id="102" name="Group 102"/>
            <p:cNvGrpSpPr/>
            <p:nvPr/>
          </p:nvGrpSpPr>
          <p:grpSpPr>
            <a:xfrm>
              <a:off x="1257300" y="5257800"/>
              <a:ext cx="3286125" cy="381000"/>
              <a:chOff x="1257300" y="5257800"/>
              <a:chExt cx="3286125" cy="3810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1257300" y="5257800"/>
                <a:ext cx="32861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100" name="Group 100"/>
              <p:cNvGrpSpPr/>
              <p:nvPr/>
            </p:nvGrpSpPr>
            <p:grpSpPr>
              <a:xfrm>
                <a:off x="1435894" y="5353050"/>
                <a:ext cx="157162" cy="209550"/>
                <a:chOff x="1435894" y="5353050"/>
                <a:chExt cx="157162" cy="2095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1435894" y="5436870"/>
                  <a:ext cx="157162" cy="60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0245">
                      <a:moveTo>
                        <a:pt x="145861" y="6682"/>
                      </a:moveTo>
                      <a:cubicBezTo>
                        <a:pt x="149545" y="4839"/>
                        <a:pt x="153395" y="2617"/>
                        <a:pt x="157162" y="0"/>
                      </a:cubicBezTo>
                      <a:lnTo>
                        <a:pt x="157162" y="20955"/>
                      </a:lnTo>
                      <a:cubicBezTo>
                        <a:pt x="157162" y="42654"/>
                        <a:pt x="121980" y="60245"/>
                        <a:pt x="78581" y="60245"/>
                      </a:cubicBezTo>
                      <a:cubicBezTo>
                        <a:pt x="35182" y="60245"/>
                        <a:pt x="0" y="42654"/>
                        <a:pt x="0" y="20955"/>
                      </a:cubicBezTo>
                      <a:lnTo>
                        <a:pt x="0" y="0"/>
                      </a:lnTo>
                      <a:cubicBezTo>
                        <a:pt x="3768" y="2617"/>
                        <a:pt x="7617" y="4839"/>
                        <a:pt x="11302" y="6682"/>
                      </a:cubicBezTo>
                      <a:cubicBezTo>
                        <a:pt x="29873" y="15967"/>
                        <a:pt x="53697" y="20955"/>
                        <a:pt x="78581" y="20955"/>
                      </a:cubicBezTo>
                      <a:cubicBezTo>
                        <a:pt x="103466" y="20955"/>
                        <a:pt x="127289" y="15967"/>
                        <a:pt x="145861" y="6682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1435894" y="5502354"/>
                  <a:ext cx="157162" cy="60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60246">
                      <a:moveTo>
                        <a:pt x="0" y="0"/>
                      </a:moveTo>
                      <a:lnTo>
                        <a:pt x="0" y="20955"/>
                      </a:lnTo>
                      <a:cubicBezTo>
                        <a:pt x="0" y="42655"/>
                        <a:pt x="35182" y="60246"/>
                        <a:pt x="78581" y="60246"/>
                      </a:cubicBezTo>
                      <a:cubicBezTo>
                        <a:pt x="121980" y="60246"/>
                        <a:pt x="157162" y="42655"/>
                        <a:pt x="157162" y="20955"/>
                      </a:cubicBezTo>
                      <a:lnTo>
                        <a:pt x="157162" y="0"/>
                      </a:lnTo>
                      <a:cubicBezTo>
                        <a:pt x="153395" y="2617"/>
                        <a:pt x="149545" y="4839"/>
                        <a:pt x="145861" y="6682"/>
                      </a:cubicBezTo>
                      <a:cubicBezTo>
                        <a:pt x="127289" y="15968"/>
                        <a:pt x="103466" y="20955"/>
                        <a:pt x="78581" y="20955"/>
                      </a:cubicBezTo>
                      <a:cubicBezTo>
                        <a:pt x="53697" y="20955"/>
                        <a:pt x="29873" y="15968"/>
                        <a:pt x="11302" y="6682"/>
                      </a:cubicBezTo>
                      <a:cubicBezTo>
                        <a:pt x="7617" y="4839"/>
                        <a:pt x="3768" y="2617"/>
                        <a:pt x="0" y="0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1435894" y="5353050"/>
                  <a:ext cx="157162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78581">
                      <a:moveTo>
                        <a:pt x="78581" y="0"/>
                      </a:moveTo>
                      <a:cubicBezTo>
                        <a:pt x="121980" y="0"/>
                        <a:pt x="157162" y="17591"/>
                        <a:pt x="157162" y="39291"/>
                      </a:cubicBezTo>
                      <a:cubicBezTo>
                        <a:pt x="157162" y="60990"/>
                        <a:pt x="121980" y="78581"/>
                        <a:pt x="78581" y="78581"/>
                      </a:cubicBezTo>
                      <a:cubicBezTo>
                        <a:pt x="35182" y="78581"/>
                        <a:pt x="0" y="60990"/>
                        <a:pt x="0" y="39291"/>
                      </a:cubicBezTo>
                      <a:cubicBezTo>
                        <a:pt x="0" y="17591"/>
                        <a:pt x="35182" y="0"/>
                        <a:pt x="78581" y="0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</p:grpSp>
          <p:sp>
            <p:nvSpPr>
              <p:cNvPr id="101" name="TextBox 101"/>
              <p:cNvSpPr txBox="1"/>
              <p:nvPr/>
            </p:nvSpPr>
            <p:spPr>
              <a:xfrm>
                <a:off x="1701165" y="5392102"/>
                <a:ext cx="17688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PostgreSQL · 结构化数据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4695825" y="5257800"/>
              <a:ext cx="3286125" cy="381000"/>
              <a:chOff x="4695825" y="5257800"/>
              <a:chExt cx="3286125" cy="381000"/>
            </a:xfrm>
          </p:grpSpPr>
          <p:sp>
            <p:nvSpPr>
              <p:cNvPr id="103" name="Rectangle 103"/>
              <p:cNvSpPr/>
              <p:nvPr/>
            </p:nvSpPr>
            <p:spPr>
              <a:xfrm>
                <a:off x="4695825" y="5257800"/>
                <a:ext cx="3286125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4874419" y="5353050"/>
                <a:ext cx="157162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9550">
                    <a:moveTo>
                      <a:pt x="91678" y="91678"/>
                    </a:moveTo>
                    <a:lnTo>
                      <a:pt x="104775" y="0"/>
                    </a:lnTo>
                    <a:lnTo>
                      <a:pt x="78581" y="0"/>
                    </a:lnTo>
                    <a:lnTo>
                      <a:pt x="0" y="91678"/>
                    </a:lnTo>
                    <a:lnTo>
                      <a:pt x="0" y="117872"/>
                    </a:lnTo>
                    <a:lnTo>
                      <a:pt x="65484" y="117872"/>
                    </a:lnTo>
                    <a:lnTo>
                      <a:pt x="52388" y="209550"/>
                    </a:lnTo>
                    <a:lnTo>
                      <a:pt x="78581" y="209550"/>
                    </a:lnTo>
                    <a:lnTo>
                      <a:pt x="157162" y="117872"/>
                    </a:lnTo>
                    <a:lnTo>
                      <a:pt x="157162" y="91678"/>
                    </a:lnTo>
                    <a:lnTo>
                      <a:pt x="91678" y="91678"/>
                    </a:ln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5139690" y="5392102"/>
                <a:ext cx="1298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Redis · 会话与缓存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8134350" y="5257800"/>
              <a:ext cx="3295650" cy="381000"/>
              <a:chOff x="8134350" y="5257800"/>
              <a:chExt cx="3295650" cy="381000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8134350" y="5257800"/>
                <a:ext cx="32956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2E8F2"/>
                </a:solidFill>
              </a:ln>
            </p:spPr>
          </p:sp>
          <p:grpSp>
            <p:nvGrpSpPr>
              <p:cNvPr id="110" name="Group 110"/>
              <p:cNvGrpSpPr/>
              <p:nvPr/>
            </p:nvGrpSpPr>
            <p:grpSpPr>
              <a:xfrm>
                <a:off x="8286750" y="5379244"/>
                <a:ext cx="209550" cy="157162"/>
                <a:chOff x="8286750" y="5379244"/>
                <a:chExt cx="209550" cy="157162"/>
              </a:xfrm>
            </p:grpSpPr>
            <p:sp>
              <p:nvSpPr>
                <p:cNvPr id="108" name="Freeform 108"/>
                <p:cNvSpPr/>
                <p:nvPr/>
              </p:nvSpPr>
              <p:spPr>
                <a:xfrm>
                  <a:off x="8286750" y="5379244"/>
                  <a:ext cx="209550" cy="65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65484">
                      <a:moveTo>
                        <a:pt x="209550" y="0"/>
                      </a:moveTo>
                      <a:lnTo>
                        <a:pt x="0" y="0"/>
                      </a:lnTo>
                      <a:lnTo>
                        <a:pt x="0" y="65484"/>
                      </a:lnTo>
                      <a:lnTo>
                        <a:pt x="209550" y="65484"/>
                      </a:lnTo>
                      <a:lnTo>
                        <a:pt x="209550" y="0"/>
                      </a:lnTo>
                      <a:close/>
                      <a:moveTo>
                        <a:pt x="52388" y="32742"/>
                      </a:moveTo>
                      <a:cubicBezTo>
                        <a:pt x="52388" y="39975"/>
                        <a:pt x="46524" y="45839"/>
                        <a:pt x="39291" y="45839"/>
                      </a:cubicBezTo>
                      <a:cubicBezTo>
                        <a:pt x="32057" y="45839"/>
                        <a:pt x="26194" y="39975"/>
                        <a:pt x="26194" y="32742"/>
                      </a:cubicBezTo>
                      <a:cubicBezTo>
                        <a:pt x="26194" y="25509"/>
                        <a:pt x="32057" y="19645"/>
                        <a:pt x="39291" y="19645"/>
                      </a:cubicBezTo>
                      <a:cubicBezTo>
                        <a:pt x="46524" y="19645"/>
                        <a:pt x="52388" y="25509"/>
                        <a:pt x="52388" y="32742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  <p:sp>
              <p:nvSpPr>
                <p:cNvPr id="109" name="Freeform 109"/>
                <p:cNvSpPr/>
                <p:nvPr/>
              </p:nvSpPr>
              <p:spPr>
                <a:xfrm>
                  <a:off x="8286750" y="5470922"/>
                  <a:ext cx="209550" cy="65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65484">
                      <a:moveTo>
                        <a:pt x="209550" y="0"/>
                      </a:moveTo>
                      <a:lnTo>
                        <a:pt x="0" y="0"/>
                      </a:lnTo>
                      <a:lnTo>
                        <a:pt x="0" y="65484"/>
                      </a:lnTo>
                      <a:lnTo>
                        <a:pt x="209550" y="65484"/>
                      </a:lnTo>
                      <a:lnTo>
                        <a:pt x="209550" y="0"/>
                      </a:lnTo>
                      <a:close/>
                      <a:moveTo>
                        <a:pt x="39291" y="45839"/>
                      </a:moveTo>
                      <a:cubicBezTo>
                        <a:pt x="46524" y="45839"/>
                        <a:pt x="52388" y="39976"/>
                        <a:pt x="52388" y="32742"/>
                      </a:cubicBezTo>
                      <a:cubicBezTo>
                        <a:pt x="52388" y="25509"/>
                        <a:pt x="46524" y="19645"/>
                        <a:pt x="39291" y="19645"/>
                      </a:cubicBezTo>
                      <a:cubicBezTo>
                        <a:pt x="32057" y="19645"/>
                        <a:pt x="26194" y="25509"/>
                        <a:pt x="26194" y="32742"/>
                      </a:cubicBezTo>
                      <a:cubicBezTo>
                        <a:pt x="26194" y="39976"/>
                        <a:pt x="32057" y="45839"/>
                        <a:pt x="39291" y="45839"/>
                      </a:cubicBezTo>
                      <a:close/>
                    </a:path>
                  </a:pathLst>
                </a:custGeom>
                <a:solidFill>
                  <a:srgbClr val="5A6478"/>
                </a:solidFill>
                <a:ln>
                  <a:noFill/>
                </a:ln>
              </p:spPr>
            </p:sp>
          </p:grpSp>
          <p:sp>
            <p:nvSpPr>
              <p:cNvPr id="111" name="TextBox 111"/>
              <p:cNvSpPr txBox="1"/>
              <p:nvPr/>
            </p:nvSpPr>
            <p:spPr>
              <a:xfrm>
                <a:off x="8578215" y="5392102"/>
                <a:ext cx="19085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MinIO · 课件与音频对象存储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98170" y="6570345"/>
            <a:ext cx="10995661" cy="182880"/>
            <a:chOff x="598170" y="6570345"/>
            <a:chExt cx="10995661" cy="182880"/>
          </a:xfrm>
        </p:grpSpPr>
        <p:sp>
          <p:nvSpPr>
            <p:cNvPr id="114" name="TextBox 114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43895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8" grpId="0"/>
      <p:bldP spid="63" grpId="0"/>
      <p:bldP spid="91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6292644" cy="528638"/>
            <a:chOff x="609600" y="1009650"/>
            <a:chExt cx="6292644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课件解析：不止提文本，更提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教学逻辑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66802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算法一：多模态课件解析管道，逐级产出"可被教学使用"的结构化内容与知识点层级树。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09600" y="1847850"/>
            <a:ext cx="2514600" cy="3543300"/>
            <a:chOff x="609600" y="1847850"/>
            <a:chExt cx="2514600" cy="3543300"/>
          </a:xfrm>
        </p:grpSpPr>
        <p:sp>
          <p:nvSpPr>
            <p:cNvPr id="20" name="Rectangle 20"/>
            <p:cNvSpPr/>
            <p:nvPr/>
          </p:nvSpPr>
          <p:spPr>
            <a:xfrm>
              <a:off x="609600" y="1847850"/>
              <a:ext cx="2514600" cy="3543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21" name="Freeform 21"/>
            <p:cNvSpPr/>
            <p:nvPr/>
          </p:nvSpPr>
          <p:spPr>
            <a:xfrm>
              <a:off x="609600" y="184785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400300" y="0"/>
                  </a:lnTo>
                  <a:cubicBezTo>
                    <a:pt x="2463426" y="0"/>
                    <a:pt x="2514600" y="51174"/>
                    <a:pt x="2514600" y="114300"/>
                  </a:cubicBezTo>
                  <a:lnTo>
                    <a:pt x="25146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860" y="212788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拆页渲染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17959" y="2590800"/>
              <a:ext cx="250032" cy="285750"/>
              <a:chOff x="817959" y="2590800"/>
              <a:chExt cx="250032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89397" y="2590800"/>
                <a:ext cx="178594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214312">
                    <a:moveTo>
                      <a:pt x="107156" y="0"/>
                    </a:moveTo>
                    <a:lnTo>
                      <a:pt x="0" y="0"/>
                    </a:lnTo>
                    <a:lnTo>
                      <a:pt x="0" y="214312"/>
                    </a:lnTo>
                    <a:lnTo>
                      <a:pt x="178594" y="214312"/>
                    </a:lnTo>
                    <a:lnTo>
                      <a:pt x="178594" y="71438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959" y="2662238"/>
                <a:ext cx="178594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214312">
                    <a:moveTo>
                      <a:pt x="0" y="0"/>
                    </a:moveTo>
                    <a:lnTo>
                      <a:pt x="0" y="214312"/>
                    </a:lnTo>
                    <a:lnTo>
                      <a:pt x="178594" y="214312"/>
                    </a:lnTo>
                    <a:lnTo>
                      <a:pt x="178594" y="178594"/>
                    </a:lnTo>
                    <a:lnTo>
                      <a:pt x="35719" y="178594"/>
                    </a:lnTo>
                    <a:lnTo>
                      <a:pt x="357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26" name="Ellipse 26"/>
            <p:cNvSpPr/>
            <p:nvPr/>
          </p:nvSpPr>
          <p:spPr>
            <a:xfrm>
              <a:off x="847725" y="31146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7265" y="3077528"/>
              <a:ext cx="971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PPT / PDF 分页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47725" y="34194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33823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高清图像渲染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47725" y="37242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7265" y="36871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版面布局保真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00100" y="409575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9525">
              <a:solidFill>
                <a:srgbClr val="E2E8F2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0100" y="4248150"/>
              <a:ext cx="2133600" cy="952500"/>
            </a:xfrm>
            <a:prstGeom prst="roundRect">
              <a:avLst>
                <a:gd name="adj" fmla="val 800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2022" y="442579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7260" y="46520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页图像序列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0118" y="49239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逐页高清图 + 元数据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429000" y="1847850"/>
            <a:ext cx="2514600" cy="3543300"/>
            <a:chOff x="3429000" y="1847850"/>
            <a:chExt cx="2514600" cy="3543300"/>
          </a:xfrm>
        </p:grpSpPr>
        <p:sp>
          <p:nvSpPr>
            <p:cNvPr id="38" name="Rectangle 38"/>
            <p:cNvSpPr/>
            <p:nvPr/>
          </p:nvSpPr>
          <p:spPr>
            <a:xfrm>
              <a:off x="3429000" y="1847850"/>
              <a:ext cx="2514600" cy="3543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CDBEF6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39" name="Freeform 39"/>
            <p:cNvSpPr/>
            <p:nvPr/>
          </p:nvSpPr>
          <p:spPr>
            <a:xfrm>
              <a:off x="3429000" y="184785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400300" y="0"/>
                  </a:lnTo>
                  <a:cubicBezTo>
                    <a:pt x="2463426" y="0"/>
                    <a:pt x="2514600" y="51174"/>
                    <a:pt x="2514600" y="114300"/>
                  </a:cubicBezTo>
                  <a:lnTo>
                    <a:pt x="25146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04260" y="2127885"/>
              <a:ext cx="1131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VLM 结构化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619500" y="2626519"/>
              <a:ext cx="285750" cy="214312"/>
            </a:xfrm>
            <a:custGeom>
              <a:avLst/>
              <a:gdLst/>
              <a:ahLst/>
              <a:cxnLst/>
              <a:rect l="l" t="t" r="r" b="b"/>
              <a:pathLst>
                <a:path w="285750" h="214312">
                  <a:moveTo>
                    <a:pt x="0" y="107156"/>
                  </a:moveTo>
                  <a:lnTo>
                    <a:pt x="54997" y="41160"/>
                  </a:lnTo>
                  <a:cubicBezTo>
                    <a:pt x="76731" y="15079"/>
                    <a:pt x="108926" y="0"/>
                    <a:pt x="142875" y="0"/>
                  </a:cubicBezTo>
                  <a:cubicBezTo>
                    <a:pt x="176824" y="0"/>
                    <a:pt x="209019" y="15079"/>
                    <a:pt x="230754" y="41160"/>
                  </a:cubicBezTo>
                  <a:lnTo>
                    <a:pt x="285750" y="107156"/>
                  </a:lnTo>
                  <a:lnTo>
                    <a:pt x="230754" y="173152"/>
                  </a:lnTo>
                  <a:cubicBezTo>
                    <a:pt x="209019" y="199234"/>
                    <a:pt x="176824" y="214312"/>
                    <a:pt x="142875" y="214312"/>
                  </a:cubicBezTo>
                  <a:cubicBezTo>
                    <a:pt x="108926" y="214312"/>
                    <a:pt x="76731" y="199234"/>
                    <a:pt x="54997" y="173152"/>
                  </a:cubicBezTo>
                  <a:lnTo>
                    <a:pt x="0" y="107156"/>
                  </a:lnTo>
                  <a:close/>
                  <a:moveTo>
                    <a:pt x="142875" y="160734"/>
                  </a:moveTo>
                  <a:cubicBezTo>
                    <a:pt x="172465" y="160734"/>
                    <a:pt x="196453" y="136747"/>
                    <a:pt x="196453" y="107156"/>
                  </a:cubicBezTo>
                  <a:cubicBezTo>
                    <a:pt x="196453" y="77566"/>
                    <a:pt x="172465" y="53578"/>
                    <a:pt x="142875" y="53578"/>
                  </a:cubicBezTo>
                  <a:cubicBezTo>
                    <a:pt x="113285" y="53578"/>
                    <a:pt x="89297" y="77566"/>
                    <a:pt x="89297" y="107156"/>
                  </a:cubicBezTo>
                  <a:cubicBezTo>
                    <a:pt x="89297" y="136747"/>
                    <a:pt x="113285" y="160734"/>
                    <a:pt x="142875" y="160734"/>
                  </a:cubicBez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667125" y="31146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796665" y="307752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标题 / 正文识别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3667125" y="34194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96665" y="33823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阅读顺序还原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3667125" y="37242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96665" y="36871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图表语义理解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3619500" y="409575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9525">
              <a:solidFill>
                <a:srgbClr val="E2E8F2"/>
              </a:solidFill>
              <a:prstDash val="dash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619500" y="4248150"/>
              <a:ext cx="2133600" cy="952500"/>
            </a:xfrm>
            <a:prstGeom prst="roundRect">
              <a:avLst>
                <a:gd name="adj" fmla="val 8000"/>
              </a:avLst>
            </a:prstGeom>
            <a:solidFill>
              <a:srgbClr val="F4F0F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61422" y="442579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56660" y="4652010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页级结构化 JSON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59518" y="49239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元素 + 层级 + 位置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48400" y="1847850"/>
            <a:ext cx="2514600" cy="3543300"/>
            <a:chOff x="6248400" y="1847850"/>
            <a:chExt cx="2514600" cy="3543300"/>
          </a:xfrm>
        </p:grpSpPr>
        <p:sp>
          <p:nvSpPr>
            <p:cNvPr id="54" name="Rectangle 54"/>
            <p:cNvSpPr/>
            <p:nvPr/>
          </p:nvSpPr>
          <p:spPr>
            <a:xfrm>
              <a:off x="6248400" y="1847850"/>
              <a:ext cx="2514600" cy="3543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9FE2D7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55" name="Freeform 55"/>
            <p:cNvSpPr/>
            <p:nvPr/>
          </p:nvSpPr>
          <p:spPr>
            <a:xfrm>
              <a:off x="6248400" y="184785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400300" y="0"/>
                  </a:lnTo>
                  <a:cubicBezTo>
                    <a:pt x="2463426" y="0"/>
                    <a:pt x="2514600" y="51174"/>
                    <a:pt x="2514600" y="114300"/>
                  </a:cubicBezTo>
                  <a:lnTo>
                    <a:pt x="25146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23660" y="2127885"/>
              <a:ext cx="11058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标准化校验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6438900" y="25908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61752" y="93635"/>
                  </a:moveTo>
                  <a:cubicBezTo>
                    <a:pt x="276361" y="105077"/>
                    <a:pt x="285750" y="122880"/>
                    <a:pt x="285750" y="142875"/>
                  </a:cubicBezTo>
                  <a:cubicBezTo>
                    <a:pt x="285750" y="162871"/>
                    <a:pt x="276361" y="180674"/>
                    <a:pt x="261751" y="192117"/>
                  </a:cubicBezTo>
                  <a:cubicBezTo>
                    <a:pt x="263990" y="210537"/>
                    <a:pt x="258041" y="229764"/>
                    <a:pt x="243902" y="243904"/>
                  </a:cubicBezTo>
                  <a:cubicBezTo>
                    <a:pt x="229763" y="258043"/>
                    <a:pt x="210535" y="263992"/>
                    <a:pt x="192115" y="261752"/>
                  </a:cubicBezTo>
                  <a:cubicBezTo>
                    <a:pt x="180673" y="276361"/>
                    <a:pt x="162870" y="285750"/>
                    <a:pt x="142875" y="285750"/>
                  </a:cubicBezTo>
                  <a:cubicBezTo>
                    <a:pt x="122879" y="285750"/>
                    <a:pt x="105076" y="276361"/>
                    <a:pt x="93635" y="261751"/>
                  </a:cubicBezTo>
                  <a:cubicBezTo>
                    <a:pt x="75213" y="263992"/>
                    <a:pt x="55986" y="258041"/>
                    <a:pt x="41847" y="243902"/>
                  </a:cubicBezTo>
                  <a:cubicBezTo>
                    <a:pt x="27708" y="229764"/>
                    <a:pt x="21758" y="210537"/>
                    <a:pt x="23998" y="192115"/>
                  </a:cubicBezTo>
                  <a:cubicBezTo>
                    <a:pt x="9389" y="180673"/>
                    <a:pt x="0" y="162870"/>
                    <a:pt x="0" y="142875"/>
                  </a:cubicBezTo>
                  <a:cubicBezTo>
                    <a:pt x="0" y="122879"/>
                    <a:pt x="9389" y="105076"/>
                    <a:pt x="23999" y="93635"/>
                  </a:cubicBezTo>
                  <a:cubicBezTo>
                    <a:pt x="21759" y="75213"/>
                    <a:pt x="27708" y="55986"/>
                    <a:pt x="41847" y="41847"/>
                  </a:cubicBezTo>
                  <a:cubicBezTo>
                    <a:pt x="55986" y="27708"/>
                    <a:pt x="75214" y="21758"/>
                    <a:pt x="93635" y="23998"/>
                  </a:cubicBezTo>
                  <a:cubicBezTo>
                    <a:pt x="105077" y="9389"/>
                    <a:pt x="122880" y="0"/>
                    <a:pt x="142875" y="0"/>
                  </a:cubicBezTo>
                  <a:cubicBezTo>
                    <a:pt x="162871" y="0"/>
                    <a:pt x="180674" y="9389"/>
                    <a:pt x="192117" y="23999"/>
                  </a:cubicBezTo>
                  <a:cubicBezTo>
                    <a:pt x="210537" y="21760"/>
                    <a:pt x="229764" y="27709"/>
                    <a:pt x="243904" y="41848"/>
                  </a:cubicBezTo>
                  <a:cubicBezTo>
                    <a:pt x="258043" y="55987"/>
                    <a:pt x="263992" y="75214"/>
                    <a:pt x="261752" y="93635"/>
                  </a:cubicBezTo>
                  <a:close/>
                  <a:moveTo>
                    <a:pt x="218011" y="110855"/>
                  </a:moveTo>
                  <a:lnTo>
                    <a:pt x="192754" y="85598"/>
                  </a:lnTo>
                  <a:lnTo>
                    <a:pt x="125016" y="153337"/>
                  </a:lnTo>
                  <a:lnTo>
                    <a:pt x="92996" y="121317"/>
                  </a:lnTo>
                  <a:lnTo>
                    <a:pt x="67739" y="146574"/>
                  </a:lnTo>
                  <a:lnTo>
                    <a:pt x="125016" y="203850"/>
                  </a:lnTo>
                  <a:lnTo>
                    <a:pt x="218011" y="110855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486525" y="31146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6065" y="30775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字段规范化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6525" y="34194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16065" y="33823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知识点抽取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86525" y="37242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6065" y="36871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质量与一致性校验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6438900" y="409575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9525">
              <a:solidFill>
                <a:srgbClr val="E2E8F2"/>
              </a:solidFill>
              <a:prstDash val="dash"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38900" y="4248150"/>
              <a:ext cx="2133600" cy="952500"/>
            </a:xfrm>
            <a:prstGeom prst="roundRect">
              <a:avLst>
                <a:gd name="adj" fmla="val 8000"/>
              </a:avLst>
            </a:prstGeom>
            <a:solidFill>
              <a:srgbClr val="E9F8F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80822" y="442579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76060" y="4652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标准化知识树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78918" y="49239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知识点层级关系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067800" y="1847850"/>
            <a:ext cx="2514600" cy="3543300"/>
            <a:chOff x="9067800" y="1847850"/>
            <a:chExt cx="2514600" cy="3543300"/>
          </a:xfrm>
        </p:grpSpPr>
        <p:sp>
          <p:nvSpPr>
            <p:cNvPr id="70" name="Rectangle 70"/>
            <p:cNvSpPr/>
            <p:nvPr/>
          </p:nvSpPr>
          <p:spPr>
            <a:xfrm>
              <a:off x="9067800" y="1847850"/>
              <a:ext cx="2514600" cy="3543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BBD2F8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71" name="Freeform 71"/>
            <p:cNvSpPr/>
            <p:nvPr/>
          </p:nvSpPr>
          <p:spPr>
            <a:xfrm>
              <a:off x="9067800" y="1847850"/>
              <a:ext cx="2514600" cy="552450"/>
            </a:xfrm>
            <a:custGeom>
              <a:avLst/>
              <a:gdLst/>
              <a:ahLst/>
              <a:cxnLst/>
              <a:rect l="l" t="t" r="r" b="b"/>
              <a:pathLst>
                <a:path w="2514600" h="552450">
                  <a:moveTo>
                    <a:pt x="0" y="114300"/>
                  </a:moveTo>
                  <a:cubicBezTo>
                    <a:pt x="0" y="51174"/>
                    <a:pt x="51174" y="0"/>
                    <a:pt x="114300" y="0"/>
                  </a:cubicBezTo>
                  <a:lnTo>
                    <a:pt x="2400300" y="0"/>
                  </a:lnTo>
                  <a:cubicBezTo>
                    <a:pt x="2463426" y="0"/>
                    <a:pt x="2514600" y="51174"/>
                    <a:pt x="2514600" y="114300"/>
                  </a:cubicBezTo>
                  <a:lnTo>
                    <a:pt x="2514600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43060" y="2127885"/>
              <a:ext cx="937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结构预览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9271218" y="2608659"/>
              <a:ext cx="254972" cy="250032"/>
              <a:chOff x="9271218" y="2608659"/>
              <a:chExt cx="254972" cy="250032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9383315" y="2608659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383315" y="2680097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9383315" y="2751534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35719"/>
                    </a:lnTo>
                    <a:lnTo>
                      <a:pt x="142875" y="35719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9383315" y="2822972"/>
                <a:ext cx="14287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9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9"/>
                    </a:lnTo>
                    <a:lnTo>
                      <a:pt x="0" y="357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276159" y="2751534"/>
                <a:ext cx="7367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3670" h="107156">
                    <a:moveTo>
                      <a:pt x="40872" y="31254"/>
                    </a:moveTo>
                    <a:lnTo>
                      <a:pt x="0" y="31254"/>
                    </a:lnTo>
                    <a:lnTo>
                      <a:pt x="0" y="0"/>
                    </a:lnTo>
                    <a:lnTo>
                      <a:pt x="40872" y="0"/>
                    </a:lnTo>
                    <a:cubicBezTo>
                      <a:pt x="58986" y="0"/>
                      <a:pt x="73670" y="14684"/>
                      <a:pt x="73670" y="32797"/>
                    </a:cubicBezTo>
                    <a:cubicBezTo>
                      <a:pt x="73670" y="41803"/>
                      <a:pt x="69967" y="50413"/>
                      <a:pt x="63429" y="56607"/>
                    </a:cubicBezTo>
                    <a:lnTo>
                      <a:pt x="43062" y="75902"/>
                    </a:lnTo>
                    <a:lnTo>
                      <a:pt x="71437" y="75902"/>
                    </a:lnTo>
                    <a:lnTo>
                      <a:pt x="71437" y="107156"/>
                    </a:lnTo>
                    <a:lnTo>
                      <a:pt x="0" y="107156"/>
                    </a:lnTo>
                    <a:lnTo>
                      <a:pt x="0" y="73645"/>
                    </a:lnTo>
                    <a:lnTo>
                      <a:pt x="41934" y="33919"/>
                    </a:lnTo>
                    <a:cubicBezTo>
                      <a:pt x="42242" y="33627"/>
                      <a:pt x="42416" y="33222"/>
                      <a:pt x="42416" y="32797"/>
                    </a:cubicBezTo>
                    <a:cubicBezTo>
                      <a:pt x="42416" y="31945"/>
                      <a:pt x="41725" y="31254"/>
                      <a:pt x="40872" y="31254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271218" y="2610892"/>
                <a:ext cx="56287" cy="104924"/>
              </a:xfrm>
              <a:custGeom>
                <a:avLst/>
                <a:gdLst/>
                <a:ahLst/>
                <a:cxnLst/>
                <a:rect l="l" t="t" r="r" b="b"/>
                <a:pathLst>
                  <a:path w="56287" h="104924">
                    <a:moveTo>
                      <a:pt x="29195" y="0"/>
                    </a:moveTo>
                    <a:lnTo>
                      <a:pt x="0" y="9732"/>
                    </a:lnTo>
                    <a:lnTo>
                      <a:pt x="9883" y="39382"/>
                    </a:lnTo>
                    <a:lnTo>
                      <a:pt x="25034" y="34332"/>
                    </a:lnTo>
                    <a:lnTo>
                      <a:pt x="25034" y="104924"/>
                    </a:lnTo>
                    <a:lnTo>
                      <a:pt x="56287" y="104924"/>
                    </a:lnTo>
                    <a:lnTo>
                      <a:pt x="56287" y="0"/>
                    </a:lnTo>
                    <a:lnTo>
                      <a:pt x="29195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80" name="Ellipse 80"/>
            <p:cNvSpPr/>
            <p:nvPr/>
          </p:nvSpPr>
          <p:spPr>
            <a:xfrm>
              <a:off x="9305925" y="31146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35465" y="30775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层级树可视化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305925" y="34194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435465" y="338232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教师确认 / 回改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305925" y="37242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35465" y="36871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进入讲稿生成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9258300" y="409575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9525">
              <a:solidFill>
                <a:srgbClr val="E2E8F2"/>
              </a:solidFill>
              <a:prstDash val="dash"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258300" y="4248150"/>
              <a:ext cx="2133600" cy="952500"/>
            </a:xfrm>
            <a:prstGeom prst="roundRect">
              <a:avLst>
                <a:gd name="adj" fmla="val 8000"/>
              </a:avLst>
            </a:prstGeom>
            <a:solidFill>
              <a:srgbClr val="EFF4FE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400222" y="4425791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95460" y="46520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可编辑教学结构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398318" y="49239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供脚本生成使用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143250" y="3543300"/>
            <a:ext cx="5924550" cy="228600"/>
            <a:chOff x="3143250" y="3543300"/>
            <a:chExt cx="5924550" cy="228600"/>
          </a:xfrm>
        </p:grpSpPr>
        <p:sp>
          <p:nvSpPr>
            <p:cNvPr id="92" name="Freeform 92"/>
            <p:cNvSpPr/>
            <p:nvPr/>
          </p:nvSpPr>
          <p:spPr>
            <a:xfrm>
              <a:off x="3143250" y="35433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5962650" y="35433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  <p:sp>
          <p:nvSpPr>
            <p:cNvPr id="94" name="Freeform 94"/>
            <p:cNvSpPr/>
            <p:nvPr/>
          </p:nvSpPr>
          <p:spPr>
            <a:xfrm>
              <a:off x="8782050" y="35433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7D2E8"/>
            </a:solidFill>
            <a:ln>
              <a:noFill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609600" y="5543550"/>
            <a:ext cx="10972800" cy="457200"/>
            <a:chOff x="609600" y="5543550"/>
            <a:chExt cx="10972800" cy="457200"/>
          </a:xfrm>
        </p:grpSpPr>
        <p:sp>
          <p:nvSpPr>
            <p:cNvPr id="96" name="Rectangle 96"/>
            <p:cNvSpPr/>
            <p:nvPr/>
          </p:nvSpPr>
          <p:spPr>
            <a:xfrm>
              <a:off x="609600" y="554355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2648931" y="5690235"/>
              <a:ext cx="68941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最终产出：页级结构化内容 + 知识点层级树 —— 支撑后续讲稿生成、上下文问答与进度续接。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99" name="TextBox 99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468957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7" grpId="0"/>
      <p:bldP spid="53" grpId="0"/>
      <p:bldP spid="69" grpId="0"/>
      <p:bldP spid="91" grpId="0"/>
      <p:bldP spid="95" grpId="0"/>
      <p:bldP spid="9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6381905" cy="528638"/>
            <a:chOff x="609600" y="1009650"/>
            <a:chExt cx="6381905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62237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本页优先的 RAG 问答，</a:t>
              </a:r>
              <a:r>
                <a:rPr lang="zh-CN" sz="25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可溯源、可续接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3908" y="1500664"/>
            <a:ext cx="65101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算法二：以"当前页上下文优先"的检索增强问答，并用结构化字段驱动学习进度续接。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09600" y="1866900"/>
            <a:ext cx="10972800" cy="969169"/>
            <a:chOff x="609600" y="1866900"/>
            <a:chExt cx="10972800" cy="969169"/>
          </a:xfrm>
        </p:grpSpPr>
        <p:grpSp>
          <p:nvGrpSpPr>
            <p:cNvPr id="26" name="Group 26"/>
            <p:cNvGrpSpPr/>
            <p:nvPr/>
          </p:nvGrpSpPr>
          <p:grpSpPr>
            <a:xfrm>
              <a:off x="609600" y="1866900"/>
              <a:ext cx="2286000" cy="969169"/>
              <a:chOff x="609600" y="1866900"/>
              <a:chExt cx="2286000" cy="969169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09600" y="1866900"/>
                <a:ext cx="228600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5250"/>
                  </a:srgbClr>
                </a:outerShdw>
              </a:effectLst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609600" y="186690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9150" y="2057400"/>
                <a:ext cx="261818" cy="261818"/>
              </a:xfrm>
              <a:custGeom>
                <a:avLst/>
                <a:gdLst/>
                <a:ahLst/>
                <a:cxnLst/>
                <a:rect l="l" t="t" r="r" b="b"/>
                <a:pathLst>
                  <a:path w="261818" h="261818">
                    <a:moveTo>
                      <a:pt x="186560" y="210133"/>
                    </a:moveTo>
                    <a:cubicBezTo>
                      <a:pt x="167081" y="224721"/>
                      <a:pt x="142890" y="233362"/>
                      <a:pt x="116681" y="233362"/>
                    </a:cubicBezTo>
                    <a:cubicBezTo>
                      <a:pt x="52240" y="233362"/>
                      <a:pt x="0" y="181123"/>
                      <a:pt x="0" y="116681"/>
                    </a:cubicBezTo>
                    <a:cubicBezTo>
                      <a:pt x="0" y="52240"/>
                      <a:pt x="52240" y="0"/>
                      <a:pt x="116681" y="0"/>
                    </a:cubicBezTo>
                    <a:cubicBezTo>
                      <a:pt x="181123" y="0"/>
                      <a:pt x="233362" y="52240"/>
                      <a:pt x="233362" y="116681"/>
                    </a:cubicBezTo>
                    <a:cubicBezTo>
                      <a:pt x="233362" y="142890"/>
                      <a:pt x="224721" y="167081"/>
                      <a:pt x="210133" y="186560"/>
                    </a:cubicBezTo>
                    <a:lnTo>
                      <a:pt x="261818" y="238245"/>
                    </a:lnTo>
                    <a:lnTo>
                      <a:pt x="238245" y="261818"/>
                    </a:lnTo>
                    <a:lnTo>
                      <a:pt x="186560" y="210133"/>
                    </a:lnTo>
                    <a:close/>
                    <a:moveTo>
                      <a:pt x="93108" y="140254"/>
                    </a:moveTo>
                    <a:lnTo>
                      <a:pt x="69535" y="163828"/>
                    </a:lnTo>
                    <a:cubicBezTo>
                      <a:pt x="43497" y="137789"/>
                      <a:pt x="43497" y="95573"/>
                      <a:pt x="69535" y="69535"/>
                    </a:cubicBezTo>
                    <a:cubicBezTo>
                      <a:pt x="95573" y="43497"/>
                      <a:pt x="137789" y="43497"/>
                      <a:pt x="163828" y="69535"/>
                    </a:cubicBezTo>
                    <a:lnTo>
                      <a:pt x="140254" y="93108"/>
                    </a:lnTo>
                    <a:cubicBezTo>
                      <a:pt x="127235" y="80089"/>
                      <a:pt x="106127" y="80089"/>
                      <a:pt x="93108" y="93108"/>
                    </a:cubicBezTo>
                    <a:cubicBezTo>
                      <a:pt x="80089" y="106127"/>
                      <a:pt x="80089" y="127235"/>
                      <a:pt x="93108" y="140254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64908" y="21293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意图识别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06768" y="24664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判断问题类型与所属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06768" y="26379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知识点。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505200" y="1866900"/>
              <a:ext cx="2286000" cy="969169"/>
              <a:chOff x="3505200" y="1866900"/>
              <a:chExt cx="2286000" cy="969169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505200" y="1866900"/>
                <a:ext cx="228600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5250"/>
                  </a:srgbClr>
                </a:outerShdw>
              </a:effectLst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3505200" y="186690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14750" y="2090738"/>
                <a:ext cx="26670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16694">
                    <a:moveTo>
                      <a:pt x="0" y="0"/>
                    </a:moveTo>
                    <a:lnTo>
                      <a:pt x="59771" y="0"/>
                    </a:lnTo>
                    <a:cubicBezTo>
                      <a:pt x="74864" y="0"/>
                      <a:pt x="89340" y="5996"/>
                      <a:pt x="100012" y="16669"/>
                    </a:cubicBezTo>
                    <a:cubicBezTo>
                      <a:pt x="110685" y="27342"/>
                      <a:pt x="116681" y="41817"/>
                      <a:pt x="116681" y="56911"/>
                    </a:cubicBez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56911"/>
                    </a:lnTo>
                    <a:cubicBezTo>
                      <a:pt x="150019" y="41817"/>
                      <a:pt x="156015" y="27342"/>
                      <a:pt x="166688" y="16669"/>
                    </a:cubicBezTo>
                    <a:cubicBezTo>
                      <a:pt x="177361" y="5996"/>
                      <a:pt x="191836" y="0"/>
                      <a:pt x="206929" y="0"/>
                    </a:cubicBezTo>
                    <a:lnTo>
                      <a:pt x="266700" y="0"/>
                    </a:lnTo>
                    <a:lnTo>
                      <a:pt x="266700" y="183356"/>
                    </a:lnTo>
                    <a:lnTo>
                      <a:pt x="183356" y="183356"/>
                    </a:lnTo>
                    <a:lnTo>
                      <a:pt x="150019" y="216694"/>
                    </a:lnTo>
                    <a:lnTo>
                      <a:pt x="116681" y="216694"/>
                    </a:lnTo>
                    <a:lnTo>
                      <a:pt x="83344" y="183356"/>
                    </a:lnTo>
                    <a:lnTo>
                      <a:pt x="0" y="1833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060508" y="21293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本页优先召回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702368" y="24664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优先检索当前页与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702368" y="26379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邻近上下文。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00800" y="1866900"/>
              <a:ext cx="2286000" cy="969169"/>
              <a:chOff x="6400800" y="1866900"/>
              <a:chExt cx="2286000" cy="969169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400800" y="1866900"/>
                <a:ext cx="228600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525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400800" y="186690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17B3A3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10350" y="2057400"/>
                <a:ext cx="266700" cy="266700"/>
                <a:chOff x="6610350" y="2057400"/>
                <a:chExt cx="266700" cy="2667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743700" y="2057400"/>
                  <a:ext cx="116681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81" h="116681">
                      <a:moveTo>
                        <a:pt x="0" y="50006"/>
                      </a:moveTo>
                      <a:lnTo>
                        <a:pt x="41672" y="41672"/>
                      </a:lnTo>
                      <a:lnTo>
                        <a:pt x="50006" y="0"/>
                      </a:lnTo>
                      <a:lnTo>
                        <a:pt x="66675" y="0"/>
                      </a:lnTo>
                      <a:lnTo>
                        <a:pt x="75009" y="41672"/>
                      </a:lnTo>
                      <a:lnTo>
                        <a:pt x="116681" y="50006"/>
                      </a:lnTo>
                      <a:lnTo>
                        <a:pt x="116681" y="66675"/>
                      </a:lnTo>
                      <a:lnTo>
                        <a:pt x="75009" y="75009"/>
                      </a:lnTo>
                      <a:lnTo>
                        <a:pt x="66675" y="116681"/>
                      </a:lnTo>
                      <a:lnTo>
                        <a:pt x="50006" y="116681"/>
                      </a:lnTo>
                      <a:lnTo>
                        <a:pt x="41672" y="75009"/>
                      </a:lnTo>
                      <a:lnTo>
                        <a:pt x="0" y="66675"/>
                      </a:lnTo>
                      <a:lnTo>
                        <a:pt x="0" y="50006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610350" y="2140744"/>
                  <a:ext cx="183356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56" h="183356">
                      <a:moveTo>
                        <a:pt x="0" y="100012"/>
                      </a:moveTo>
                      <a:lnTo>
                        <a:pt x="0" y="83344"/>
                      </a:lnTo>
                      <a:lnTo>
                        <a:pt x="66675" y="66675"/>
                      </a:lnTo>
                      <a:lnTo>
                        <a:pt x="83344" y="0"/>
                      </a:lnTo>
                      <a:lnTo>
                        <a:pt x="100012" y="0"/>
                      </a:lnTo>
                      <a:lnTo>
                        <a:pt x="116681" y="66675"/>
                      </a:lnTo>
                      <a:lnTo>
                        <a:pt x="183356" y="83344"/>
                      </a:lnTo>
                      <a:lnTo>
                        <a:pt x="183356" y="100012"/>
                      </a:lnTo>
                      <a:lnTo>
                        <a:pt x="116681" y="116681"/>
                      </a:lnTo>
                      <a:lnTo>
                        <a:pt x="100012" y="183356"/>
                      </a:lnTo>
                      <a:lnTo>
                        <a:pt x="83344" y="183356"/>
                      </a:lnTo>
                      <a:lnTo>
                        <a:pt x="66675" y="116681"/>
                      </a:lnTo>
                      <a:lnTo>
                        <a:pt x="0" y="100012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627019" y="2065734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0" y="25003"/>
                      </a:moveTo>
                      <a:lnTo>
                        <a:pt x="25003" y="0"/>
                      </a:lnTo>
                      <a:lnTo>
                        <a:pt x="50006" y="25003"/>
                      </a:lnTo>
                      <a:lnTo>
                        <a:pt x="25003" y="50006"/>
                      </a:lnTo>
                      <a:lnTo>
                        <a:pt x="0" y="25003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793706" y="225742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33338"/>
                      </a:moveTo>
                      <a:lnTo>
                        <a:pt x="33338" y="0"/>
                      </a:lnTo>
                      <a:lnTo>
                        <a:pt x="0" y="33338"/>
                      </a:lnTo>
                      <a:lnTo>
                        <a:pt x="33338" y="66675"/>
                      </a:lnTo>
                      <a:lnTo>
                        <a:pt x="66675" y="33338"/>
                      </a:ln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843712" y="219075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16669" y="33338"/>
                      </a:moveTo>
                      <a:cubicBezTo>
                        <a:pt x="25875" y="33338"/>
                        <a:pt x="33338" y="25875"/>
                        <a:pt x="33338" y="16669"/>
                      </a:cubicBezTo>
                      <a:cubicBezTo>
                        <a:pt x="33338" y="7463"/>
                        <a:pt x="25875" y="0"/>
                        <a:pt x="16669" y="0"/>
                      </a:cubicBezTo>
                      <a:cubicBezTo>
                        <a:pt x="7463" y="0"/>
                        <a:pt x="0" y="7463"/>
                        <a:pt x="0" y="16669"/>
                      </a:cubicBezTo>
                      <a:cubicBezTo>
                        <a:pt x="0" y="25875"/>
                        <a:pt x="7463" y="33338"/>
                        <a:pt x="16669" y="33338"/>
                      </a:cubicBezTo>
                      <a:close/>
                    </a:path>
                  </a:pathLst>
                </a:custGeom>
                <a:solidFill>
                  <a:srgbClr val="17B3A3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212931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带溯源生成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97968" y="2466499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LLM 生成答案并标注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97968" y="2637949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来源页 / 知识点。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9296400" y="1866900"/>
              <a:ext cx="2286000" cy="969169"/>
              <a:chOff x="9296400" y="1866900"/>
              <a:chExt cx="2286000" cy="969169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296400" y="1866900"/>
                <a:ext cx="228600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E2E8F2"/>
                </a:solidFill>
              </a:ln>
              <a:effectLst>
                <a:outerShdw blurRad="95250" dist="28575" dir="5400000" algn="ctr" rotWithShape="0">
                  <a:srgbClr val="1D2433">
                    <a:alpha val="5250"/>
                  </a:srgbClr>
                </a:outerShdw>
              </a:effectLst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9296400" y="1866900"/>
                <a:ext cx="57150" cy="914400"/>
              </a:xfrm>
              <a:prstGeom prst="roundRect">
                <a:avLst>
                  <a:gd name="adj" fmla="val 50000"/>
                </a:avLst>
              </a:prstGeom>
              <a:solidFill>
                <a:srgbClr val="7B5BE0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9518006" y="2074069"/>
                <a:ext cx="237975" cy="233363"/>
                <a:chOff x="9518006" y="2074069"/>
                <a:chExt cx="237975" cy="233363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9622631" y="2074069"/>
                  <a:ext cx="133350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3338">
                      <a:moveTo>
                        <a:pt x="0" y="0"/>
                      </a:moveTo>
                      <a:lnTo>
                        <a:pt x="133350" y="0"/>
                      </a:lnTo>
                      <a:lnTo>
                        <a:pt x="133350" y="33338"/>
                      </a:ln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622631" y="2140744"/>
                  <a:ext cx="133350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3338">
                      <a:moveTo>
                        <a:pt x="0" y="0"/>
                      </a:moveTo>
                      <a:lnTo>
                        <a:pt x="133350" y="0"/>
                      </a:lnTo>
                      <a:lnTo>
                        <a:pt x="133350" y="33338"/>
                      </a:ln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622631" y="2207419"/>
                  <a:ext cx="133350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3338">
                      <a:moveTo>
                        <a:pt x="133350" y="0"/>
                      </a:moveTo>
                      <a:lnTo>
                        <a:pt x="0" y="0"/>
                      </a:lnTo>
                      <a:lnTo>
                        <a:pt x="0" y="33338"/>
                      </a:lnTo>
                      <a:lnTo>
                        <a:pt x="133350" y="33338"/>
                      </a:lnTo>
                      <a:lnTo>
                        <a:pt x="133350" y="0"/>
                      </a:ln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9622631" y="2274094"/>
                  <a:ext cx="133350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3338">
                      <a:moveTo>
                        <a:pt x="0" y="0"/>
                      </a:moveTo>
                      <a:lnTo>
                        <a:pt x="133350" y="0"/>
                      </a:lnTo>
                      <a:lnTo>
                        <a:pt x="133350" y="33338"/>
                      </a:ln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522619" y="2207419"/>
                  <a:ext cx="68759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59" h="100012">
                      <a:moveTo>
                        <a:pt x="38147" y="29170"/>
                      </a:moveTo>
                      <a:lnTo>
                        <a:pt x="0" y="29170"/>
                      </a:lnTo>
                      <a:lnTo>
                        <a:pt x="0" y="0"/>
                      </a:lnTo>
                      <a:lnTo>
                        <a:pt x="38147" y="0"/>
                      </a:lnTo>
                      <a:cubicBezTo>
                        <a:pt x="55053" y="0"/>
                        <a:pt x="68759" y="13705"/>
                        <a:pt x="68759" y="30610"/>
                      </a:cubicBezTo>
                      <a:cubicBezTo>
                        <a:pt x="68759" y="39017"/>
                        <a:pt x="65302" y="47053"/>
                        <a:pt x="59200" y="52833"/>
                      </a:cubicBezTo>
                      <a:lnTo>
                        <a:pt x="40191" y="70842"/>
                      </a:lnTo>
                      <a:lnTo>
                        <a:pt x="66675" y="70842"/>
                      </a:lnTo>
                      <a:lnTo>
                        <a:pt x="66675" y="100012"/>
                      </a:lnTo>
                      <a:lnTo>
                        <a:pt x="0" y="100012"/>
                      </a:lnTo>
                      <a:lnTo>
                        <a:pt x="0" y="68735"/>
                      </a:lnTo>
                      <a:lnTo>
                        <a:pt x="39138" y="31657"/>
                      </a:lnTo>
                      <a:cubicBezTo>
                        <a:pt x="39426" y="31386"/>
                        <a:pt x="39588" y="31007"/>
                        <a:pt x="39588" y="30610"/>
                      </a:cubicBezTo>
                      <a:cubicBezTo>
                        <a:pt x="39588" y="29815"/>
                        <a:pt x="38943" y="29170"/>
                        <a:pt x="38147" y="29170"/>
                      </a:cubicBez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9518006" y="2076152"/>
                  <a:ext cx="52535" cy="97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35" h="97929">
                      <a:moveTo>
                        <a:pt x="27248" y="0"/>
                      </a:moveTo>
                      <a:lnTo>
                        <a:pt x="0" y="9083"/>
                      </a:lnTo>
                      <a:lnTo>
                        <a:pt x="9225" y="36756"/>
                      </a:lnTo>
                      <a:lnTo>
                        <a:pt x="23365" y="32043"/>
                      </a:lnTo>
                      <a:lnTo>
                        <a:pt x="23365" y="97929"/>
                      </a:lnTo>
                      <a:lnTo>
                        <a:pt x="52535" y="97929"/>
                      </a:lnTo>
                      <a:lnTo>
                        <a:pt x="52535" y="0"/>
                      </a:lnTo>
                      <a:lnTo>
                        <a:pt x="27248" y="0"/>
                      </a:lnTo>
                      <a:close/>
                    </a:path>
                  </a:pathLst>
                </a:custGeom>
                <a:solidFill>
                  <a:srgbClr val="7B5BE0"/>
                </a:solidFill>
                <a:ln>
                  <a:noFill/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9851708" y="212931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结构化输出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493568" y="246649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答案 + 续接控制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493568" y="26379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字段。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2914650" y="2190750"/>
              <a:ext cx="6096000" cy="266700"/>
              <a:chOff x="2914650" y="2190750"/>
              <a:chExt cx="60960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2914650" y="21907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0" y="76200"/>
                    </a:moveTo>
                    <a:lnTo>
                      <a:pt x="133350" y="76200"/>
                    </a:lnTo>
                    <a:lnTo>
                      <a:pt x="133350" y="0"/>
                    </a:lnTo>
                    <a:lnTo>
                      <a:pt x="304800" y="133350"/>
                    </a:lnTo>
                    <a:lnTo>
                      <a:pt x="133350" y="266700"/>
                    </a:lnTo>
                    <a:lnTo>
                      <a:pt x="13335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C7D2E8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10250" y="21907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0" y="76200"/>
                    </a:moveTo>
                    <a:lnTo>
                      <a:pt x="133350" y="76200"/>
                    </a:lnTo>
                    <a:lnTo>
                      <a:pt x="133350" y="0"/>
                    </a:lnTo>
                    <a:lnTo>
                      <a:pt x="304800" y="133350"/>
                    </a:lnTo>
                    <a:lnTo>
                      <a:pt x="133350" y="266700"/>
                    </a:lnTo>
                    <a:lnTo>
                      <a:pt x="13335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C7D2E8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05850" y="21907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0" y="76200"/>
                    </a:moveTo>
                    <a:lnTo>
                      <a:pt x="133350" y="76200"/>
                    </a:lnTo>
                    <a:lnTo>
                      <a:pt x="133350" y="0"/>
                    </a:lnTo>
                    <a:lnTo>
                      <a:pt x="304800" y="133350"/>
                    </a:lnTo>
                    <a:lnTo>
                      <a:pt x="133350" y="266700"/>
                    </a:lnTo>
                    <a:lnTo>
                      <a:pt x="13335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rgbClr val="C7D2E8"/>
              </a:solidFill>
              <a:ln>
                <a:noFill/>
              </a:ln>
            </p:spPr>
          </p:sp>
        </p:grpSp>
      </p:grpSp>
      <p:grpSp>
        <p:nvGrpSpPr>
          <p:cNvPr id="76" name="Group 76"/>
          <p:cNvGrpSpPr/>
          <p:nvPr/>
        </p:nvGrpSpPr>
        <p:grpSpPr>
          <a:xfrm>
            <a:off x="609600" y="2971800"/>
            <a:ext cx="10972800" cy="628650"/>
            <a:chOff x="609600" y="2971800"/>
            <a:chExt cx="10972800" cy="628650"/>
          </a:xfrm>
        </p:grpSpPr>
        <p:sp>
          <p:nvSpPr>
            <p:cNvPr id="64" name="Rectangle 64"/>
            <p:cNvSpPr/>
            <p:nvPr/>
          </p:nvSpPr>
          <p:spPr>
            <a:xfrm>
              <a:off x="609600" y="2971800"/>
              <a:ext cx="10972800" cy="628650"/>
            </a:xfrm>
            <a:prstGeom prst="roundRect">
              <a:avLst>
                <a:gd name="adj" fmla="val 18182"/>
              </a:avLst>
            </a:prstGeom>
            <a:solidFill>
              <a:srgbClr val="EEF2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7718" y="31141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结构化输出字段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00100" y="3314700"/>
              <a:ext cx="8724900" cy="252412"/>
              <a:chOff x="800100" y="3314700"/>
              <a:chExt cx="8724900" cy="252412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00100" y="3314700"/>
                <a:ext cx="2362200" cy="209550"/>
              </a:xfrm>
              <a:prstGeom prst="roundRect">
                <a:avLst>
                  <a:gd name="adj" fmla="val 2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901065" y="3353752"/>
                <a:ext cx="14086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Consolas"/>
                    <a:ea typeface="Microsoft YaHei"/>
                    <a:cs typeface="Consolas"/>
                  </a:rPr>
                  <a:t>understandingLevel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3314700" y="3314700"/>
                <a:ext cx="1905000" cy="209550"/>
              </a:xfrm>
              <a:prstGeom prst="roundRect">
                <a:avLst>
                  <a:gd name="adj" fmla="val 2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3415665" y="3353752"/>
                <a:ext cx="916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Consolas"/>
                    <a:ea typeface="Microsoft YaHei"/>
                    <a:cs typeface="Consolas"/>
                  </a:rPr>
                  <a:t>needReteach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5372100" y="3314700"/>
                <a:ext cx="2095500" cy="209550"/>
              </a:xfrm>
              <a:prstGeom prst="roundRect">
                <a:avLst>
                  <a:gd name="adj" fmla="val 2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5473065" y="3353752"/>
                <a:ext cx="9896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Consolas"/>
                    <a:ea typeface="Microsoft YaHei"/>
                    <a:cs typeface="Consolas"/>
                  </a:rPr>
                  <a:t>resumeNodeId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7620000" y="3314700"/>
                <a:ext cx="1905000" cy="209550"/>
              </a:xfrm>
              <a:prstGeom prst="roundRect">
                <a:avLst>
                  <a:gd name="adj" fmla="val 2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720965" y="3353752"/>
                <a:ext cx="8940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D2433"/>
                    </a:solidFill>
                    <a:latin typeface="Consolas"/>
                    <a:ea typeface="Microsoft YaHei"/>
                    <a:cs typeface="Consolas"/>
                  </a:rPr>
                  <a:t>resumeMode</a:t>
                </a:r>
              </a:p>
            </p:txBody>
          </p:sp>
        </p:grpSp>
        <p:sp>
          <p:nvSpPr>
            <p:cNvPr id="75" name="TextBox 75"/>
            <p:cNvSpPr txBox="1"/>
            <p:nvPr/>
          </p:nvSpPr>
          <p:spPr>
            <a:xfrm>
              <a:off x="9665018" y="336184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→ 驱动进度续接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781050" y="3800475"/>
            <a:ext cx="33775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进度续接三态策略（resumeMode）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609600" y="4152900"/>
            <a:ext cx="3505200" cy="1752600"/>
            <a:chOff x="609600" y="4152900"/>
            <a:chExt cx="3505200" cy="1752600"/>
          </a:xfrm>
        </p:grpSpPr>
        <p:sp>
          <p:nvSpPr>
            <p:cNvPr id="78" name="Rectangle 78"/>
            <p:cNvSpPr/>
            <p:nvPr/>
          </p:nvSpPr>
          <p:spPr>
            <a:xfrm>
              <a:off x="609600" y="4152900"/>
              <a:ext cx="3505200" cy="17526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79" name="Rectangle 79"/>
            <p:cNvSpPr/>
            <p:nvPr/>
          </p:nvSpPr>
          <p:spPr>
            <a:xfrm>
              <a:off x="609600" y="41529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838200" y="441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lose/>
                  <a:moveTo>
                    <a:pt x="302588" y="135901"/>
                  </a:moveTo>
                  <a:lnTo>
                    <a:pt x="268912" y="102224"/>
                  </a:lnTo>
                  <a:lnTo>
                    <a:pt x="154781" y="216355"/>
                  </a:lnTo>
                  <a:lnTo>
                    <a:pt x="112088" y="173662"/>
                  </a:lnTo>
                  <a:lnTo>
                    <a:pt x="78412" y="207338"/>
                  </a:lnTo>
                  <a:lnTo>
                    <a:pt x="154781" y="283707"/>
                  </a:lnTo>
                  <a:lnTo>
                    <a:pt x="302588" y="135901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319212" y="4469606"/>
              <a:ext cx="2963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Consolas"/>
                  <a:ea typeface="Microsoft YaHei"/>
                  <a:cs typeface="Consolas"/>
                </a:rPr>
                <a:t>full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12545" y="46415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续讲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3912" y="50982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理解到位，从原节点之后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3912" y="5326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继续讲授，无缝衔接。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4343400" y="4152900"/>
            <a:ext cx="3505200" cy="1752600"/>
            <a:chOff x="4343400" y="4152900"/>
            <a:chExt cx="3505200" cy="1752600"/>
          </a:xfrm>
        </p:grpSpPr>
        <p:sp>
          <p:nvSpPr>
            <p:cNvPr id="86" name="Rectangle 86"/>
            <p:cNvSpPr/>
            <p:nvPr/>
          </p:nvSpPr>
          <p:spPr>
            <a:xfrm>
              <a:off x="4343400" y="4152900"/>
              <a:ext cx="3505200" cy="17526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87" name="Rectangle 87"/>
            <p:cNvSpPr/>
            <p:nvPr/>
          </p:nvSpPr>
          <p:spPr>
            <a:xfrm>
              <a:off x="4343400" y="41529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4572000" y="4419600"/>
              <a:ext cx="381000" cy="381000"/>
              <a:chOff x="4572000" y="4419600"/>
              <a:chExt cx="381000" cy="3810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4572000" y="44196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4530" y="47681"/>
                    </a:moveTo>
                    <a:cubicBezTo>
                      <a:pt x="193191" y="47644"/>
                      <a:pt x="191848" y="47625"/>
                      <a:pt x="190500" y="47625"/>
                    </a:cubicBezTo>
                    <a:cubicBezTo>
                      <a:pt x="111592" y="47625"/>
                      <a:pt x="47625" y="111592"/>
                      <a:pt x="47625" y="190500"/>
                    </a:cubicBezTo>
                    <a:cubicBezTo>
                      <a:pt x="47625" y="269407"/>
                      <a:pt x="111592" y="333375"/>
                      <a:pt x="190500" y="333375"/>
                    </a:cubicBezTo>
                    <a:cubicBezTo>
                      <a:pt x="269407" y="333375"/>
                      <a:pt x="333375" y="269407"/>
                      <a:pt x="333375" y="190500"/>
                    </a:cubicBezTo>
                    <a:cubicBezTo>
                      <a:pt x="333375" y="189152"/>
                      <a:pt x="333356" y="187809"/>
                      <a:pt x="333320" y="186470"/>
                    </a:cubicBezTo>
                    <a:lnTo>
                      <a:pt x="375385" y="144404"/>
                    </a:lnTo>
                    <a:cubicBezTo>
                      <a:pt x="379052" y="159164"/>
                      <a:pt x="381000" y="174605"/>
                      <a:pt x="381000" y="190500"/>
                    </a:cubicBezTo>
                    <a:cubicBezTo>
                      <a:pt x="381000" y="295711"/>
                      <a:pt x="295711" y="381000"/>
                      <a:pt x="190500" y="381000"/>
                    </a:cubicBezTo>
                    <a:cubicBezTo>
                      <a:pt x="85290" y="381000"/>
                      <a:pt x="0" y="295711"/>
                      <a:pt x="0" y="190500"/>
                    </a:cubicBezTo>
                    <a:cubicBezTo>
                      <a:pt x="0" y="85290"/>
                      <a:pt x="85290" y="0"/>
                      <a:pt x="190500" y="0"/>
                    </a:cubicBezTo>
                    <a:cubicBezTo>
                      <a:pt x="206395" y="0"/>
                      <a:pt x="221836" y="1947"/>
                      <a:pt x="236596" y="5615"/>
                    </a:cubicBezTo>
                    <a:lnTo>
                      <a:pt x="194530" y="47681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4667250" y="4517850"/>
                <a:ext cx="187500" cy="187500"/>
              </a:xfrm>
              <a:custGeom>
                <a:avLst/>
                <a:gdLst/>
                <a:ahLst/>
                <a:cxnLst/>
                <a:rect l="l" t="t" r="r" b="b"/>
                <a:pathLst>
                  <a:path w="187500" h="187500">
                    <a:moveTo>
                      <a:pt x="0" y="92249"/>
                    </a:moveTo>
                    <a:cubicBezTo>
                      <a:pt x="0" y="47866"/>
                      <a:pt x="30355" y="10574"/>
                      <a:pt x="71438" y="0"/>
                    </a:cubicBezTo>
                    <a:lnTo>
                      <a:pt x="71438" y="50995"/>
                    </a:lnTo>
                    <a:cubicBezTo>
                      <a:pt x="57202" y="59230"/>
                      <a:pt x="47625" y="74621"/>
                      <a:pt x="47625" y="92249"/>
                    </a:cubicBezTo>
                    <a:cubicBezTo>
                      <a:pt x="47625" y="118552"/>
                      <a:pt x="68947" y="139874"/>
                      <a:pt x="95250" y="139874"/>
                    </a:cubicBezTo>
                    <a:cubicBezTo>
                      <a:pt x="112878" y="139874"/>
                      <a:pt x="128269" y="130297"/>
                      <a:pt x="136504" y="116062"/>
                    </a:cubicBezTo>
                    <a:lnTo>
                      <a:pt x="187500" y="116062"/>
                    </a:lnTo>
                    <a:cubicBezTo>
                      <a:pt x="176924" y="157144"/>
                      <a:pt x="139633" y="187500"/>
                      <a:pt x="95250" y="187500"/>
                    </a:cubicBezTo>
                    <a:cubicBezTo>
                      <a:pt x="42645" y="187500"/>
                      <a:pt x="0" y="144854"/>
                      <a:pt x="0" y="92249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4757568" y="4419600"/>
                <a:ext cx="195432" cy="195432"/>
              </a:xfrm>
              <a:custGeom>
                <a:avLst/>
                <a:gdLst/>
                <a:ahLst/>
                <a:cxnLst/>
                <a:rect l="l" t="t" r="r" b="b"/>
                <a:pathLst>
                  <a:path w="195432" h="195432">
                    <a:moveTo>
                      <a:pt x="147807" y="47625"/>
                    </a:moveTo>
                    <a:lnTo>
                      <a:pt x="123994" y="0"/>
                    </a:lnTo>
                    <a:lnTo>
                      <a:pt x="52557" y="71438"/>
                    </a:lnTo>
                    <a:lnTo>
                      <a:pt x="52557" y="109199"/>
                    </a:lnTo>
                    <a:lnTo>
                      <a:pt x="0" y="161756"/>
                    </a:lnTo>
                    <a:lnTo>
                      <a:pt x="33676" y="195432"/>
                    </a:lnTo>
                    <a:lnTo>
                      <a:pt x="86232" y="142875"/>
                    </a:lnTo>
                    <a:lnTo>
                      <a:pt x="123994" y="142875"/>
                    </a:lnTo>
                    <a:lnTo>
                      <a:pt x="195432" y="71438"/>
                    </a:lnTo>
                    <a:lnTo>
                      <a:pt x="147807" y="47625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5053012" y="4469606"/>
              <a:ext cx="5562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Consolas"/>
                  <a:ea typeface="Microsoft YaHei"/>
                  <a:cs typeface="Consolas"/>
                </a:rPr>
                <a:t>partial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046345" y="46415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补充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557712" y="50982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部分理解，先补充讲解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557712" y="5326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薄弱点，再继续讲授。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077200" y="4152900"/>
            <a:ext cx="3505200" cy="1752600"/>
            <a:chOff x="8077200" y="4152900"/>
            <a:chExt cx="3505200" cy="1752600"/>
          </a:xfrm>
        </p:grpSpPr>
        <p:sp>
          <p:nvSpPr>
            <p:cNvPr id="97" name="Rectangle 97"/>
            <p:cNvSpPr/>
            <p:nvPr/>
          </p:nvSpPr>
          <p:spPr>
            <a:xfrm>
              <a:off x="8077200" y="4152900"/>
              <a:ext cx="3505200" cy="1752600"/>
            </a:xfrm>
            <a:prstGeom prst="roundRect">
              <a:avLst>
                <a:gd name="adj" fmla="val 7609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95250" dist="28575" dir="5400000" algn="ctr" rotWithShape="0">
                <a:srgbClr val="1D2433">
                  <a:alpha val="5250"/>
                </a:srgbClr>
              </a:outerShdw>
            </a:effectLst>
          </p:spPr>
        </p:sp>
        <p:sp>
          <p:nvSpPr>
            <p:cNvPr id="98" name="Rectangle 98"/>
            <p:cNvSpPr/>
            <p:nvPr/>
          </p:nvSpPr>
          <p:spPr>
            <a:xfrm>
              <a:off x="8077200" y="41529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E8553C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8329612" y="4443412"/>
              <a:ext cx="333376" cy="333376"/>
              <a:chOff x="8329612" y="4443412"/>
              <a:chExt cx="333376" cy="33337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329612" y="4443412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567738" y="468153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47625"/>
                    </a:move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53425" y="4443412"/>
                <a:ext cx="2857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33375">
                    <a:moveTo>
                      <a:pt x="166688" y="83344"/>
                    </a:moveTo>
                    <a:cubicBezTo>
                      <a:pt x="166688" y="63617"/>
                      <a:pt x="182679" y="47625"/>
                      <a:pt x="202406" y="47625"/>
                    </a:cubicBezTo>
                    <a:cubicBezTo>
                      <a:pt x="222133" y="47625"/>
                      <a:pt x="238125" y="63617"/>
                      <a:pt x="238125" y="83344"/>
                    </a:cubicBezTo>
                    <a:lnTo>
                      <a:pt x="238125" y="190500"/>
                    </a:lnTo>
                    <a:lnTo>
                      <a:pt x="285750" y="190500"/>
                    </a:lnTo>
                    <a:lnTo>
                      <a:pt x="285750" y="83344"/>
                    </a:lnTo>
                    <a:cubicBezTo>
                      <a:pt x="285750" y="37314"/>
                      <a:pt x="248436" y="0"/>
                      <a:pt x="202406" y="0"/>
                    </a:cubicBezTo>
                    <a:cubicBezTo>
                      <a:pt x="156377" y="0"/>
                      <a:pt x="119062" y="37314"/>
                      <a:pt x="119062" y="83344"/>
                    </a:cubicBezTo>
                    <a:lnTo>
                      <a:pt x="119062" y="250031"/>
                    </a:lnTo>
                    <a:cubicBezTo>
                      <a:pt x="119062" y="269758"/>
                      <a:pt x="103071" y="285750"/>
                      <a:pt x="83344" y="285750"/>
                    </a:cubicBezTo>
                    <a:cubicBezTo>
                      <a:pt x="63617" y="285750"/>
                      <a:pt x="47625" y="269758"/>
                      <a:pt x="47625" y="250031"/>
                    </a:cubicBezTo>
                    <a:lnTo>
                      <a:pt x="47625" y="142875"/>
                    </a:lnTo>
                    <a:lnTo>
                      <a:pt x="0" y="142875"/>
                    </a:lnTo>
                    <a:lnTo>
                      <a:pt x="0" y="250031"/>
                    </a:lnTo>
                    <a:cubicBezTo>
                      <a:pt x="0" y="296061"/>
                      <a:pt x="37314" y="333375"/>
                      <a:pt x="83344" y="333375"/>
                    </a:cubicBezTo>
                    <a:cubicBezTo>
                      <a:pt x="129373" y="333375"/>
                      <a:pt x="166688" y="296061"/>
                      <a:pt x="166688" y="250031"/>
                    </a:cubicBezTo>
                    <a:lnTo>
                      <a:pt x="166688" y="83344"/>
                    </a:lnTo>
                    <a:close/>
                  </a:path>
                </a:pathLst>
              </a:custGeom>
              <a:solidFill>
                <a:srgbClr val="E8553C"/>
              </a:solidFill>
              <a:ln>
                <a:noFill/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8786812" y="4469606"/>
              <a:ext cx="3751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553C"/>
                  </a:solidFill>
                  <a:latin typeface="Consolas"/>
                  <a:ea typeface="Microsoft YaHei"/>
                  <a:cs typeface="Consolas"/>
                </a:rPr>
                <a:t>none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80145" y="46415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重讲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91512" y="50982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未理解，回到原节点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91512" y="53268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重新讲授该知识点。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108" name="TextBox 10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498961" y="6570345"/>
              <a:ext cx="94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3" grpId="0"/>
      <p:bldP spid="76" grpId="0"/>
      <p:bldP spid="85" grpId="0"/>
      <p:bldP spid="96" grpId="0"/>
      <p:bldP spid="1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2722197" cy="528638"/>
            <a:chOff x="609600" y="1009650"/>
            <a:chExt cx="272219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对齐赛题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硬指标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581150"/>
            <a:ext cx="5334000" cy="1809750"/>
            <a:chOff x="609600" y="1581150"/>
            <a:chExt cx="5334000" cy="1809750"/>
          </a:xfrm>
        </p:grpSpPr>
        <p:sp>
          <p:nvSpPr>
            <p:cNvPr id="19" name="Rectangle 19"/>
            <p:cNvSpPr/>
            <p:nvPr/>
          </p:nvSpPr>
          <p:spPr>
            <a:xfrm>
              <a:off x="609600" y="1581150"/>
              <a:ext cx="53340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0100" y="18097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0605" y="18545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课件解析速度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5368" y="21045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单份课件端到端解析耗时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229225" y="184785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66688" y="166688"/>
                  </a:moveTo>
                  <a:lnTo>
                    <a:pt x="190500" y="0"/>
                  </a:lnTo>
                  <a:lnTo>
                    <a:pt x="142875" y="0"/>
                  </a:lnTo>
                  <a:lnTo>
                    <a:pt x="0" y="166688"/>
                  </a:lnTo>
                  <a:lnTo>
                    <a:pt x="0" y="214312"/>
                  </a:lnTo>
                  <a:lnTo>
                    <a:pt x="119062" y="214312"/>
                  </a:lnTo>
                  <a:lnTo>
                    <a:pt x="95250" y="381000"/>
                  </a:lnTo>
                  <a:lnTo>
                    <a:pt x="142875" y="381000"/>
                  </a:lnTo>
                  <a:lnTo>
                    <a:pt x="285750" y="214312"/>
                  </a:lnTo>
                  <a:lnTo>
                    <a:pt x="285750" y="166688"/>
                  </a:lnTo>
                  <a:lnTo>
                    <a:pt x="166688" y="166688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79170" y="2550795"/>
              <a:ext cx="86355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≤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7890" y="2777490"/>
              <a:ext cx="99083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min / 份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0" y="2743200"/>
              <a:ext cx="1905000" cy="323850"/>
            </a:xfrm>
            <a:prstGeom prst="roundRect">
              <a:avLst>
                <a:gd name="adj" fmla="val 2352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50065" y="2848928"/>
              <a:ext cx="1224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赛题要求 ≤ 2min ✓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48400" y="1581150"/>
            <a:ext cx="5334000" cy="1809750"/>
            <a:chOff x="6248400" y="1581150"/>
            <a:chExt cx="53340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81150"/>
              <a:ext cx="53340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438900" y="18097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9405" y="18545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问答响应速度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4168" y="21045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流式问答首响应时延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0820400" y="18478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381000"/>
                  </a:moveTo>
                  <a:cubicBezTo>
                    <a:pt x="295711" y="381000"/>
                    <a:pt x="381000" y="295711"/>
                    <a:pt x="381000" y="190500"/>
                  </a:cubicBezTo>
                  <a:cubicBezTo>
                    <a:pt x="381000" y="85290"/>
                    <a:pt x="295711" y="0"/>
                    <a:pt x="190500" y="0"/>
                  </a:cubicBezTo>
                  <a:cubicBezTo>
                    <a:pt x="85290" y="0"/>
                    <a:pt x="0" y="85290"/>
                    <a:pt x="0" y="190500"/>
                  </a:cubicBezTo>
                  <a:cubicBezTo>
                    <a:pt x="0" y="295711"/>
                    <a:pt x="85290" y="381000"/>
                    <a:pt x="190500" y="381000"/>
                  </a:cubicBezTo>
                  <a:close/>
                  <a:moveTo>
                    <a:pt x="166688" y="71438"/>
                  </a:moveTo>
                  <a:lnTo>
                    <a:pt x="166688" y="200363"/>
                  </a:lnTo>
                  <a:lnTo>
                    <a:pt x="245100" y="278775"/>
                  </a:lnTo>
                  <a:lnTo>
                    <a:pt x="278775" y="245100"/>
                  </a:lnTo>
                  <a:lnTo>
                    <a:pt x="214312" y="180637"/>
                  </a:lnTo>
                  <a:lnTo>
                    <a:pt x="214312" y="71438"/>
                  </a:lnTo>
                  <a:lnTo>
                    <a:pt x="166688" y="71438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7970" y="2550795"/>
              <a:ext cx="86355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≤ 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6690" y="2777490"/>
              <a:ext cx="2977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448800" y="2743200"/>
              <a:ext cx="1905000" cy="323850"/>
            </a:xfrm>
            <a:prstGeom prst="roundRect">
              <a:avLst>
                <a:gd name="adj" fmla="val 23529"/>
              </a:avLst>
            </a:prstGeom>
            <a:solidFill>
              <a:srgbClr val="E6F7F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66050" y="2848928"/>
              <a:ext cx="1070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赛题要求 ≤ 5s ✓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3543300"/>
            <a:ext cx="5334000" cy="1809750"/>
            <a:chOff x="609600" y="3543300"/>
            <a:chExt cx="5334000" cy="1809750"/>
          </a:xfrm>
        </p:grpSpPr>
        <p:sp>
          <p:nvSpPr>
            <p:cNvPr id="39" name="Rectangle 39"/>
            <p:cNvSpPr/>
            <p:nvPr/>
          </p:nvSpPr>
          <p:spPr>
            <a:xfrm>
              <a:off x="609600" y="3543300"/>
              <a:ext cx="53340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800100" y="37719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30605" y="3816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知识点识别率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5368" y="40666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关键知识点识别准确率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181600" y="3810000"/>
              <a:ext cx="381000" cy="381000"/>
              <a:chOff x="5181600" y="3810000"/>
              <a:chExt cx="381000" cy="3810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181600" y="38100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4530" y="47681"/>
                    </a:moveTo>
                    <a:cubicBezTo>
                      <a:pt x="193191" y="47644"/>
                      <a:pt x="191848" y="47625"/>
                      <a:pt x="190500" y="47625"/>
                    </a:cubicBezTo>
                    <a:cubicBezTo>
                      <a:pt x="111592" y="47625"/>
                      <a:pt x="47625" y="111592"/>
                      <a:pt x="47625" y="190500"/>
                    </a:cubicBezTo>
                    <a:cubicBezTo>
                      <a:pt x="47625" y="269407"/>
                      <a:pt x="111592" y="333375"/>
                      <a:pt x="190500" y="333375"/>
                    </a:cubicBezTo>
                    <a:cubicBezTo>
                      <a:pt x="269407" y="333375"/>
                      <a:pt x="333375" y="269407"/>
                      <a:pt x="333375" y="190500"/>
                    </a:cubicBezTo>
                    <a:cubicBezTo>
                      <a:pt x="333375" y="189152"/>
                      <a:pt x="333356" y="187809"/>
                      <a:pt x="333320" y="186470"/>
                    </a:cubicBezTo>
                    <a:lnTo>
                      <a:pt x="375385" y="144404"/>
                    </a:lnTo>
                    <a:cubicBezTo>
                      <a:pt x="379052" y="159164"/>
                      <a:pt x="381000" y="174605"/>
                      <a:pt x="381000" y="190500"/>
                    </a:cubicBezTo>
                    <a:cubicBezTo>
                      <a:pt x="381000" y="295711"/>
                      <a:pt x="295711" y="381000"/>
                      <a:pt x="190500" y="381000"/>
                    </a:cubicBezTo>
                    <a:cubicBezTo>
                      <a:pt x="85290" y="381000"/>
                      <a:pt x="0" y="295711"/>
                      <a:pt x="0" y="190500"/>
                    </a:cubicBezTo>
                    <a:cubicBezTo>
                      <a:pt x="0" y="85290"/>
                      <a:pt x="85290" y="0"/>
                      <a:pt x="190500" y="0"/>
                    </a:cubicBezTo>
                    <a:cubicBezTo>
                      <a:pt x="206395" y="0"/>
                      <a:pt x="221836" y="1947"/>
                      <a:pt x="236596" y="5615"/>
                    </a:cubicBezTo>
                    <a:lnTo>
                      <a:pt x="194530" y="47681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276850" y="3908250"/>
                <a:ext cx="187500" cy="187500"/>
              </a:xfrm>
              <a:custGeom>
                <a:avLst/>
                <a:gdLst/>
                <a:ahLst/>
                <a:cxnLst/>
                <a:rect l="l" t="t" r="r" b="b"/>
                <a:pathLst>
                  <a:path w="187500" h="187500">
                    <a:moveTo>
                      <a:pt x="0" y="92249"/>
                    </a:moveTo>
                    <a:cubicBezTo>
                      <a:pt x="0" y="47866"/>
                      <a:pt x="30355" y="10574"/>
                      <a:pt x="71438" y="0"/>
                    </a:cubicBezTo>
                    <a:lnTo>
                      <a:pt x="71438" y="50995"/>
                    </a:lnTo>
                    <a:cubicBezTo>
                      <a:pt x="57202" y="59230"/>
                      <a:pt x="47625" y="74621"/>
                      <a:pt x="47625" y="92249"/>
                    </a:cubicBezTo>
                    <a:cubicBezTo>
                      <a:pt x="47625" y="118552"/>
                      <a:pt x="68947" y="139874"/>
                      <a:pt x="95250" y="139874"/>
                    </a:cubicBezTo>
                    <a:cubicBezTo>
                      <a:pt x="112878" y="139874"/>
                      <a:pt x="128269" y="130297"/>
                      <a:pt x="136504" y="116062"/>
                    </a:cubicBezTo>
                    <a:lnTo>
                      <a:pt x="187500" y="116062"/>
                    </a:lnTo>
                    <a:cubicBezTo>
                      <a:pt x="176924" y="157144"/>
                      <a:pt x="139633" y="187500"/>
                      <a:pt x="95250" y="187500"/>
                    </a:cubicBezTo>
                    <a:cubicBezTo>
                      <a:pt x="42645" y="187500"/>
                      <a:pt x="0" y="144854"/>
                      <a:pt x="0" y="92249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367168" y="3810000"/>
                <a:ext cx="195432" cy="195432"/>
              </a:xfrm>
              <a:custGeom>
                <a:avLst/>
                <a:gdLst/>
                <a:ahLst/>
                <a:cxnLst/>
                <a:rect l="l" t="t" r="r" b="b"/>
                <a:pathLst>
                  <a:path w="195432" h="195432">
                    <a:moveTo>
                      <a:pt x="147807" y="47625"/>
                    </a:moveTo>
                    <a:lnTo>
                      <a:pt x="123994" y="0"/>
                    </a:lnTo>
                    <a:lnTo>
                      <a:pt x="52557" y="71438"/>
                    </a:lnTo>
                    <a:lnTo>
                      <a:pt x="52557" y="109199"/>
                    </a:lnTo>
                    <a:lnTo>
                      <a:pt x="0" y="161756"/>
                    </a:lnTo>
                    <a:lnTo>
                      <a:pt x="33676" y="195432"/>
                    </a:lnTo>
                    <a:lnTo>
                      <a:pt x="86232" y="142875"/>
                    </a:lnTo>
                    <a:lnTo>
                      <a:pt x="123994" y="142875"/>
                    </a:lnTo>
                    <a:lnTo>
                      <a:pt x="195432" y="71438"/>
                    </a:lnTo>
                    <a:lnTo>
                      <a:pt x="147807" y="4762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79170" y="4512945"/>
              <a:ext cx="116389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≥ 80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58390" y="47396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10000" y="4705350"/>
              <a:ext cx="1905000" cy="323850"/>
            </a:xfrm>
            <a:prstGeom prst="roundRect">
              <a:avLst>
                <a:gd name="adj" fmla="val 23529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86820" y="4811078"/>
              <a:ext cx="1151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赛题要求 ≥ 80% ✓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48400" y="3543300"/>
            <a:ext cx="5334000" cy="1809750"/>
            <a:chOff x="6248400" y="3543300"/>
            <a:chExt cx="5334000" cy="1809750"/>
          </a:xfrm>
        </p:grpSpPr>
        <p:sp>
          <p:nvSpPr>
            <p:cNvPr id="52" name="Rectangle 52"/>
            <p:cNvSpPr/>
            <p:nvPr/>
          </p:nvSpPr>
          <p:spPr>
            <a:xfrm>
              <a:off x="6248400" y="3543300"/>
              <a:ext cx="53340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53" name="Rectangle 53"/>
            <p:cNvSpPr/>
            <p:nvPr/>
          </p:nvSpPr>
          <p:spPr>
            <a:xfrm>
              <a:off x="6438900" y="37719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69405" y="38166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问答答案准确率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74168" y="40666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基于课件上下文的答案准确率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10820400" y="38100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49003" y="124847"/>
                  </a:moveTo>
                  <a:cubicBezTo>
                    <a:pt x="368482" y="140103"/>
                    <a:pt x="381000" y="163840"/>
                    <a:pt x="381000" y="190500"/>
                  </a:cubicBezTo>
                  <a:cubicBezTo>
                    <a:pt x="381000" y="217161"/>
                    <a:pt x="368482" y="240899"/>
                    <a:pt x="349001" y="256156"/>
                  </a:cubicBezTo>
                  <a:cubicBezTo>
                    <a:pt x="351987" y="280716"/>
                    <a:pt x="344055" y="306353"/>
                    <a:pt x="325203" y="325205"/>
                  </a:cubicBezTo>
                  <a:cubicBezTo>
                    <a:pt x="306350" y="344057"/>
                    <a:pt x="280714" y="351989"/>
                    <a:pt x="256153" y="349003"/>
                  </a:cubicBezTo>
                  <a:cubicBezTo>
                    <a:pt x="240897" y="368482"/>
                    <a:pt x="217160" y="381000"/>
                    <a:pt x="190500" y="381000"/>
                  </a:cubicBezTo>
                  <a:cubicBezTo>
                    <a:pt x="163839" y="381000"/>
                    <a:pt x="140102" y="368482"/>
                    <a:pt x="124846" y="349001"/>
                  </a:cubicBezTo>
                  <a:cubicBezTo>
                    <a:pt x="100284" y="351989"/>
                    <a:pt x="74648" y="344055"/>
                    <a:pt x="55796" y="325203"/>
                  </a:cubicBezTo>
                  <a:cubicBezTo>
                    <a:pt x="36943" y="306353"/>
                    <a:pt x="29011" y="280716"/>
                    <a:pt x="31997" y="256153"/>
                  </a:cubicBezTo>
                  <a:cubicBezTo>
                    <a:pt x="12518" y="240897"/>
                    <a:pt x="0" y="217160"/>
                    <a:pt x="0" y="190500"/>
                  </a:cubicBezTo>
                  <a:cubicBezTo>
                    <a:pt x="0" y="163839"/>
                    <a:pt x="12519" y="140102"/>
                    <a:pt x="31998" y="124846"/>
                  </a:cubicBezTo>
                  <a:cubicBezTo>
                    <a:pt x="29012" y="100284"/>
                    <a:pt x="36944" y="74648"/>
                    <a:pt x="55796" y="55796"/>
                  </a:cubicBezTo>
                  <a:cubicBezTo>
                    <a:pt x="74649" y="36943"/>
                    <a:pt x="100285" y="29011"/>
                    <a:pt x="124847" y="31997"/>
                  </a:cubicBezTo>
                  <a:cubicBezTo>
                    <a:pt x="140103" y="12518"/>
                    <a:pt x="163840" y="0"/>
                    <a:pt x="190500" y="0"/>
                  </a:cubicBezTo>
                  <a:cubicBezTo>
                    <a:pt x="217161" y="0"/>
                    <a:pt x="240899" y="12519"/>
                    <a:pt x="256156" y="31999"/>
                  </a:cubicBezTo>
                  <a:cubicBezTo>
                    <a:pt x="280716" y="29013"/>
                    <a:pt x="306353" y="36946"/>
                    <a:pt x="325205" y="55797"/>
                  </a:cubicBezTo>
                  <a:cubicBezTo>
                    <a:pt x="344057" y="74649"/>
                    <a:pt x="351989" y="100285"/>
                    <a:pt x="349003" y="124847"/>
                  </a:cubicBezTo>
                  <a:close/>
                  <a:moveTo>
                    <a:pt x="290682" y="147807"/>
                  </a:moveTo>
                  <a:lnTo>
                    <a:pt x="257006" y="114131"/>
                  </a:lnTo>
                  <a:lnTo>
                    <a:pt x="166688" y="204449"/>
                  </a:lnTo>
                  <a:lnTo>
                    <a:pt x="123994" y="161756"/>
                  </a:lnTo>
                  <a:lnTo>
                    <a:pt x="90318" y="195432"/>
                  </a:lnTo>
                  <a:lnTo>
                    <a:pt x="166688" y="271801"/>
                  </a:lnTo>
                  <a:lnTo>
                    <a:pt x="290682" y="147807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17970" y="4512945"/>
              <a:ext cx="116389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≥ 85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97190" y="473964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448800" y="4705350"/>
              <a:ext cx="1905000" cy="323850"/>
            </a:xfrm>
            <a:prstGeom prst="roundRect">
              <a:avLst>
                <a:gd name="adj" fmla="val 2352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25620" y="4811078"/>
              <a:ext cx="1151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赛题要求 ≥ 85% ✓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5505450"/>
            <a:ext cx="10972800" cy="457200"/>
            <a:chOff x="609600" y="5505450"/>
            <a:chExt cx="10972800" cy="457200"/>
          </a:xfrm>
        </p:grpSpPr>
        <p:sp>
          <p:nvSpPr>
            <p:cNvPr id="62" name="Rectangle 62"/>
            <p:cNvSpPr/>
            <p:nvPr/>
          </p:nvSpPr>
          <p:spPr>
            <a:xfrm>
              <a:off x="609600" y="550545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EF2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00100" y="5648325"/>
              <a:ext cx="228600" cy="171451"/>
              <a:chOff x="800100" y="5648325"/>
              <a:chExt cx="228600" cy="17145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00100" y="5648325"/>
                <a:ext cx="2286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1438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71438"/>
                    </a:lnTo>
                    <a:lnTo>
                      <a:pt x="228600" y="71438"/>
                    </a:lnTo>
                    <a:lnTo>
                      <a:pt x="228600" y="0"/>
                    </a:lnTo>
                    <a:close/>
                    <a:moveTo>
                      <a:pt x="57150" y="35719"/>
                    </a:moveTo>
                    <a:cubicBezTo>
                      <a:pt x="57150" y="43609"/>
                      <a:pt x="50753" y="50006"/>
                      <a:pt x="42862" y="50006"/>
                    </a:cubicBezTo>
                    <a:cubicBezTo>
                      <a:pt x="34972" y="50006"/>
                      <a:pt x="28575" y="43609"/>
                      <a:pt x="28575" y="35719"/>
                    </a:cubicBezTo>
                    <a:cubicBezTo>
                      <a:pt x="28575" y="27828"/>
                      <a:pt x="34972" y="21431"/>
                      <a:pt x="42862" y="21431"/>
                    </a:cubicBezTo>
                    <a:cubicBezTo>
                      <a:pt x="50753" y="21431"/>
                      <a:pt x="57150" y="27828"/>
                      <a:pt x="57150" y="35719"/>
                    </a:cubicBez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0100" y="5748338"/>
                <a:ext cx="2286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1438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71438"/>
                    </a:lnTo>
                    <a:lnTo>
                      <a:pt x="228600" y="71438"/>
                    </a:lnTo>
                    <a:lnTo>
                      <a:pt x="228600" y="0"/>
                    </a:lnTo>
                    <a:close/>
                    <a:moveTo>
                      <a:pt x="42862" y="50006"/>
                    </a:moveTo>
                    <a:cubicBezTo>
                      <a:pt x="50753" y="50006"/>
                      <a:pt x="57150" y="43610"/>
                      <a:pt x="57150" y="35719"/>
                    </a:cubicBezTo>
                    <a:cubicBezTo>
                      <a:pt x="57150" y="27828"/>
                      <a:pt x="50753" y="21431"/>
                      <a:pt x="42862" y="21431"/>
                    </a:cubicBezTo>
                    <a:cubicBezTo>
                      <a:pt x="34972" y="21431"/>
                      <a:pt x="28575" y="27828"/>
                      <a:pt x="28575" y="35719"/>
                    </a:cubicBezTo>
                    <a:cubicBezTo>
                      <a:pt x="28575" y="43610"/>
                      <a:pt x="34972" y="50006"/>
                      <a:pt x="42862" y="50006"/>
                    </a:cubicBezTo>
                    <a:close/>
                  </a:path>
                </a:pathLst>
              </a:custGeom>
              <a:solidFill>
                <a:srgbClr val="5A6478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27760" y="5652135"/>
              <a:ext cx="54743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并发 ≥ 10 路 · 8C16G 单机轻量部署 · 大模型外部化，算力按需弹性扩展。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8" name="TextBox 68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68957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38" grpId="0"/>
      <p:bldP spid="51" grpId="0"/>
      <p:bldP spid="61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891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318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2722197" cy="528638"/>
            <a:chOff x="609600" y="1009650"/>
            <a:chExt cx="2722197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三大模块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全覆盖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1638300"/>
            <a:ext cx="10972800" cy="3752850"/>
            <a:chOff x="609600" y="1638300"/>
            <a:chExt cx="10972800" cy="3752850"/>
          </a:xfrm>
        </p:grpSpPr>
        <p:sp>
          <p:nvSpPr>
            <p:cNvPr id="19" name="Rectangle 19"/>
            <p:cNvSpPr/>
            <p:nvPr/>
          </p:nvSpPr>
          <p:spPr>
            <a:xfrm>
              <a:off x="609600" y="1638300"/>
              <a:ext cx="10972800" cy="3752850"/>
            </a:xfrm>
            <a:prstGeom prst="roundRect">
              <a:avLst>
                <a:gd name="adj" fmla="val 304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1638300"/>
              <a:ext cx="10972800" cy="514350"/>
            </a:xfrm>
            <a:prstGeom prst="roundRect">
              <a:avLst>
                <a:gd name="adj" fmla="val 22222"/>
              </a:avLst>
            </a:prstGeom>
            <a:solidFill>
              <a:srgbClr val="1D2A4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1981200"/>
              <a:ext cx="10972800" cy="171450"/>
            </a:xfrm>
            <a:prstGeom prst="rect">
              <a:avLst/>
            </a:prstGeom>
            <a:solidFill>
              <a:srgbClr val="1D2A4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0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146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核心要求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5512" y="1840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05693" y="1840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4003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8293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944100" y="21526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8F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09600" y="32289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EF1F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09600" y="4305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EF1F6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8200" y="2457450"/>
              <a:ext cx="10058400" cy="526256"/>
              <a:chOff x="838200" y="2457450"/>
              <a:chExt cx="10058400" cy="52625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38200" y="245745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AF1FE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58418" y="25469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E6FE0"/>
                    </a:solidFill>
                    <a:latin typeface="Arial"/>
                    <a:ea typeface="Microsoft YaHei"/>
                    <a:cs typeface="Arial"/>
                  </a:rPr>
                  <a:t>智课生成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14612" y="2526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将静态课件智化为可讲授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614612" y="27551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的结构化教学内容。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43612" y="2526506"/>
                <a:ext cx="19788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多模态解析 + 知识点层级树 +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43612" y="2755106"/>
                <a:ext cx="19938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结构化讲稿生成 + TTS 语音。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10058400" y="2590800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270581" y="2666524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/>
                    <a:ea typeface="Microsoft YaHei"/>
                    <a:cs typeface="Arial"/>
                  </a:rPr>
                  <a:t>✓ 覆盖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38200" y="3533775"/>
              <a:ext cx="10058400" cy="526256"/>
              <a:chOff x="838200" y="3533775"/>
              <a:chExt cx="10058400" cy="526256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38200" y="3533775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1ECF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58418" y="3623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7B5BE0"/>
                    </a:solidFill>
                    <a:latin typeface="Arial"/>
                    <a:ea typeface="Microsoft YaHei"/>
                    <a:cs typeface="Arial"/>
                  </a:rPr>
                  <a:t>实时问答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614612" y="3602831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结合上下文的精准答疑，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614612" y="3831431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秒级响应。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043612" y="360283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本页优先 RAG 检索 + 带溯源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43612" y="3831431"/>
                <a:ext cx="15437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生成 + SSE 流式输出。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058400" y="3667125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270581" y="3742849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/>
                    <a:ea typeface="Microsoft YaHei"/>
                    <a:cs typeface="Arial"/>
                  </a:rPr>
                  <a:t>✓ 覆盖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38200" y="4610100"/>
              <a:ext cx="10058400" cy="526256"/>
              <a:chOff x="838200" y="4610100"/>
              <a:chExt cx="10058400" cy="526256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38200" y="461010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8418" y="46996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E8C80"/>
                    </a:solidFill>
                    <a:latin typeface="Arial"/>
                    <a:ea typeface="Microsoft YaHei"/>
                    <a:cs typeface="Arial"/>
                  </a:rPr>
                  <a:t>进度续接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614612" y="46791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提问打断后，自动续接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614612" y="49077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D2433"/>
                    </a:solidFill>
                    <a:latin typeface="Arial"/>
                    <a:ea typeface="Microsoft YaHei"/>
                    <a:cs typeface="Arial"/>
                  </a:rPr>
                  <a:t>原有学习进度。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43612" y="4679156"/>
                <a:ext cx="19113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understandingLevel 判定 +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043612" y="4907756"/>
                <a:ext cx="26238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478"/>
                    </a:solidFill>
                    <a:latin typeface="Arial"/>
                    <a:ea typeface="Microsoft YaHei"/>
                    <a:cs typeface="Arial"/>
                  </a:rPr>
                  <a:t>resumeMode 三态续接（续/补/重）。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10058400" y="4743450"/>
                <a:ext cx="8382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6F7F4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270581" y="4819174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E8C80"/>
                    </a:solidFill>
                    <a:latin typeface="Arial"/>
                    <a:ea typeface="Microsoft YaHei"/>
                    <a:cs typeface="Arial"/>
                  </a:rPr>
                  <a:t>✓ 覆盖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609600" y="5543550"/>
            <a:ext cx="10972800" cy="457200"/>
            <a:chOff x="609600" y="5543550"/>
            <a:chExt cx="10972800" cy="457200"/>
          </a:xfrm>
        </p:grpSpPr>
        <p:sp>
          <p:nvSpPr>
            <p:cNvPr id="59" name="Rectangle 59"/>
            <p:cNvSpPr/>
            <p:nvPr/>
          </p:nvSpPr>
          <p:spPr>
            <a:xfrm>
              <a:off x="609600" y="554355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rgbClr val="EAFBF8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00100" y="5657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09402" y="74908"/>
                  </a:moveTo>
                  <a:cubicBezTo>
                    <a:pt x="221089" y="84062"/>
                    <a:pt x="228600" y="98304"/>
                    <a:pt x="228600" y="114300"/>
                  </a:cubicBezTo>
                  <a:cubicBezTo>
                    <a:pt x="228600" y="130297"/>
                    <a:pt x="221089" y="144539"/>
                    <a:pt x="209400" y="153693"/>
                  </a:cubicBezTo>
                  <a:cubicBezTo>
                    <a:pt x="211192" y="168430"/>
                    <a:pt x="206433" y="183812"/>
                    <a:pt x="195122" y="195123"/>
                  </a:cubicBezTo>
                  <a:cubicBezTo>
                    <a:pt x="183810" y="206434"/>
                    <a:pt x="168428" y="211194"/>
                    <a:pt x="153692" y="209402"/>
                  </a:cubicBezTo>
                  <a:cubicBezTo>
                    <a:pt x="144538" y="221089"/>
                    <a:pt x="130296" y="228600"/>
                    <a:pt x="114300" y="228600"/>
                  </a:cubicBezTo>
                  <a:cubicBezTo>
                    <a:pt x="98303" y="228600"/>
                    <a:pt x="84061" y="221089"/>
                    <a:pt x="74908" y="209400"/>
                  </a:cubicBezTo>
                  <a:cubicBezTo>
                    <a:pt x="60171" y="211194"/>
                    <a:pt x="44789" y="206433"/>
                    <a:pt x="33477" y="195122"/>
                  </a:cubicBezTo>
                  <a:cubicBezTo>
                    <a:pt x="22166" y="183812"/>
                    <a:pt x="17406" y="168430"/>
                    <a:pt x="19198" y="153692"/>
                  </a:cubicBezTo>
                  <a:cubicBezTo>
                    <a:pt x="7511" y="144538"/>
                    <a:pt x="0" y="130296"/>
                    <a:pt x="0" y="114300"/>
                  </a:cubicBezTo>
                  <a:cubicBezTo>
                    <a:pt x="0" y="98303"/>
                    <a:pt x="7511" y="84061"/>
                    <a:pt x="19199" y="74908"/>
                  </a:cubicBezTo>
                  <a:cubicBezTo>
                    <a:pt x="17407" y="60171"/>
                    <a:pt x="22167" y="44789"/>
                    <a:pt x="33478" y="33477"/>
                  </a:cubicBezTo>
                  <a:cubicBezTo>
                    <a:pt x="44789" y="22166"/>
                    <a:pt x="60171" y="17406"/>
                    <a:pt x="74908" y="19198"/>
                  </a:cubicBezTo>
                  <a:cubicBezTo>
                    <a:pt x="84062" y="7511"/>
                    <a:pt x="98304" y="0"/>
                    <a:pt x="114300" y="0"/>
                  </a:cubicBezTo>
                  <a:cubicBezTo>
                    <a:pt x="130297" y="0"/>
                    <a:pt x="144539" y="7511"/>
                    <a:pt x="153693" y="19200"/>
                  </a:cubicBezTo>
                  <a:cubicBezTo>
                    <a:pt x="168430" y="17408"/>
                    <a:pt x="183812" y="22167"/>
                    <a:pt x="195123" y="33478"/>
                  </a:cubicBezTo>
                  <a:cubicBezTo>
                    <a:pt x="206434" y="44790"/>
                    <a:pt x="211194" y="60171"/>
                    <a:pt x="209402" y="74908"/>
                  </a:cubicBezTo>
                  <a:close/>
                  <a:moveTo>
                    <a:pt x="174409" y="88684"/>
                  </a:moveTo>
                  <a:lnTo>
                    <a:pt x="154204" y="68478"/>
                  </a:lnTo>
                  <a:lnTo>
                    <a:pt x="100012" y="122669"/>
                  </a:lnTo>
                  <a:lnTo>
                    <a:pt x="74397" y="97053"/>
                  </a:lnTo>
                  <a:lnTo>
                    <a:pt x="54191" y="117259"/>
                  </a:lnTo>
                  <a:lnTo>
                    <a:pt x="100012" y="163080"/>
                  </a:lnTo>
                  <a:lnTo>
                    <a:pt x="174409" y="88684"/>
                  </a:ln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7760" y="5690235"/>
              <a:ext cx="7322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四项硬指标（解析 ≤2min / 问答 ≤5s / 识别 ≥80% / 准确 ≥85%）均已对齐，三大模块端到端打通。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68957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8" grpId="0"/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178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5578554" cy="528638"/>
            <a:chOff x="609600" y="1009650"/>
            <a:chExt cx="5578554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三个创新点，以及我们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诚实的边界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638300"/>
            <a:ext cx="3505200" cy="2647950"/>
            <a:chOff x="609600" y="1638300"/>
            <a:chExt cx="3505200" cy="2647950"/>
          </a:xfrm>
        </p:grpSpPr>
        <p:sp>
          <p:nvSpPr>
            <p:cNvPr id="19" name="Rectangle 19"/>
            <p:cNvSpPr/>
            <p:nvPr/>
          </p:nvSpPr>
          <p:spPr>
            <a:xfrm>
              <a:off x="609600" y="16383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09600" y="16383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8200" y="19050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04888" y="20383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50006" y="191691"/>
                  </a:moveTo>
                  <a:lnTo>
                    <a:pt x="50006" y="241697"/>
                  </a:lnTo>
                  <a:lnTo>
                    <a:pt x="75009" y="266700"/>
                  </a:lnTo>
                  <a:lnTo>
                    <a:pt x="125016" y="266700"/>
                  </a:lnTo>
                  <a:lnTo>
                    <a:pt x="150019" y="241697"/>
                  </a:lnTo>
                  <a:lnTo>
                    <a:pt x="150019" y="191691"/>
                  </a:lnTo>
                  <a:lnTo>
                    <a:pt x="170681" y="171028"/>
                  </a:lnTo>
                  <a:cubicBezTo>
                    <a:pt x="189470" y="152240"/>
                    <a:pt x="200025" y="126706"/>
                    <a:pt x="200025" y="100135"/>
                  </a:cubicBezTo>
                  <a:cubicBezTo>
                    <a:pt x="200025" y="44900"/>
                    <a:pt x="155248" y="0"/>
                    <a:pt x="100012" y="0"/>
                  </a:cubicBezTo>
                  <a:cubicBezTo>
                    <a:pt x="44777" y="0"/>
                    <a:pt x="0" y="44900"/>
                    <a:pt x="0" y="100135"/>
                  </a:cubicBezTo>
                  <a:cubicBezTo>
                    <a:pt x="0" y="126706"/>
                    <a:pt x="10555" y="152240"/>
                    <a:pt x="29344" y="171028"/>
                  </a:cubicBezTo>
                  <a:lnTo>
                    <a:pt x="50006" y="191691"/>
                  </a:lnTo>
                  <a:close/>
                  <a:moveTo>
                    <a:pt x="83344" y="164587"/>
                  </a:moveTo>
                  <a:lnTo>
                    <a:pt x="83344" y="100012"/>
                  </a:lnTo>
                  <a:lnTo>
                    <a:pt x="116681" y="100012"/>
                  </a:lnTo>
                  <a:lnTo>
                    <a:pt x="116681" y="164587"/>
                  </a:lnTo>
                  <a:cubicBezTo>
                    <a:pt x="145438" y="157185"/>
                    <a:pt x="166688" y="131080"/>
                    <a:pt x="166688" y="100012"/>
                  </a:cubicBezTo>
                  <a:cubicBezTo>
                    <a:pt x="166688" y="63189"/>
                    <a:pt x="136835" y="33338"/>
                    <a:pt x="100012" y="33338"/>
                  </a:cubicBezTo>
                  <a:cubicBezTo>
                    <a:pt x="63189" y="33338"/>
                    <a:pt x="33338" y="63189"/>
                    <a:pt x="33338" y="100012"/>
                  </a:cubicBezTo>
                  <a:cubicBezTo>
                    <a:pt x="33338" y="131080"/>
                    <a:pt x="54586" y="157185"/>
                    <a:pt x="83344" y="164587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11618" y="2047399"/>
              <a:ext cx="4547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创新 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22193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结构化讲授节点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2717006"/>
              <a:ext cx="1843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讲授以"教学节点"组织，而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912" y="29456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非整页大段文本，天然支持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912" y="31742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逐点续接与精准定位。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3912" y="35552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节点是讲授、问答、续接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3912" y="3783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三者共享的统一锚点。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43400" y="1638300"/>
            <a:ext cx="3505200" cy="2647950"/>
            <a:chOff x="4343400" y="1638300"/>
            <a:chExt cx="3505200" cy="2647950"/>
          </a:xfrm>
        </p:grpSpPr>
        <p:sp>
          <p:nvSpPr>
            <p:cNvPr id="31" name="Rectangle 31"/>
            <p:cNvSpPr/>
            <p:nvPr/>
          </p:nvSpPr>
          <p:spPr>
            <a:xfrm>
              <a:off x="4343400" y="16383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4343400" y="16383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72000" y="19050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1ECFE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705350" y="2038350"/>
              <a:ext cx="266700" cy="266700"/>
              <a:chOff x="4705350" y="2038350"/>
              <a:chExt cx="266700" cy="2667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838700" y="2038350"/>
                <a:ext cx="116681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16681">
                    <a:moveTo>
                      <a:pt x="0" y="50006"/>
                    </a:moveTo>
                    <a:lnTo>
                      <a:pt x="41672" y="41672"/>
                    </a:lnTo>
                    <a:lnTo>
                      <a:pt x="50006" y="0"/>
                    </a:lnTo>
                    <a:lnTo>
                      <a:pt x="66675" y="0"/>
                    </a:lnTo>
                    <a:lnTo>
                      <a:pt x="75009" y="41672"/>
                    </a:lnTo>
                    <a:lnTo>
                      <a:pt x="116681" y="50006"/>
                    </a:lnTo>
                    <a:lnTo>
                      <a:pt x="116681" y="66675"/>
                    </a:lnTo>
                    <a:lnTo>
                      <a:pt x="75009" y="75009"/>
                    </a:lnTo>
                    <a:lnTo>
                      <a:pt x="66675" y="116681"/>
                    </a:lnTo>
                    <a:lnTo>
                      <a:pt x="50006" y="116681"/>
                    </a:lnTo>
                    <a:lnTo>
                      <a:pt x="41672" y="75009"/>
                    </a:lnTo>
                    <a:lnTo>
                      <a:pt x="0" y="66675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705350" y="2121694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0" y="100012"/>
                    </a:moveTo>
                    <a:lnTo>
                      <a:pt x="0" y="83344"/>
                    </a:lnTo>
                    <a:lnTo>
                      <a:pt x="66675" y="66675"/>
                    </a:lnTo>
                    <a:lnTo>
                      <a:pt x="83344" y="0"/>
                    </a:lnTo>
                    <a:lnTo>
                      <a:pt x="100012" y="0"/>
                    </a:lnTo>
                    <a:lnTo>
                      <a:pt x="116681" y="66675"/>
                    </a:lnTo>
                    <a:lnTo>
                      <a:pt x="183356" y="83344"/>
                    </a:lnTo>
                    <a:lnTo>
                      <a:pt x="183356" y="100012"/>
                    </a:lnTo>
                    <a:lnTo>
                      <a:pt x="116681" y="116681"/>
                    </a:lnTo>
                    <a:lnTo>
                      <a:pt x="100012" y="183356"/>
                    </a:lnTo>
                    <a:lnTo>
                      <a:pt x="83344" y="183356"/>
                    </a:lnTo>
                    <a:lnTo>
                      <a:pt x="66675" y="116681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722019" y="2046684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0" y="25003"/>
                    </a:moveTo>
                    <a:lnTo>
                      <a:pt x="25003" y="0"/>
                    </a:lnTo>
                    <a:lnTo>
                      <a:pt x="50006" y="25003"/>
                    </a:lnTo>
                    <a:lnTo>
                      <a:pt x="25003" y="50006"/>
                    </a:lnTo>
                    <a:lnTo>
                      <a:pt x="0" y="25003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888706" y="22383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33338" y="0"/>
                    </a:lnTo>
                    <a:lnTo>
                      <a:pt x="0" y="33338"/>
                    </a:lnTo>
                    <a:lnTo>
                      <a:pt x="33338" y="66675"/>
                    </a:lnTo>
                    <a:lnTo>
                      <a:pt x="66675" y="33338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938712" y="217170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16669" y="33338"/>
                    </a:move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  <a:cubicBezTo>
                      <a:pt x="0" y="25875"/>
                      <a:pt x="7463" y="33338"/>
                      <a:pt x="16669" y="33338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245418" y="204739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创新 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38750" y="22193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可驱动的问答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57712" y="271700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本页优先 + 答案溯源 + 续接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57712" y="2945606"/>
              <a:ext cx="1843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游标，问答不止"答得准"，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57712" y="31742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更能直接驱动学习进度。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57712" y="3555206"/>
              <a:ext cx="1693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结构化字段让"问完之后"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57712" y="3783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的动作变得确定。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77200" y="1638300"/>
            <a:ext cx="3505200" cy="2647950"/>
            <a:chOff x="8077200" y="1638300"/>
            <a:chExt cx="3505200" cy="2647950"/>
          </a:xfrm>
        </p:grpSpPr>
        <p:sp>
          <p:nvSpPr>
            <p:cNvPr id="48" name="Rectangle 48"/>
            <p:cNvSpPr/>
            <p:nvPr/>
          </p:nvSpPr>
          <p:spPr>
            <a:xfrm>
              <a:off x="8077200" y="1638300"/>
              <a:ext cx="350520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9" name="Rectangle 49"/>
            <p:cNvSpPr/>
            <p:nvPr/>
          </p:nvSpPr>
          <p:spPr>
            <a:xfrm>
              <a:off x="8077200" y="16383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05800" y="19050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6F7F4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5819" y="203835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83344" y="0"/>
                  </a:moveTo>
                  <a:lnTo>
                    <a:pt x="83344" y="66675"/>
                  </a:lnTo>
                  <a:lnTo>
                    <a:pt x="150019" y="66675"/>
                  </a:lnTo>
                  <a:lnTo>
                    <a:pt x="150019" y="0"/>
                  </a:lnTo>
                  <a:lnTo>
                    <a:pt x="183356" y="0"/>
                  </a:lnTo>
                  <a:lnTo>
                    <a:pt x="183356" y="66675"/>
                  </a:lnTo>
                  <a:lnTo>
                    <a:pt x="233362" y="66675"/>
                  </a:lnTo>
                  <a:lnTo>
                    <a:pt x="233362" y="100012"/>
                  </a:lnTo>
                  <a:lnTo>
                    <a:pt x="200025" y="100012"/>
                  </a:lnTo>
                  <a:lnTo>
                    <a:pt x="200025" y="133350"/>
                  </a:lnTo>
                  <a:cubicBezTo>
                    <a:pt x="200025" y="173672"/>
                    <a:pt x="171391" y="207304"/>
                    <a:pt x="133350" y="215027"/>
                  </a:cubicBezTo>
                  <a:lnTo>
                    <a:pt x="133350" y="266700"/>
                  </a:lnTo>
                  <a:lnTo>
                    <a:pt x="100012" y="266700"/>
                  </a:lnTo>
                  <a:lnTo>
                    <a:pt x="100012" y="215027"/>
                  </a:lnTo>
                  <a:cubicBezTo>
                    <a:pt x="61970" y="207304"/>
                    <a:pt x="33338" y="173672"/>
                    <a:pt x="33338" y="133350"/>
                  </a:cubicBezTo>
                  <a:lnTo>
                    <a:pt x="33338" y="100012"/>
                  </a:lnTo>
                  <a:lnTo>
                    <a:pt x="0" y="100012"/>
                  </a:lnTo>
                  <a:lnTo>
                    <a:pt x="0" y="66675"/>
                  </a:lnTo>
                  <a:lnTo>
                    <a:pt x="50006" y="66675"/>
                  </a:lnTo>
                  <a:lnTo>
                    <a:pt x="50006" y="0"/>
                  </a:lnTo>
                  <a:lnTo>
                    <a:pt x="83344" y="0"/>
                  </a:lnTo>
                  <a:close/>
                </a:path>
              </a:pathLst>
            </a:custGeom>
            <a:solidFill>
              <a:srgbClr val="17B3A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79218" y="204739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创新 03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72550" y="22193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OpenAPI 适配层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91512" y="27170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适配层独立演进，与泛雅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1512" y="294560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平台、AI 中台解耦，便于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1512" y="31742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轻量集成与能力扩展。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91512" y="35552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更换底层模型或工作流，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1512" y="37838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上层无感。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" y="4495800"/>
            <a:ext cx="5334000" cy="1504950"/>
            <a:chOff x="609600" y="4495800"/>
            <a:chExt cx="5334000" cy="1504950"/>
          </a:xfrm>
        </p:grpSpPr>
        <p:sp>
          <p:nvSpPr>
            <p:cNvPr id="60" name="Rectangle 60"/>
            <p:cNvSpPr/>
            <p:nvPr/>
          </p:nvSpPr>
          <p:spPr>
            <a:xfrm>
              <a:off x="609600" y="4495800"/>
              <a:ext cx="5334000" cy="1504950"/>
            </a:xfrm>
            <a:prstGeom prst="roundRect">
              <a:avLst>
                <a:gd name="adj" fmla="val 886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44330" y="4724400"/>
              <a:ext cx="292539" cy="304800"/>
            </a:xfrm>
            <a:custGeom>
              <a:avLst/>
              <a:gdLst/>
              <a:ahLst/>
              <a:cxnLst/>
              <a:rect l="l" t="t" r="r" b="b"/>
              <a:pathLst>
                <a:path w="292539" h="304800">
                  <a:moveTo>
                    <a:pt x="117695" y="0"/>
                  </a:moveTo>
                  <a:lnTo>
                    <a:pt x="174845" y="0"/>
                  </a:lnTo>
                  <a:lnTo>
                    <a:pt x="186158" y="45253"/>
                  </a:lnTo>
                  <a:cubicBezTo>
                    <a:pt x="198230" y="49749"/>
                    <a:pt x="209338" y="56227"/>
                    <a:pt x="219084" y="64291"/>
                  </a:cubicBezTo>
                  <a:lnTo>
                    <a:pt x="263964" y="51453"/>
                  </a:lnTo>
                  <a:lnTo>
                    <a:pt x="292539" y="100947"/>
                  </a:lnTo>
                  <a:lnTo>
                    <a:pt x="258994" y="133382"/>
                  </a:lnTo>
                  <a:cubicBezTo>
                    <a:pt x="260030" y="139567"/>
                    <a:pt x="260570" y="145921"/>
                    <a:pt x="260570" y="152400"/>
                  </a:cubicBezTo>
                  <a:cubicBezTo>
                    <a:pt x="260570" y="158879"/>
                    <a:pt x="260030" y="165233"/>
                    <a:pt x="258994" y="171418"/>
                  </a:cubicBezTo>
                  <a:lnTo>
                    <a:pt x="292539" y="203854"/>
                  </a:lnTo>
                  <a:lnTo>
                    <a:pt x="263964" y="253346"/>
                  </a:lnTo>
                  <a:lnTo>
                    <a:pt x="219084" y="240508"/>
                  </a:lnTo>
                  <a:cubicBezTo>
                    <a:pt x="209338" y="248572"/>
                    <a:pt x="198230" y="255051"/>
                    <a:pt x="186158" y="259547"/>
                  </a:cubicBezTo>
                  <a:lnTo>
                    <a:pt x="174845" y="304800"/>
                  </a:lnTo>
                  <a:lnTo>
                    <a:pt x="117695" y="304800"/>
                  </a:lnTo>
                  <a:lnTo>
                    <a:pt x="106382" y="259547"/>
                  </a:lnTo>
                  <a:cubicBezTo>
                    <a:pt x="94309" y="255051"/>
                    <a:pt x="83201" y="248572"/>
                    <a:pt x="73454" y="240508"/>
                  </a:cubicBezTo>
                  <a:lnTo>
                    <a:pt x="28575" y="253346"/>
                  </a:lnTo>
                  <a:lnTo>
                    <a:pt x="0" y="203854"/>
                  </a:lnTo>
                  <a:lnTo>
                    <a:pt x="33545" y="171418"/>
                  </a:lnTo>
                  <a:cubicBezTo>
                    <a:pt x="32509" y="165233"/>
                    <a:pt x="31970" y="158879"/>
                    <a:pt x="31970" y="152400"/>
                  </a:cubicBezTo>
                  <a:cubicBezTo>
                    <a:pt x="31970" y="145921"/>
                    <a:pt x="32509" y="139567"/>
                    <a:pt x="33545" y="133382"/>
                  </a:cubicBezTo>
                  <a:lnTo>
                    <a:pt x="0" y="100947"/>
                  </a:lnTo>
                  <a:lnTo>
                    <a:pt x="28575" y="51453"/>
                  </a:lnTo>
                  <a:lnTo>
                    <a:pt x="73454" y="64291"/>
                  </a:lnTo>
                  <a:cubicBezTo>
                    <a:pt x="83201" y="56227"/>
                    <a:pt x="94309" y="49749"/>
                    <a:pt x="106382" y="45253"/>
                  </a:cubicBezTo>
                  <a:lnTo>
                    <a:pt x="117695" y="0"/>
                  </a:lnTo>
                  <a:close/>
                  <a:moveTo>
                    <a:pt x="146270" y="190500"/>
                  </a:moveTo>
                  <a:cubicBezTo>
                    <a:pt x="167312" y="190500"/>
                    <a:pt x="184370" y="173442"/>
                    <a:pt x="184370" y="152400"/>
                  </a:cubicBezTo>
                  <a:cubicBezTo>
                    <a:pt x="184370" y="131358"/>
                    <a:pt x="167312" y="114300"/>
                    <a:pt x="146270" y="114300"/>
                  </a:cubicBezTo>
                  <a:cubicBezTo>
                    <a:pt x="125228" y="114300"/>
                    <a:pt x="108170" y="131358"/>
                    <a:pt x="108170" y="152400"/>
                  </a:cubicBezTo>
                  <a:cubicBezTo>
                    <a:pt x="108170" y="173442"/>
                    <a:pt x="125228" y="190500"/>
                    <a:pt x="146270" y="19050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38250" y="4791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设计取舍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3912" y="521255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4660"/>
                  </a:solidFill>
                  <a:latin typeface="Arial"/>
                  <a:ea typeface="Microsoft YaHei"/>
                  <a:cs typeface="Arial"/>
                </a:rPr>
                <a:t>大模型外部化：牺牲部分自主可控与数据闭环，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3912" y="5460206"/>
              <a:ext cx="3328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4660"/>
                  </a:solidFill>
                  <a:latin typeface="Arial"/>
                  <a:ea typeface="Microsoft YaHei"/>
                  <a:cs typeface="Arial"/>
                </a:rPr>
                <a:t>换取轻量部署、快速迭代与算力弹性；让团队聚焦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3912" y="57078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4660"/>
                  </a:solidFill>
                  <a:latin typeface="Arial"/>
                  <a:ea typeface="Microsoft YaHei"/>
                  <a:cs typeface="Arial"/>
                </a:rPr>
                <a:t>教学编排而非模型训练。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48400" y="4495800"/>
            <a:ext cx="5334000" cy="1504950"/>
            <a:chOff x="6248400" y="4495800"/>
            <a:chExt cx="5334000" cy="1504950"/>
          </a:xfrm>
        </p:grpSpPr>
        <p:sp>
          <p:nvSpPr>
            <p:cNvPr id="67" name="Rectangle 67"/>
            <p:cNvSpPr/>
            <p:nvPr/>
          </p:nvSpPr>
          <p:spPr>
            <a:xfrm>
              <a:off x="6248400" y="4495800"/>
              <a:ext cx="5334000" cy="1504950"/>
            </a:xfrm>
            <a:prstGeom prst="roundRect">
              <a:avLst>
                <a:gd name="adj" fmla="val 8861"/>
              </a:avLst>
            </a:prstGeom>
            <a:solidFill>
              <a:srgbClr val="FDEEEA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6496050" y="474345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0" y="0"/>
                  </a:moveTo>
                  <a:lnTo>
                    <a:pt x="0" y="285750"/>
                  </a:lnTo>
                  <a:lnTo>
                    <a:pt x="38100" y="285750"/>
                  </a:lnTo>
                  <a:lnTo>
                    <a:pt x="38100" y="171450"/>
                  </a:lnTo>
                  <a:lnTo>
                    <a:pt x="114300" y="171450"/>
                  </a:lnTo>
                  <a:lnTo>
                    <a:pt x="152400" y="209550"/>
                  </a:lnTo>
                  <a:lnTo>
                    <a:pt x="266700" y="209550"/>
                  </a:lnTo>
                  <a:lnTo>
                    <a:pt x="266700" y="38100"/>
                  </a:lnTo>
                  <a:lnTo>
                    <a:pt x="152400" y="38100"/>
                  </a:ln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77050" y="4791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能力边界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2712" y="5212556"/>
              <a:ext cx="30664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3A30"/>
                  </a:solidFill>
                  <a:latin typeface="Arial"/>
                  <a:ea typeface="Microsoft YaHei"/>
                  <a:cs typeface="Arial"/>
                </a:rPr>
                <a:t>Dify 自托管需多容器编排，运维有一定门槛；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62712" y="54602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3A30"/>
                  </a:solidFill>
                  <a:latin typeface="Arial"/>
                  <a:ea typeface="Microsoft YaHei"/>
                  <a:cs typeface="Arial"/>
                </a:rPr>
                <a:t>大规模样本压测、极端复杂版面的解析鲁棒性，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62712" y="5707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3A30"/>
                  </a:solidFill>
                  <a:latin typeface="Arial"/>
                  <a:ea typeface="Microsoft YaHei"/>
                  <a:cs typeface="Arial"/>
                </a:rPr>
                <a:t>仍需持续打磨与数据积累。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74" name="TextBox 74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68957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47" grpId="0"/>
      <p:bldP spid="59" grpId="0"/>
      <p:bldP spid="66" grpId="0"/>
      <p:bldP spid="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381000"/>
            <a:ext cx="1523574" cy="385762"/>
            <a:chOff x="609600" y="381000"/>
            <a:chExt cx="1523574" cy="385762"/>
          </a:xfrm>
        </p:grpSpPr>
        <p:sp>
          <p:nvSpPr>
            <p:cNvPr id="3" name="Rectangle 3"/>
            <p:cNvSpPr/>
            <p:nvPr/>
          </p:nvSpPr>
          <p:spPr>
            <a:xfrm>
              <a:off x="609600" y="381000"/>
              <a:ext cx="381000" cy="381000"/>
            </a:xfrm>
            <a:prstGeom prst="roundRect">
              <a:avLst>
                <a:gd name="adj" fmla="val 275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85800" y="4572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705" y="492442"/>
              <a:ext cx="1064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81900" y="457200"/>
            <a:ext cx="4000500" cy="304800"/>
            <a:chOff x="7581900" y="457200"/>
            <a:chExt cx="4000500" cy="304800"/>
          </a:xfrm>
        </p:grpSpPr>
        <p:sp>
          <p:nvSpPr>
            <p:cNvPr id="7" name="Rectangle 7"/>
            <p:cNvSpPr/>
            <p:nvPr/>
          </p:nvSpPr>
          <p:spPr>
            <a:xfrm>
              <a:off x="75819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57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6106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44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解决方案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639300" y="457200"/>
              <a:ext cx="9144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3130" y="543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0" y="457200"/>
              <a:ext cx="9144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E6FE0"/>
                </a:gs>
                <a:gs pos="100000">
                  <a:srgbClr val="7B5BE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17828" y="5438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009650"/>
            <a:ext cx="4507421" cy="528638"/>
            <a:chOff x="609600" y="1009650"/>
            <a:chExt cx="4507421" cy="528638"/>
          </a:xfrm>
        </p:grpSpPr>
        <p:sp>
          <p:nvSpPr>
            <p:cNvPr id="16" name="Rectangle 16"/>
            <p:cNvSpPr/>
            <p:nvPr/>
          </p:nvSpPr>
          <p:spPr>
            <a:xfrm>
              <a:off x="609600" y="10096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15" y="102012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从</a:t>
              </a:r>
              <a:r>
                <a:rPr lang="zh-CN" sz="25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可用</a:t>
              </a:r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到</a:t>
              </a:r>
              <a:r>
                <a:rPr lang="zh-CN" sz="25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好用</a:t>
              </a:r>
              <a:r>
                <a:rPr lang="zh-CN" sz="255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，再到</a:t>
              </a:r>
              <a:r>
                <a:rPr lang="zh-CN" sz="2550" b="1" dirty="0">
                  <a:solidFill>
                    <a:srgbClr val="17B3A3"/>
                  </a:solidFill>
                  <a:latin typeface="Arial"/>
                  <a:ea typeface="Microsoft YaHei"/>
                  <a:cs typeface="Arial"/>
                </a:rPr>
                <a:t>规模化</a:t>
              </a:r>
            </a:p>
          </p:txBody>
        </p:sp>
      </p:grpSp>
      <p:sp>
        <p:nvSpPr>
          <p:cNvPr id="19" name="Line 19"/>
          <p:cNvSpPr/>
          <p:nvPr/>
        </p:nvSpPr>
        <p:spPr>
          <a:xfrm>
            <a:off x="2286000" y="2209800"/>
            <a:ext cx="7620000" cy="9525"/>
          </a:xfrm>
          <a:custGeom>
            <a:avLst/>
            <a:gdLst/>
            <a:ahLst/>
            <a:cxnLst/>
            <a:rect l="l" t="t" r="r" b="b"/>
            <a:pathLst>
              <a:path w="7620000" h="9525">
                <a:moveTo>
                  <a:pt x="0" y="0"/>
                </a:moveTo>
                <a:lnTo>
                  <a:pt x="7620000" y="0"/>
                </a:lnTo>
              </a:path>
            </a:pathLst>
          </a:custGeom>
          <a:noFill/>
          <a:ln w="38100" cap="rnd">
            <a:gradFill>
              <a:gsLst>
                <a:gs pos="0">
                  <a:srgbClr val="1E6FE0"/>
                </a:gs>
                <a:gs pos="50000">
                  <a:srgbClr val="7B5BE0"/>
                </a:gs>
                <a:gs pos="100000">
                  <a:srgbClr val="17B3A3"/>
                </a:gs>
              </a:gsLst>
              <a:lin ang="0" scaled="1"/>
            </a:gradFill>
          </a:ln>
        </p:spPr>
      </p:sp>
      <p:sp>
        <p:nvSpPr>
          <p:cNvPr id="20" name="Ellipse 20"/>
          <p:cNvSpPr/>
          <p:nvPr/>
        </p:nvSpPr>
        <p:spPr>
          <a:xfrm>
            <a:off x="2181225" y="2105025"/>
            <a:ext cx="209550" cy="209550"/>
          </a:xfrm>
          <a:prstGeom prst="ellipse">
            <a:avLst/>
          </a:prstGeom>
          <a:solidFill>
            <a:srgbClr val="1E6FE0"/>
          </a:solidFill>
          <a:ln w="38100">
            <a:solidFill>
              <a:srgbClr val="FFFFFF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5991225" y="2105025"/>
            <a:ext cx="209550" cy="209550"/>
          </a:xfrm>
          <a:prstGeom prst="ellipse">
            <a:avLst/>
          </a:prstGeom>
          <a:solidFill>
            <a:srgbClr val="7B5BE0"/>
          </a:solidFill>
          <a:ln w="38100">
            <a:solidFill>
              <a:srgbClr val="FFFFFF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9801225" y="2105025"/>
            <a:ext cx="209550" cy="209550"/>
          </a:xfrm>
          <a:prstGeom prst="ellipse">
            <a:avLst/>
          </a:prstGeom>
          <a:solidFill>
            <a:srgbClr val="17B3A3"/>
          </a:solidFill>
          <a:ln w="38100">
            <a:solidFill>
              <a:srgbClr val="FFFFFF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609600" y="2314575"/>
            <a:ext cx="3352800" cy="3362325"/>
            <a:chOff x="609600" y="2314575"/>
            <a:chExt cx="3352800" cy="3362325"/>
          </a:xfrm>
        </p:grpSpPr>
        <p:sp>
          <p:nvSpPr>
            <p:cNvPr id="23" name="Line 23"/>
            <p:cNvSpPr/>
            <p:nvPr/>
          </p:nvSpPr>
          <p:spPr>
            <a:xfrm>
              <a:off x="2286000" y="23145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1E6FE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2628900"/>
              <a:ext cx="3352800" cy="30480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609600" y="262890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8200" y="2895600"/>
              <a:ext cx="876300" cy="285750"/>
            </a:xfrm>
            <a:prstGeom prst="roundRect">
              <a:avLst>
                <a:gd name="adj" fmla="val 5000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5997" y="29727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近期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3565" y="29727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夯实可用性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390900" y="2857500"/>
              <a:ext cx="342900" cy="342900"/>
              <a:chOff x="3390900" y="2857500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390900" y="28575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214312" y="342900"/>
                    </a:moveTo>
                    <a:lnTo>
                      <a:pt x="257175" y="300038"/>
                    </a:lnTo>
                    <a:lnTo>
                      <a:pt x="257175" y="214312"/>
                    </a:lnTo>
                    <a:lnTo>
                      <a:pt x="292684" y="178804"/>
                    </a:lnTo>
                    <a:cubicBezTo>
                      <a:pt x="324836" y="146651"/>
                      <a:pt x="342900" y="103042"/>
                      <a:pt x="342900" y="57571"/>
                    </a:cubicBezTo>
                    <a:lnTo>
                      <a:pt x="342900" y="0"/>
                    </a:lnTo>
                    <a:lnTo>
                      <a:pt x="285329" y="0"/>
                    </a:lnTo>
                    <a:cubicBezTo>
                      <a:pt x="239859" y="0"/>
                      <a:pt x="196249" y="18063"/>
                      <a:pt x="164096" y="50217"/>
                    </a:cubicBezTo>
                    <a:lnTo>
                      <a:pt x="128588" y="85725"/>
                    </a:lnTo>
                    <a:lnTo>
                      <a:pt x="42862" y="85725"/>
                    </a:lnTo>
                    <a:lnTo>
                      <a:pt x="0" y="128588"/>
                    </a:lnTo>
                    <a:lnTo>
                      <a:pt x="214312" y="342900"/>
                    </a:lnTo>
                    <a:close/>
                    <a:moveTo>
                      <a:pt x="225028" y="150019"/>
                    </a:moveTo>
                    <a:cubicBezTo>
                      <a:pt x="242782" y="150019"/>
                      <a:pt x="257175" y="135626"/>
                      <a:pt x="257175" y="117872"/>
                    </a:cubicBezTo>
                    <a:cubicBezTo>
                      <a:pt x="257175" y="100118"/>
                      <a:pt x="242782" y="85725"/>
                      <a:pt x="225028" y="85725"/>
                    </a:cubicBezTo>
                    <a:cubicBezTo>
                      <a:pt x="207274" y="85725"/>
                      <a:pt x="192881" y="100118"/>
                      <a:pt x="192881" y="117872"/>
                    </a:cubicBezTo>
                    <a:cubicBezTo>
                      <a:pt x="192881" y="135626"/>
                      <a:pt x="207274" y="150019"/>
                      <a:pt x="225028" y="150019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390900" y="3094800"/>
                <a:ext cx="105600" cy="105600"/>
              </a:xfrm>
              <a:custGeom>
                <a:avLst/>
                <a:gdLst/>
                <a:ahLst/>
                <a:cxnLst/>
                <a:rect l="l" t="t" r="r" b="b"/>
                <a:pathLst>
                  <a:path w="105600" h="105600">
                    <a:moveTo>
                      <a:pt x="105600" y="57504"/>
                    </a:moveTo>
                    <a:lnTo>
                      <a:pt x="48097" y="0"/>
                    </a:lnTo>
                    <a:lnTo>
                      <a:pt x="0" y="84169"/>
                    </a:lnTo>
                    <a:lnTo>
                      <a:pt x="21431" y="105600"/>
                    </a:lnTo>
                    <a:lnTo>
                      <a:pt x="105600" y="57504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32" name="Ellipse 32"/>
            <p:cNvSpPr/>
            <p:nvPr/>
          </p:nvSpPr>
          <p:spPr>
            <a:xfrm>
              <a:off x="923925" y="35718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0612" y="352663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解析鲁棒性提升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23925" y="39719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0612" y="3926681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大规模样本压测与稳定性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23925" y="43719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0612" y="43267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教师可视化编辑增强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23925" y="477202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0612" y="472678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解析准确率持续调优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23925" y="5172075"/>
              <a:ext cx="57150" cy="571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0612" y="512683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问答溯源体验打磨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419600" y="2314575"/>
            <a:ext cx="3352800" cy="3362325"/>
            <a:chOff x="4419600" y="2314575"/>
            <a:chExt cx="3352800" cy="3362325"/>
          </a:xfrm>
        </p:grpSpPr>
        <p:sp>
          <p:nvSpPr>
            <p:cNvPr id="43" name="Line 43"/>
            <p:cNvSpPr/>
            <p:nvPr/>
          </p:nvSpPr>
          <p:spPr>
            <a:xfrm>
              <a:off x="6096000" y="23145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7B5BE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419600" y="2628900"/>
              <a:ext cx="3352800" cy="30480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4419600" y="262890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648200" y="2895600"/>
              <a:ext cx="876300" cy="285750"/>
            </a:xfrm>
            <a:prstGeom prst="roundRect">
              <a:avLst>
                <a:gd name="adj" fmla="val 50000"/>
              </a:avLst>
            </a:prstGeom>
            <a:solidFill>
              <a:srgbClr val="F1EC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25997" y="29727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中期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63565" y="29727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迈向好用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7222331" y="2878931"/>
              <a:ext cx="300038" cy="300038"/>
              <a:chOff x="7222331" y="2878931"/>
              <a:chExt cx="300038" cy="30003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222331" y="2878931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300038" y="300038"/>
                    </a:lnTo>
                    <a:lnTo>
                      <a:pt x="300038" y="257175"/>
                    </a:lnTo>
                    <a:lnTo>
                      <a:pt x="42862" y="257175"/>
                    </a:lnTo>
                    <a:lnTo>
                      <a:pt x="428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08056" y="2921794"/>
                <a:ext cx="214312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71450">
                    <a:moveTo>
                      <a:pt x="0" y="85725"/>
                    </a:moveTo>
                    <a:lnTo>
                      <a:pt x="42862" y="42862"/>
                    </a:lnTo>
                    <a:lnTo>
                      <a:pt x="107156" y="107156"/>
                    </a:lnTo>
                    <a:lnTo>
                      <a:pt x="214312" y="0"/>
                    </a:lnTo>
                    <a:lnTo>
                      <a:pt x="214312" y="171450"/>
                    </a:lnTo>
                    <a:lnTo>
                      <a:pt x="0" y="171450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52" name="Ellipse 52"/>
            <p:cNvSpPr/>
            <p:nvPr/>
          </p:nvSpPr>
          <p:spPr>
            <a:xfrm>
              <a:off x="4733925" y="35718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00612" y="35266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学情画像与个性化推荐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4733925" y="39719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900612" y="39266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多学科知识库扩充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733925" y="43719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00612" y="43267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移动端与多终端适配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733925" y="477202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00612" y="472678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教学数据看板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4733925" y="5172075"/>
              <a:ext cx="57150" cy="5715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900612" y="512683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语音交互增强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229600" y="2314575"/>
            <a:ext cx="3352800" cy="3362325"/>
            <a:chOff x="8229600" y="2314575"/>
            <a:chExt cx="3352800" cy="3362325"/>
          </a:xfrm>
        </p:grpSpPr>
        <p:sp>
          <p:nvSpPr>
            <p:cNvPr id="63" name="Line 63"/>
            <p:cNvSpPr/>
            <p:nvPr/>
          </p:nvSpPr>
          <p:spPr>
            <a:xfrm>
              <a:off x="9906000" y="23145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17B3A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229600" y="2628900"/>
              <a:ext cx="3352800" cy="30480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14288">
              <a:solidFill>
                <a:srgbClr val="E2E8F2"/>
              </a:solidFill>
            </a:ln>
            <a:effectLst>
              <a:outerShdw blurRad="114300" dist="38100" dir="5400000" algn="ctr" rotWithShape="0">
                <a:srgbClr val="1D2433">
                  <a:alpha val="4500"/>
                </a:srgbClr>
              </a:outerShdw>
            </a:effectLst>
          </p:spPr>
        </p:sp>
        <p:sp>
          <p:nvSpPr>
            <p:cNvPr id="65" name="Rectangle 65"/>
            <p:cNvSpPr/>
            <p:nvPr/>
          </p:nvSpPr>
          <p:spPr>
            <a:xfrm>
              <a:off x="8229600" y="262890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458200" y="2895600"/>
              <a:ext cx="876300" cy="285750"/>
            </a:xfrm>
            <a:prstGeom prst="roundRect">
              <a:avLst>
                <a:gd name="adj" fmla="val 50000"/>
              </a:avLst>
            </a:prstGeom>
            <a:solidFill>
              <a:srgbClr val="E6F7F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35997" y="29727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远期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73565" y="29727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走向规模化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11012226" y="2857500"/>
              <a:ext cx="340247" cy="342900"/>
              <a:chOff x="11012226" y="2857500"/>
              <a:chExt cx="340247" cy="3429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11012226" y="2928395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31242" y="0"/>
                    </a:moveTo>
                    <a:cubicBezTo>
                      <a:pt x="14713" y="22790"/>
                      <a:pt x="3656" y="49808"/>
                      <a:pt x="0" y="79124"/>
                    </a:cubicBezTo>
                    <a:lnTo>
                      <a:pt x="340247" y="79124"/>
                    </a:lnTo>
                    <a:cubicBezTo>
                      <a:pt x="336591" y="49808"/>
                      <a:pt x="325534" y="22790"/>
                      <a:pt x="309005" y="0"/>
                    </a:cubicBezTo>
                    <a:cubicBezTo>
                      <a:pt x="308113" y="499"/>
                      <a:pt x="307209" y="998"/>
                      <a:pt x="306294" y="1498"/>
                    </a:cubicBezTo>
                    <a:cubicBezTo>
                      <a:pt x="274460" y="18861"/>
                      <a:pt x="228084" y="36261"/>
                      <a:pt x="170123" y="36261"/>
                    </a:cubicBezTo>
                    <a:cubicBezTo>
                      <a:pt x="112162" y="36261"/>
                      <a:pt x="65785" y="18861"/>
                      <a:pt x="33952" y="1498"/>
                    </a:cubicBezTo>
                    <a:cubicBezTo>
                      <a:pt x="33037" y="999"/>
                      <a:pt x="32134" y="499"/>
                      <a:pt x="31242" y="0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1073988" y="2857500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216722" y="38579"/>
                    </a:moveTo>
                    <a:cubicBezTo>
                      <a:pt x="190045" y="51981"/>
                      <a:pt x="153314" y="64294"/>
                      <a:pt x="108361" y="64294"/>
                    </a:cubicBezTo>
                    <a:cubicBezTo>
                      <a:pt x="63409" y="64294"/>
                      <a:pt x="26679" y="51981"/>
                      <a:pt x="0" y="38579"/>
                    </a:cubicBezTo>
                    <a:cubicBezTo>
                      <a:pt x="29534" y="14464"/>
                      <a:pt x="67259" y="0"/>
                      <a:pt x="108362" y="0"/>
                    </a:cubicBezTo>
                    <a:cubicBezTo>
                      <a:pt x="149464" y="0"/>
                      <a:pt x="187188" y="14464"/>
                      <a:pt x="216722" y="38579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1012226" y="3050381"/>
                <a:ext cx="340247" cy="79124"/>
              </a:xfrm>
              <a:custGeom>
                <a:avLst/>
                <a:gdLst/>
                <a:ahLst/>
                <a:cxnLst/>
                <a:rect l="l" t="t" r="r" b="b"/>
                <a:pathLst>
                  <a:path w="340247" h="79124">
                    <a:moveTo>
                      <a:pt x="0" y="0"/>
                    </a:moveTo>
                    <a:cubicBezTo>
                      <a:pt x="3656" y="29316"/>
                      <a:pt x="14713" y="56334"/>
                      <a:pt x="31242" y="79124"/>
                    </a:cubicBezTo>
                    <a:cubicBezTo>
                      <a:pt x="32134" y="78625"/>
                      <a:pt x="33037" y="78125"/>
                      <a:pt x="33952" y="77626"/>
                    </a:cubicBezTo>
                    <a:cubicBezTo>
                      <a:pt x="65786" y="60263"/>
                      <a:pt x="112163" y="42862"/>
                      <a:pt x="170124" y="42862"/>
                    </a:cubicBezTo>
                    <a:cubicBezTo>
                      <a:pt x="228084" y="42862"/>
                      <a:pt x="274462" y="60263"/>
                      <a:pt x="306294" y="77626"/>
                    </a:cubicBezTo>
                    <a:cubicBezTo>
                      <a:pt x="307211" y="78125"/>
                      <a:pt x="308113" y="78625"/>
                      <a:pt x="309005" y="79124"/>
                    </a:cubicBezTo>
                    <a:cubicBezTo>
                      <a:pt x="325534" y="56334"/>
                      <a:pt x="336591" y="29316"/>
                      <a:pt x="3402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1073989" y="3136106"/>
                <a:ext cx="21672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16722" h="64294">
                    <a:moveTo>
                      <a:pt x="108361" y="64294"/>
                    </a:moveTo>
                    <a:cubicBezTo>
                      <a:pt x="67259" y="64294"/>
                      <a:pt x="29534" y="49830"/>
                      <a:pt x="0" y="25715"/>
                    </a:cubicBezTo>
                    <a:cubicBezTo>
                      <a:pt x="26679" y="12312"/>
                      <a:pt x="63409" y="0"/>
                      <a:pt x="108361" y="0"/>
                    </a:cubicBezTo>
                    <a:cubicBezTo>
                      <a:pt x="153313" y="0"/>
                      <a:pt x="190044" y="12312"/>
                      <a:pt x="216722" y="25715"/>
                    </a:cubicBezTo>
                    <a:cubicBezTo>
                      <a:pt x="187188" y="49830"/>
                      <a:pt x="149464" y="64294"/>
                      <a:pt x="108361" y="64294"/>
                    </a:cubicBezTo>
                    <a:close/>
                  </a:path>
                </a:pathLst>
              </a:custGeom>
              <a:solidFill>
                <a:srgbClr val="17B3A3"/>
              </a:solidFill>
              <a:ln>
                <a:noFill/>
              </a:ln>
            </p:spPr>
          </p:sp>
        </p:grpSp>
        <p:sp>
          <p:nvSpPr>
            <p:cNvPr id="74" name="Ellipse 74"/>
            <p:cNvSpPr/>
            <p:nvPr/>
          </p:nvSpPr>
          <p:spPr>
            <a:xfrm>
              <a:off x="8543925" y="35718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710612" y="352663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自适应学习路径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543925" y="397192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710612" y="392668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规模化校级部署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8543925" y="43719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10612" y="4326731"/>
              <a:ext cx="8836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生态开放 API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8543925" y="477202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10612" y="472678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教研协同与共享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543925" y="5172075"/>
              <a:ext cx="57150" cy="57150"/>
            </a:xfrm>
            <a:prstGeom prst="ellipse">
              <a:avLst/>
            </a:prstGeom>
            <a:solidFill>
              <a:srgbClr val="17B3A3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710612" y="51268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数据驱动的教学闭环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85" name="TextBox 85"/>
            <p:cNvSpPr txBox="1"/>
            <p:nvPr/>
          </p:nvSpPr>
          <p:spPr>
            <a:xfrm>
              <a:off x="598170" y="65703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泛雅 AI 互动智课系统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468957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2" grpId="0"/>
      <p:bldP spid="62" grpId="0"/>
      <p:bldP spid="8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B3A"/>
              </a:gs>
              <a:gs pos="55000">
                <a:srgbClr val="13245C"/>
              </a:gs>
              <a:gs pos="100000">
                <a:srgbClr val="3A1F6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B8BFF">
                  <a:alpha val="30000"/>
                </a:srgbClr>
              </a:gs>
              <a:gs pos="100000">
                <a:srgbClr val="3B8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191500" y="-666750"/>
            <a:ext cx="4191000" cy="4191000"/>
          </a:xfrm>
          <a:prstGeom prst="ellipse">
            <a:avLst/>
          </a:prstGeom>
          <a:solidFill>
            <a:srgbClr val="7B5BE0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0" y="3810000"/>
            <a:ext cx="3810000" cy="3810000"/>
          </a:xfrm>
          <a:prstGeom prst="ellipse">
            <a:avLst/>
          </a:prstGeom>
          <a:solidFill>
            <a:srgbClr val="1E6FE0">
              <a:alpha val="12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43500" y="1428750"/>
            <a:ext cx="2198601" cy="547688"/>
            <a:chOff x="5143500" y="1428750"/>
            <a:chExt cx="2198601" cy="547688"/>
          </a:xfrm>
        </p:grpSpPr>
        <p:sp>
          <p:nvSpPr>
            <p:cNvPr id="6" name="Rectangle 6"/>
            <p:cNvSpPr/>
            <p:nvPr/>
          </p:nvSpPr>
          <p:spPr>
            <a:xfrm>
              <a:off x="5143500" y="1428750"/>
              <a:ext cx="533400" cy="533400"/>
            </a:xfrm>
            <a:prstGeom prst="roundRect">
              <a:avLst>
                <a:gd name="adj" fmla="val 26786"/>
              </a:avLst>
            </a:prstGeom>
            <a:gradFill>
              <a:gsLst>
                <a:gs pos="0">
                  <a:srgbClr val="3B8BFF"/>
                </a:gs>
                <a:gs pos="100000">
                  <a:srgbClr val="9B7B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257800" y="154305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171450" y="0"/>
                  </a:moveTo>
                  <a:lnTo>
                    <a:pt x="171450" y="38100"/>
                  </a:lnTo>
                  <a:lnTo>
                    <a:pt x="247650" y="38100"/>
                  </a:lnTo>
                  <a:lnTo>
                    <a:pt x="304800" y="161925"/>
                  </a:lnTo>
                  <a:lnTo>
                    <a:pt x="247650" y="285750"/>
                  </a:lnTo>
                  <a:lnTo>
                    <a:pt x="57150" y="285750"/>
                  </a:lnTo>
                  <a:lnTo>
                    <a:pt x="0" y="161925"/>
                  </a:lnTo>
                  <a:lnTo>
                    <a:pt x="57150" y="38100"/>
                  </a:lnTo>
                  <a:lnTo>
                    <a:pt x="133350" y="38100"/>
                  </a:lnTo>
                  <a:lnTo>
                    <a:pt x="133350" y="0"/>
                  </a:lnTo>
                  <a:lnTo>
                    <a:pt x="171450" y="0"/>
                  </a:lnTo>
                  <a:close/>
                  <a:moveTo>
                    <a:pt x="87591" y="223617"/>
                  </a:moveTo>
                  <a:lnTo>
                    <a:pt x="152400" y="233587"/>
                  </a:lnTo>
                  <a:lnTo>
                    <a:pt x="217210" y="223617"/>
                  </a:lnTo>
                  <a:lnTo>
                    <a:pt x="211415" y="185959"/>
                  </a:lnTo>
                  <a:lnTo>
                    <a:pt x="152400" y="195038"/>
                  </a:lnTo>
                  <a:lnTo>
                    <a:pt x="93384" y="185959"/>
                  </a:lnTo>
                  <a:lnTo>
                    <a:pt x="87591" y="223617"/>
                  </a:lnTo>
                  <a:close/>
                  <a:moveTo>
                    <a:pt x="133350" y="128588"/>
                  </a:moveTo>
                  <a:cubicBezTo>
                    <a:pt x="133350" y="141739"/>
                    <a:pt x="122689" y="152400"/>
                    <a:pt x="109538" y="152400"/>
                  </a:cubicBezTo>
                  <a:cubicBezTo>
                    <a:pt x="96386" y="152400"/>
                    <a:pt x="85725" y="141739"/>
                    <a:pt x="85725" y="128588"/>
                  </a:cubicBezTo>
                  <a:cubicBezTo>
                    <a:pt x="85725" y="115436"/>
                    <a:pt x="96386" y="104775"/>
                    <a:pt x="109538" y="104775"/>
                  </a:cubicBezTo>
                  <a:cubicBezTo>
                    <a:pt x="122689" y="104775"/>
                    <a:pt x="133350" y="115436"/>
                    <a:pt x="133350" y="128588"/>
                  </a:cubicBezTo>
                  <a:close/>
                  <a:moveTo>
                    <a:pt x="195262" y="152400"/>
                  </a:moveTo>
                  <a:cubicBezTo>
                    <a:pt x="208415" y="152400"/>
                    <a:pt x="219075" y="141739"/>
                    <a:pt x="219075" y="128588"/>
                  </a:cubicBezTo>
                  <a:cubicBezTo>
                    <a:pt x="219075" y="115436"/>
                    <a:pt x="208415" y="104775"/>
                    <a:pt x="195262" y="104775"/>
                  </a:cubicBezTo>
                  <a:cubicBezTo>
                    <a:pt x="182111" y="104775"/>
                    <a:pt x="171450" y="115436"/>
                    <a:pt x="171450" y="128588"/>
                  </a:cubicBezTo>
                  <a:cubicBezTo>
                    <a:pt x="171450" y="141739"/>
                    <a:pt x="182111" y="152400"/>
                    <a:pt x="195262" y="152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04535" y="1580198"/>
              <a:ext cx="15375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泛雅 AI 智课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88308" y="2651760"/>
            <a:ext cx="4215384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762500" y="3790950"/>
            <a:ext cx="2667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BFF"/>
              </a:gs>
              <a:gs pos="100000">
                <a:srgbClr val="9B7BFF"/>
              </a:gs>
            </a:gsLst>
            <a:lin ang="27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740023" y="4187190"/>
            <a:ext cx="67119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7D2EC"/>
                </a:solidFill>
                <a:latin typeface="Arial"/>
                <a:ea typeface="Microsoft YaHei"/>
                <a:cs typeface="Arial"/>
              </a:rPr>
              <a:t>让每一页课件，都成为一位会讲、会答、会续接的 AI 老师。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095750" y="5029200"/>
            <a:ext cx="4000500" cy="533400"/>
            <a:chOff x="4095750" y="5029200"/>
            <a:chExt cx="4000500" cy="533400"/>
          </a:xfrm>
        </p:grpSpPr>
        <p:sp>
          <p:nvSpPr>
            <p:cNvPr id="13" name="Rectangle 13"/>
            <p:cNvSpPr/>
            <p:nvPr/>
          </p:nvSpPr>
          <p:spPr>
            <a:xfrm>
              <a:off x="4095750" y="5029200"/>
              <a:ext cx="4000500" cy="5334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18000"/>
                </a:srgbClr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457700" y="5181600"/>
              <a:ext cx="228600" cy="228600"/>
              <a:chOff x="4457700" y="5181600"/>
              <a:chExt cx="228600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572000" y="518160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42862"/>
                    </a:moveTo>
                    <a:lnTo>
                      <a:pt x="35719" y="35719"/>
                    </a:lnTo>
                    <a:lnTo>
                      <a:pt x="42862" y="0"/>
                    </a:lnTo>
                    <a:lnTo>
                      <a:pt x="57150" y="0"/>
                    </a:lnTo>
                    <a:lnTo>
                      <a:pt x="64294" y="35719"/>
                    </a:lnTo>
                    <a:lnTo>
                      <a:pt x="100012" y="42862"/>
                    </a:lnTo>
                    <a:lnTo>
                      <a:pt x="100012" y="57150"/>
                    </a:lnTo>
                    <a:lnTo>
                      <a:pt x="64294" y="64294"/>
                    </a:lnTo>
                    <a:lnTo>
                      <a:pt x="57150" y="100012"/>
                    </a:lnTo>
                    <a:lnTo>
                      <a:pt x="42862" y="100012"/>
                    </a:lnTo>
                    <a:lnTo>
                      <a:pt x="35719" y="64294"/>
                    </a:lnTo>
                    <a:lnTo>
                      <a:pt x="0" y="5715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57700" y="5253038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85725"/>
                    </a:moveTo>
                    <a:lnTo>
                      <a:pt x="0" y="71438"/>
                    </a:lnTo>
                    <a:lnTo>
                      <a:pt x="57150" y="57150"/>
                    </a:lnTo>
                    <a:lnTo>
                      <a:pt x="71438" y="0"/>
                    </a:lnTo>
                    <a:lnTo>
                      <a:pt x="85725" y="0"/>
                    </a:lnTo>
                    <a:lnTo>
                      <a:pt x="100012" y="57150"/>
                    </a:lnTo>
                    <a:lnTo>
                      <a:pt x="157162" y="71438"/>
                    </a:lnTo>
                    <a:lnTo>
                      <a:pt x="157162" y="85725"/>
                    </a:lnTo>
                    <a:lnTo>
                      <a:pt x="100012" y="100012"/>
                    </a:lnTo>
                    <a:lnTo>
                      <a:pt x="85725" y="157162"/>
                    </a:lnTo>
                    <a:lnTo>
                      <a:pt x="71438" y="157162"/>
                    </a:lnTo>
                    <a:lnTo>
                      <a:pt x="57150" y="100012"/>
                    </a:lnTo>
                    <a:lnTo>
                      <a:pt x="0" y="85725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471988" y="5188744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lnTo>
                      <a:pt x="21431" y="0"/>
                    </a:lnTo>
                    <a:lnTo>
                      <a:pt x="42862" y="21431"/>
                    </a:lnTo>
                    <a:lnTo>
                      <a:pt x="21431" y="42862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14862" y="5353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lnTo>
                      <a:pt x="28575" y="0"/>
                    </a:lnTo>
                    <a:lnTo>
                      <a:pt x="0" y="28575"/>
                    </a:lnTo>
                    <a:lnTo>
                      <a:pt x="28575" y="57150"/>
                    </a:lnTo>
                    <a:lnTo>
                      <a:pt x="57150" y="28575"/>
                    </a:ln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57725" y="52959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14288" y="28575"/>
                    </a:move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  <a:cubicBezTo>
                      <a:pt x="0" y="22178"/>
                      <a:pt x="6397" y="28575"/>
                      <a:pt x="14288" y="28575"/>
                    </a:cubicBezTo>
                    <a:close/>
                  </a:path>
                </a:pathLst>
              </a:custGeom>
              <a:solidFill>
                <a:srgbClr val="9B7BFF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415447" y="5226368"/>
              <a:ext cx="33611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泛雅 AI 互动智课系统 · 欢迎交流与试用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445585" y="6249352"/>
            <a:ext cx="1300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86A8"/>
                </a:solidFill>
                <a:latin typeface="Arial"/>
                <a:ea typeface="Microsoft YaHei"/>
                <a:cs typeface="Arial"/>
              </a:rPr>
              <a:t>参赛作品演示 |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
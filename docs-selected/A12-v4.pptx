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各位评委老师好，我们的参赛作品是“泛雅 AI 互动智课系统”。一句话概括，它想做的是把静态 PPT、PDF 课件，变成会讲、会答、还能在被打断后继续往下讲的 AI 学习伙伴。接下来我会按照“先看结果、再看问题、再看方案、最后看落地”的顺序，用几分钟把这套系统讲清楚。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最终效果。这一页展示的是一份普通课件转成智课后的完整形态：系统能自动生成讲授结构，学生在学习过程中可以随时提问，问完之后又能回到原来的学习节点继续往下走。请大家先记住三个关键词：智化讲授、实时问答、进度续接，后面所有内容都围绕这三个能力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要做这件事？泛雅平台已经沉淀了大量优质课件资源，但这些内容大多还是“可看不可讲”。它能展示，却不能像老师一样组织讲解；它能被浏览，却缺少互动与反馈；一旦学习过程被打断，进度也难以自然续上。我们做这套系统，就是为了把这三个断点补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问题拆成三类角色来看。对教师来说，最大的痛点是备课、讲稿撰写和录制成本高；对学生来说，问题是提问不够贴着课件、学习中断后容易丢进度；对平台来说，难点在于既要接得进来，又要掌握学习过程数据。也就是说，我们不是只解决一个问答问题，而是同时解决师生平台三方的真实断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针对这些问题，我们给出的不是一个单点工具，而是一套完整底座。底层是统一 AI 能力和业务编排，中间把解析、讲授、问答、续接这些能力串成闭环，上层分别面向教师端和学生端提供不同的使用入口。它的核心价值就在于：一套底座，两端复用，既能减轻教师工作量，也能提升学生学习体验，同时保留平台接入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先看教师端。教师不需要重新制作课件，只要上传现有 PPT 或 PDF，系统就能自动完成解析、讲稿生成和智课初始化。老师的工作方式也从“逐字写、逐页录”，变成“编辑确认、再发布”。这样既保留了教师主导权，又显著降低了重复性备课成本。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学生端。学生在学习时，不再只是被动看课件，而是可以边听讲、边提问、边回看薄弱点。系统支持上下文问答、语音播放、断点续学和针对性强化，问完之后还能自动接着原来的讲授节点继续学。对于自主学习场景，这一点非常关键，因为它把“看课件”变成了“跟着一个可交互的老师学习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这一页把完整学习链路串起来。从教师上传课件开始，到 AI 生成结构化内容、教师编辑确认、学生进入学习，再到实时问答、进度续接、学情反馈，整个过程形成一个闭环。这里要强调的是，问答并不是脱离讲授的外挂能力，而是会真正反过来影响后续讲授节奏和节点位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从这里开始进入系统实现部分。这一页是技术总览，我们把整个系统拆成前端层、业务编排层、AI 能力层和基础设施层四层结构。前端负责教师端和学生端体验，Go 后端负责状态机、异步任务和 SSE 转发，AI 中台承接解析、问答和语音等能力，底层再由 Postgres、Redis、MinIO 做支撑。这样设计的好处是，上层应用和底层模型解耦，后续对接泛雅也更轻量。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094B-6959-4E76-A010-991486FB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84B65-15C8-F52E-BBCB-23EC75EA3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982C7-5033-0FF4-10BA-8CE930EE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从这里开始进入系统实现部分。这一页是技术总览，我们把整个系统拆成前端层、业务编排层、AI 能力层和基础设施层四层结构。前端负责教师端和学生端体验，Go 后端负责状态机、异步任务和 SSE 转发，AI 中台承接解析、问答和语音等能力，底层再由 Postgres、Redis、MinIO 做支撑。这样设计的好处是，上层应用和底层模型解耦，后续对接泛雅也更轻量。</a:t>
            </a:r>
          </a:p>
        </p:txBody>
      </p:sp>
    </p:spTree>
    <p:extLst>
      <p:ext uri="{BB962C8B-B14F-4D97-AF65-F5344CB8AC3E}">
        <p14:creationId xmlns:p14="http://schemas.microsoft.com/office/powerpoint/2010/main" val="253027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把算法主线讲清楚。我们的算法部分不是三个平铺功能，而是一条主链加两条下游链：主链先把静态课件变成节点化学习底座，这个底座里不仅有页级内容，还有教学节点、讲稿入口和知识索引；然后在这套底座之上，一条链支撑教师端讲稿生成和发布，另一条链支撑学生端的上下文问答和进度续接。换句话说，我们先解决“系统如何看懂课件”，再解决“系统如何围绕课件讲授与答疑”，最后解决“学生问完之后如何继续学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第二页展开讲解析链。我们不是把 PPT 变成一堆文本，而是先统一拆页，再用多模态识别去理解标题、正文、图表和布局关系，接着做跨页语义聚合，把分散在相邻页里的知识脉络串起来，再把内容重构为教学节点，并做标准化校验。最终得到的是 teaching_nodes、讲稿入口、音频入口和知识索引。也就是说，解析链的终点不是“文本结果”，而是整个系统后续都要消费的节点化学习底座。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页展开讲问答续接链。学生提问时，系统不是把问题直接丢给通用聊天模型，而是先绑定当前页、当前节点和历史上下文，优先围绕当前学习位置做召回与增强生成，所以答案会更贴着课件。回答生成后，系统还会继续判断学生当前是已经理解、部分理解，还是仍未理解，并返回 `answerSource`、`understandingLevel`、`resumeNodeId`、`resumeMode` 这些结构化字段。真正关键的是，问答不会停留在答案层，而是进一步决定续讲、补讲还是重讲，让学生问完之后还能沿着学习主线继续走。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把视角重新拉回赛题本身，我们可以看到三大模块都已经被覆盖：智课生成模块，对应课件解析、内容重构、讲稿与音频生成；实时问答模块，对应上下文问答和流式交互；进度续接模块，对应节点定位、重讲判断和学习记录。也就是说，这不是零散能力的拼接，而是完整对齐赛题任务书的一套系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补充项目进展和落地节奏。整体上，我们经历了调研需求、架构设计、开发联调和学校推广四个阶段，目前已经完成核心闭环和演示环境搭建，也已经进入学校推广阶段。推广上，我们正围绕高校课程场景推进校内试点、教师试用和反馈回收，让真实教学反馈反过来推动解析、问答和讲授体验继续迭代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除了项目进展，我们也把组织分工明确拆开。团队内部按产品统筹、前端交互、后端编排、AI 算法、测试联调五个角色协同推进：有人负责需求和节奏，有人负责教师端和学生端体验，有人负责接口与状态流转，也有人专门负责 AI 场景验证和回归测试。这样做的目的是让项目推进不是“堆功能”，而是从需求拆解、接口联调到试点反馈都形成一个闭环。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以上就是我们“泛雅 AI 互动智课系统”的完整介绍。我们希望做的不是一个孤立的 AI 功能，而是一套真正服务高校自主学习场景的互动智课方案，让静态课件变成可讲授、可问答、可续接、可反馈的学习内容。感谢各位评委老师的聆听，欢迎大家批评指正。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63E86"/>
                </a:gs>
                <a:gs pos="55000">
                  <a:srgbClr val="3A3FA0"/>
                </a:gs>
                <a:gs pos="100000">
                  <a:srgbClr val="5B3FB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7B3A3">
                    <a:alpha val="32000"/>
                  </a:srgbClr>
                </a:gs>
                <a:gs pos="100000">
                  <a:srgbClr val="17B3A3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85750" y="285750"/>
            <a:ext cx="11430000" cy="6953250"/>
            <a:chOff x="285750" y="285750"/>
            <a:chExt cx="11430000" cy="6953250"/>
          </a:xfrm>
        </p:grpSpPr>
        <p:sp>
          <p:nvSpPr>
            <p:cNvPr id="5" name="Ellipse 5"/>
            <p:cNvSpPr/>
            <p:nvPr/>
          </p:nvSpPr>
          <p:spPr>
            <a:xfrm>
              <a:off x="7524750" y="285750"/>
              <a:ext cx="4191000" cy="4191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96250" y="857250"/>
              <a:ext cx="3048000" cy="3048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667750" y="1428750"/>
              <a:ext cx="1905000" cy="19050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85750" y="4953000"/>
              <a:ext cx="2286000" cy="2286000"/>
            </a:xfrm>
            <a:prstGeom prst="ellipse">
              <a:avLst/>
            </a:prstGeom>
            <a:solidFill>
              <a:srgbClr val="7B5BE0">
                <a:alpha val="18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53425" y="5114925"/>
              <a:ext cx="1276350" cy="666750"/>
              <a:chOff x="8353425" y="5114925"/>
              <a:chExt cx="1276350" cy="6667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83534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6582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89630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92678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5726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83534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86582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89630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2678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95726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83534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86582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89630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92678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95726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</p:grpSp>
      </p:grpSp>
      <p:grpSp>
        <p:nvGrpSpPr>
          <p:cNvPr id="29" name="Group 29"/>
          <p:cNvGrpSpPr/>
          <p:nvPr/>
        </p:nvGrpSpPr>
        <p:grpSpPr>
          <a:xfrm>
            <a:off x="609600" y="552450"/>
            <a:ext cx="1851562" cy="461962"/>
            <a:chOff x="609600" y="552450"/>
            <a:chExt cx="1851562" cy="461962"/>
          </a:xfrm>
        </p:grpSpPr>
        <p:sp>
          <p:nvSpPr>
            <p:cNvPr id="26" name="Rectangle 26"/>
            <p:cNvSpPr/>
            <p:nvPr/>
          </p:nvSpPr>
          <p:spPr>
            <a:xfrm>
              <a:off x="609600" y="552450"/>
              <a:ext cx="457200" cy="457200"/>
            </a:xfrm>
            <a:prstGeom prst="roundRect">
              <a:avLst>
                <a:gd name="adj" fmla="val 27083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04850" y="64770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150019" y="0"/>
                  </a:moveTo>
                  <a:lnTo>
                    <a:pt x="150019" y="33338"/>
                  </a:lnTo>
                  <a:lnTo>
                    <a:pt x="216694" y="33338"/>
                  </a:lnTo>
                  <a:lnTo>
                    <a:pt x="266700" y="141684"/>
                  </a:lnTo>
                  <a:lnTo>
                    <a:pt x="216694" y="250031"/>
                  </a:lnTo>
                  <a:lnTo>
                    <a:pt x="50006" y="250031"/>
                  </a:lnTo>
                  <a:lnTo>
                    <a:pt x="0" y="141684"/>
                  </a:lnTo>
                  <a:lnTo>
                    <a:pt x="50006" y="33338"/>
                  </a:lnTo>
                  <a:lnTo>
                    <a:pt x="116681" y="33338"/>
                  </a:lnTo>
                  <a:lnTo>
                    <a:pt x="116681" y="0"/>
                  </a:lnTo>
                  <a:lnTo>
                    <a:pt x="150019" y="0"/>
                  </a:lnTo>
                  <a:close/>
                  <a:moveTo>
                    <a:pt x="76642" y="195664"/>
                  </a:moveTo>
                  <a:lnTo>
                    <a:pt x="133350" y="204389"/>
                  </a:lnTo>
                  <a:lnTo>
                    <a:pt x="190059" y="195664"/>
                  </a:lnTo>
                  <a:lnTo>
                    <a:pt x="184988" y="162714"/>
                  </a:lnTo>
                  <a:lnTo>
                    <a:pt x="133350" y="170658"/>
                  </a:lnTo>
                  <a:lnTo>
                    <a:pt x="81711" y="162714"/>
                  </a:lnTo>
                  <a:lnTo>
                    <a:pt x="76642" y="195664"/>
                  </a:lnTo>
                  <a:close/>
                  <a:moveTo>
                    <a:pt x="116681" y="112514"/>
                  </a:moveTo>
                  <a:cubicBezTo>
                    <a:pt x="116681" y="124022"/>
                    <a:pt x="107353" y="133350"/>
                    <a:pt x="95845" y="133350"/>
                  </a:cubicBezTo>
                  <a:cubicBezTo>
                    <a:pt x="84338" y="133350"/>
                    <a:pt x="75009" y="124022"/>
                    <a:pt x="75009" y="112514"/>
                  </a:cubicBezTo>
                  <a:cubicBezTo>
                    <a:pt x="75009" y="101007"/>
                    <a:pt x="84338" y="91678"/>
                    <a:pt x="95845" y="91678"/>
                  </a:cubicBezTo>
                  <a:cubicBezTo>
                    <a:pt x="107353" y="91678"/>
                    <a:pt x="116681" y="101007"/>
                    <a:pt x="116681" y="112514"/>
                  </a:cubicBezTo>
                  <a:close/>
                  <a:moveTo>
                    <a:pt x="170855" y="133350"/>
                  </a:moveTo>
                  <a:cubicBezTo>
                    <a:pt x="182363" y="133350"/>
                    <a:pt x="191691" y="124022"/>
                    <a:pt x="191691" y="112514"/>
                  </a:cubicBezTo>
                  <a:cubicBezTo>
                    <a:pt x="191691" y="101007"/>
                    <a:pt x="182363" y="91678"/>
                    <a:pt x="170855" y="91678"/>
                  </a:cubicBezTo>
                  <a:cubicBezTo>
                    <a:pt x="159347" y="91678"/>
                    <a:pt x="150019" y="101007"/>
                    <a:pt x="150019" y="112514"/>
                  </a:cubicBezTo>
                  <a:cubicBezTo>
                    <a:pt x="150019" y="124022"/>
                    <a:pt x="159347" y="133350"/>
                    <a:pt x="170855" y="1333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60145" y="679132"/>
              <a:ext cx="1301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77300" y="1638300"/>
            <a:ext cx="1485900" cy="1485900"/>
            <a:chOff x="8877300" y="1638300"/>
            <a:chExt cx="1485900" cy="1485900"/>
          </a:xfrm>
        </p:grpSpPr>
        <p:sp>
          <p:nvSpPr>
            <p:cNvPr id="30" name="Ellipse 30"/>
            <p:cNvSpPr/>
            <p:nvPr/>
          </p:nvSpPr>
          <p:spPr>
            <a:xfrm>
              <a:off x="8877300" y="1638300"/>
              <a:ext cx="1485900" cy="14859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124950" y="1885950"/>
              <a:ext cx="990600" cy="928688"/>
            </a:xfrm>
            <a:custGeom>
              <a:avLst/>
              <a:gdLst/>
              <a:ahLst/>
              <a:cxnLst/>
              <a:rect l="l" t="t" r="r" b="b"/>
              <a:pathLst>
                <a:path w="990600" h="928688">
                  <a:moveTo>
                    <a:pt x="557212" y="0"/>
                  </a:moveTo>
                  <a:lnTo>
                    <a:pt x="557212" y="123825"/>
                  </a:lnTo>
                  <a:lnTo>
                    <a:pt x="804862" y="123825"/>
                  </a:lnTo>
                  <a:lnTo>
                    <a:pt x="990600" y="526256"/>
                  </a:lnTo>
                  <a:lnTo>
                    <a:pt x="804862" y="928688"/>
                  </a:lnTo>
                  <a:lnTo>
                    <a:pt x="185738" y="928688"/>
                  </a:lnTo>
                  <a:lnTo>
                    <a:pt x="0" y="526256"/>
                  </a:lnTo>
                  <a:lnTo>
                    <a:pt x="185738" y="123825"/>
                  </a:lnTo>
                  <a:lnTo>
                    <a:pt x="433388" y="123825"/>
                  </a:lnTo>
                  <a:lnTo>
                    <a:pt x="433388" y="0"/>
                  </a:lnTo>
                  <a:lnTo>
                    <a:pt x="557212" y="0"/>
                  </a:lnTo>
                  <a:close/>
                  <a:moveTo>
                    <a:pt x="284670" y="726754"/>
                  </a:moveTo>
                  <a:lnTo>
                    <a:pt x="495300" y="759159"/>
                  </a:lnTo>
                  <a:lnTo>
                    <a:pt x="705933" y="726754"/>
                  </a:lnTo>
                  <a:lnTo>
                    <a:pt x="687099" y="604367"/>
                  </a:lnTo>
                  <a:lnTo>
                    <a:pt x="495300" y="633873"/>
                  </a:lnTo>
                  <a:lnTo>
                    <a:pt x="303499" y="604367"/>
                  </a:lnTo>
                  <a:lnTo>
                    <a:pt x="284670" y="726754"/>
                  </a:lnTo>
                  <a:close/>
                  <a:moveTo>
                    <a:pt x="433388" y="417909"/>
                  </a:moveTo>
                  <a:cubicBezTo>
                    <a:pt x="433388" y="460651"/>
                    <a:pt x="398739" y="495300"/>
                    <a:pt x="355997" y="495300"/>
                  </a:cubicBezTo>
                  <a:cubicBezTo>
                    <a:pt x="313255" y="495300"/>
                    <a:pt x="278606" y="460651"/>
                    <a:pt x="278606" y="417909"/>
                  </a:cubicBezTo>
                  <a:cubicBezTo>
                    <a:pt x="278606" y="375167"/>
                    <a:pt x="313255" y="340519"/>
                    <a:pt x="355997" y="340519"/>
                  </a:cubicBezTo>
                  <a:cubicBezTo>
                    <a:pt x="398739" y="340519"/>
                    <a:pt x="433388" y="375167"/>
                    <a:pt x="433388" y="417909"/>
                  </a:cubicBezTo>
                  <a:close/>
                  <a:moveTo>
                    <a:pt x="634603" y="495300"/>
                  </a:moveTo>
                  <a:cubicBezTo>
                    <a:pt x="677348" y="495300"/>
                    <a:pt x="711994" y="460651"/>
                    <a:pt x="711994" y="417909"/>
                  </a:cubicBezTo>
                  <a:cubicBezTo>
                    <a:pt x="711994" y="375167"/>
                    <a:pt x="677348" y="340519"/>
                    <a:pt x="634603" y="340519"/>
                  </a:cubicBezTo>
                  <a:cubicBezTo>
                    <a:pt x="591861" y="340519"/>
                    <a:pt x="557212" y="375167"/>
                    <a:pt x="557212" y="417909"/>
                  </a:cubicBezTo>
                  <a:cubicBezTo>
                    <a:pt x="557212" y="460651"/>
                    <a:pt x="591861" y="495300"/>
                    <a:pt x="634603" y="495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27685" y="2381250"/>
            <a:ext cx="6675399" cy="2286000"/>
            <a:chOff x="527685" y="2381250"/>
            <a:chExt cx="6675399" cy="2286000"/>
          </a:xfrm>
        </p:grpSpPr>
        <p:sp>
          <p:nvSpPr>
            <p:cNvPr id="33" name="Rectangle 33"/>
            <p:cNvSpPr/>
            <p:nvPr/>
          </p:nvSpPr>
          <p:spPr>
            <a:xfrm>
              <a:off x="609600" y="2381250"/>
              <a:ext cx="2095500" cy="3619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4860" y="2489835"/>
              <a:ext cx="21895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FE0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服创大赛 A12 · 智能计算赛道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7685" y="3199448"/>
              <a:ext cx="6675399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6740" y="4110990"/>
              <a:ext cx="59864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6DE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把静态课件变成</a:t>
              </a:r>
              <a:r>
                <a:rPr lang="zh-CN" sz="1800" b="1" dirty="0">
                  <a:solidFill>
                    <a:srgbClr val="7FE3D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可讲授 · 可问答 · 可续接</a:t>
              </a:r>
              <a:r>
                <a:rPr lang="zh-CN" sz="1800" dirty="0">
                  <a:solidFill>
                    <a:srgbClr val="D6DE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 AI 学习伙伴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46291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93408" y="5958364"/>
            <a:ext cx="3900368" cy="525780"/>
            <a:chOff x="593408" y="5958364"/>
            <a:chExt cx="3900368" cy="525780"/>
          </a:xfrm>
        </p:grpSpPr>
        <p:sp>
          <p:nvSpPr>
            <p:cNvPr id="39" name="TextBox 39"/>
            <p:cNvSpPr txBox="1"/>
            <p:nvPr/>
          </p:nvSpPr>
          <p:spPr>
            <a:xfrm>
              <a:off x="593408" y="5958364"/>
              <a:ext cx="39003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EB8D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命题企业 超星集团 · 应用场景 高校通识课自主学习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3408" y="6225064"/>
              <a:ext cx="15855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参赛团队 DeepCore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952500"/>
            <a:ext cx="7720822" cy="528638"/>
            <a:chOff x="609600" y="952500"/>
            <a:chExt cx="7720822" cy="528638"/>
          </a:xfrm>
        </p:grpSpPr>
        <p:sp>
          <p:nvSpPr>
            <p:cNvPr id="7" name="Rectangle 7"/>
            <p:cNvSpPr/>
            <p:nvPr/>
          </p:nvSpPr>
          <p:spPr>
            <a:xfrm>
              <a:off x="609600" y="9525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7715" y="962978"/>
              <a:ext cx="75627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一份课件，秒变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会讲课、能答疑、可续接</a:t>
              </a:r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的智课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7750" y="1714500"/>
            <a:ext cx="10096500" cy="1243012"/>
            <a:chOff x="1047750" y="1714500"/>
            <a:chExt cx="10096500" cy="1243012"/>
          </a:xfrm>
        </p:grpSpPr>
        <p:sp>
          <p:nvSpPr>
            <p:cNvPr id="10" name="Rectangle 10"/>
            <p:cNvSpPr/>
            <p:nvPr/>
          </p:nvSpPr>
          <p:spPr>
            <a:xfrm>
              <a:off x="1047750" y="1714500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43025" y="2057400"/>
              <a:ext cx="400050" cy="457200"/>
              <a:chOff x="1343025" y="2057400"/>
              <a:chExt cx="400050" cy="457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57325" y="2057400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71450" y="0"/>
                    </a:moveTo>
                    <a:lnTo>
                      <a:pt x="0" y="0"/>
                    </a:lnTo>
                    <a:lnTo>
                      <a:pt x="0" y="342900"/>
                    </a:lnTo>
                    <a:lnTo>
                      <a:pt x="285750" y="342900"/>
                    </a:lnTo>
                    <a:lnTo>
                      <a:pt x="285750" y="114300"/>
                    </a:ln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43025" y="2171700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285750" y="342900"/>
                    </a:lnTo>
                    <a:lnTo>
                      <a:pt x="285750" y="285750"/>
                    </a:lnTo>
                    <a:lnTo>
                      <a:pt x="57150" y="285750"/>
                    </a:lnTo>
                    <a:lnTo>
                      <a:pt x="571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941195" y="2012632"/>
              <a:ext cx="2132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 PPT / PDF 课件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6910" y="2366010"/>
              <a:ext cx="16546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可看不可讲 · 互动缺失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19650" y="2133600"/>
              <a:ext cx="857250" cy="457200"/>
            </a:xfrm>
            <a:custGeom>
              <a:avLst/>
              <a:gdLst/>
              <a:ahLst/>
              <a:cxnLst/>
              <a:rect l="l" t="t" r="r" b="b"/>
              <a:pathLst>
                <a:path w="857250" h="457200">
                  <a:moveTo>
                    <a:pt x="0" y="152400"/>
                  </a:moveTo>
                  <a:lnTo>
                    <a:pt x="476250" y="152400"/>
                  </a:lnTo>
                  <a:lnTo>
                    <a:pt x="476250" y="0"/>
                  </a:lnTo>
                  <a:lnTo>
                    <a:pt x="857250" y="228600"/>
                  </a:lnTo>
                  <a:lnTo>
                    <a:pt x="476250" y="457200"/>
                  </a:lnTo>
                  <a:lnTo>
                    <a:pt x="47625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03386" y="2744152"/>
              <a:ext cx="489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B3A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引擎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00750" y="1714500"/>
              <a:ext cx="5143500" cy="1143000"/>
            </a:xfrm>
            <a:prstGeom prst="roundRect">
              <a:avLst>
                <a:gd name="adj" fmla="val 11667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0" scaled="1"/>
            </a:gradFill>
            <a:ln>
              <a:noFill/>
            </a:ln>
            <a:effectLst>
              <a:outerShdw blurRad="152400" dist="47625" dir="5400000" algn="ctr" rotWithShape="0">
                <a:srgbClr val="1D2433">
                  <a:alpha val="6000"/>
                </a:srgbClr>
              </a:outerShdw>
            </a:effectLst>
          </p:spPr>
        </p:sp>
        <p:grpSp>
          <p:nvGrpSpPr>
            <p:cNvPr id="24" name="Group 24"/>
            <p:cNvGrpSpPr/>
            <p:nvPr/>
          </p:nvGrpSpPr>
          <p:grpSpPr>
            <a:xfrm>
              <a:off x="6286500" y="2057400"/>
              <a:ext cx="457200" cy="457200"/>
              <a:chOff x="6286500" y="2057400"/>
              <a:chExt cx="457200" cy="457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515100" y="2057400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85725"/>
                    </a:moveTo>
                    <a:lnTo>
                      <a:pt x="71438" y="71438"/>
                    </a:lnTo>
                    <a:lnTo>
                      <a:pt x="85725" y="0"/>
                    </a:lnTo>
                    <a:lnTo>
                      <a:pt x="114300" y="0"/>
                    </a:lnTo>
                    <a:lnTo>
                      <a:pt x="128588" y="71438"/>
                    </a:lnTo>
                    <a:lnTo>
                      <a:pt x="200025" y="85725"/>
                    </a:lnTo>
                    <a:lnTo>
                      <a:pt x="200025" y="114300"/>
                    </a:lnTo>
                    <a:lnTo>
                      <a:pt x="128588" y="128588"/>
                    </a:lnTo>
                    <a:lnTo>
                      <a:pt x="114300" y="200025"/>
                    </a:lnTo>
                    <a:lnTo>
                      <a:pt x="85725" y="200025"/>
                    </a:lnTo>
                    <a:lnTo>
                      <a:pt x="71438" y="128588"/>
                    </a:lnTo>
                    <a:lnTo>
                      <a:pt x="0" y="114300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86500" y="2200275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0" y="171450"/>
                    </a:moveTo>
                    <a:lnTo>
                      <a:pt x="0" y="142875"/>
                    </a:lnTo>
                    <a:lnTo>
                      <a:pt x="114300" y="114300"/>
                    </a:lnTo>
                    <a:lnTo>
                      <a:pt x="142875" y="0"/>
                    </a:lnTo>
                    <a:lnTo>
                      <a:pt x="171450" y="0"/>
                    </a:lnTo>
                    <a:lnTo>
                      <a:pt x="200025" y="114300"/>
                    </a:lnTo>
                    <a:lnTo>
                      <a:pt x="314325" y="142875"/>
                    </a:lnTo>
                    <a:lnTo>
                      <a:pt x="314325" y="171450"/>
                    </a:lnTo>
                    <a:lnTo>
                      <a:pt x="200025" y="200025"/>
                    </a:lnTo>
                    <a:lnTo>
                      <a:pt x="171450" y="314325"/>
                    </a:lnTo>
                    <a:lnTo>
                      <a:pt x="142875" y="314325"/>
                    </a:lnTo>
                    <a:lnTo>
                      <a:pt x="114300" y="200025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15075" y="20716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  <a:lnTo>
                      <a:pt x="42862" y="85725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00825" y="24003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57150" y="0"/>
                    </a:lnTo>
                    <a:lnTo>
                      <a:pt x="0" y="57150"/>
                    </a:lnTo>
                    <a:lnTo>
                      <a:pt x="57150" y="114300"/>
                    </a:lnTo>
                    <a:lnTo>
                      <a:pt x="114300" y="571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86550" y="22860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892290" y="1996440"/>
              <a:ext cx="13436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互动智课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99910" y="2366010"/>
              <a:ext cx="26388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6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结构化讲授 · 上下文问答 · 断点续学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7750" y="3219450"/>
            <a:ext cx="10096500" cy="666750"/>
            <a:chOff x="1047750" y="3219450"/>
            <a:chExt cx="10096500" cy="666750"/>
          </a:xfrm>
        </p:grpSpPr>
        <p:sp>
          <p:nvSpPr>
            <p:cNvPr id="28" name="Rectangle 28"/>
            <p:cNvSpPr/>
            <p:nvPr/>
          </p:nvSpPr>
          <p:spPr>
            <a:xfrm>
              <a:off x="1047750" y="3219450"/>
              <a:ext cx="10096500" cy="666750"/>
            </a:xfrm>
            <a:prstGeom prst="roundRect">
              <a:avLst>
                <a:gd name="adj" fmla="val 20000"/>
              </a:avLst>
            </a:prstGeom>
            <a:solidFill>
              <a:srgbClr val="EEF2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02068" y="33999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五环闭环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488758" y="3596164"/>
              <a:ext cx="8899874" cy="259080"/>
              <a:chOff x="1488758" y="3596164"/>
              <a:chExt cx="8899874" cy="25908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14887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课件解析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8222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1270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内容重构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605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7653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智能讲授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988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036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实时问答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7371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→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419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进度续接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39450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B3A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↺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6421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B3A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学情反馈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4305300"/>
            <a:ext cx="3181350" cy="1905000"/>
            <a:chOff x="1047750" y="4305300"/>
            <a:chExt cx="3181350" cy="1905000"/>
          </a:xfrm>
        </p:grpSpPr>
        <p:sp>
          <p:nvSpPr>
            <p:cNvPr id="43" name="Rectangle 43"/>
            <p:cNvSpPr/>
            <p:nvPr/>
          </p:nvSpPr>
          <p:spPr>
            <a:xfrm>
              <a:off x="1047750" y="4305300"/>
              <a:ext cx="318135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4305300"/>
              <a:ext cx="318135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314450" y="4681538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209550" y="0"/>
                  </a:moveTo>
                  <a:cubicBezTo>
                    <a:pt x="267415" y="0"/>
                    <a:pt x="314325" y="46909"/>
                    <a:pt x="314325" y="104775"/>
                  </a:cubicBezTo>
                  <a:lnTo>
                    <a:pt x="314325" y="130969"/>
                  </a:lnTo>
                  <a:cubicBezTo>
                    <a:pt x="372190" y="130969"/>
                    <a:pt x="419100" y="177878"/>
                    <a:pt x="419100" y="235744"/>
                  </a:cubicBezTo>
                  <a:lnTo>
                    <a:pt x="419100" y="314325"/>
                  </a:lnTo>
                  <a:lnTo>
                    <a:pt x="235744" y="314325"/>
                  </a:lnTo>
                  <a:lnTo>
                    <a:pt x="288131" y="261938"/>
                  </a:lnTo>
                  <a:lnTo>
                    <a:pt x="288131" y="235744"/>
                  </a:lnTo>
                  <a:lnTo>
                    <a:pt x="235744" y="235744"/>
                  </a:lnTo>
                  <a:lnTo>
                    <a:pt x="235744" y="157162"/>
                  </a:lnTo>
                  <a:lnTo>
                    <a:pt x="183356" y="157162"/>
                  </a:lnTo>
                  <a:lnTo>
                    <a:pt x="183356" y="235744"/>
                  </a:lnTo>
                  <a:lnTo>
                    <a:pt x="130969" y="235744"/>
                  </a:lnTo>
                  <a:lnTo>
                    <a:pt x="130969" y="261938"/>
                  </a:lnTo>
                  <a:lnTo>
                    <a:pt x="183356" y="314325"/>
                  </a:lnTo>
                  <a:lnTo>
                    <a:pt x="0" y="314325"/>
                  </a:lnTo>
                  <a:lnTo>
                    <a:pt x="0" y="209550"/>
                  </a:lnTo>
                  <a:cubicBezTo>
                    <a:pt x="0" y="151684"/>
                    <a:pt x="46909" y="104775"/>
                    <a:pt x="104775" y="104775"/>
                  </a:cubicBezTo>
                  <a:cubicBezTo>
                    <a:pt x="104775" y="46909"/>
                    <a:pt x="151684" y="0"/>
                    <a:pt x="209550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93495" y="52701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上传即生成讲稿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99210" y="56426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教师上传课件，自动解析并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99210" y="5871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输出结构化教学节点脚本。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495800" y="4305300"/>
            <a:ext cx="3181350" cy="1905000"/>
            <a:chOff x="4495800" y="4305300"/>
            <a:chExt cx="3181350" cy="1905000"/>
          </a:xfrm>
        </p:grpSpPr>
        <p:sp>
          <p:nvSpPr>
            <p:cNvPr id="50" name="Rectangle 50"/>
            <p:cNvSpPr/>
            <p:nvPr/>
          </p:nvSpPr>
          <p:spPr>
            <a:xfrm>
              <a:off x="4495800" y="4305300"/>
              <a:ext cx="318135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495800" y="4305300"/>
              <a:ext cx="318135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4814888" y="4629150"/>
              <a:ext cx="314325" cy="419100"/>
            </a:xfrm>
            <a:custGeom>
              <a:avLst/>
              <a:gdLst/>
              <a:ahLst/>
              <a:cxnLst/>
              <a:rect l="l" t="t" r="r" b="b"/>
              <a:pathLst>
                <a:path w="314325" h="419100">
                  <a:moveTo>
                    <a:pt x="183356" y="183356"/>
                  </a:moveTo>
                  <a:lnTo>
                    <a:pt x="209550" y="0"/>
                  </a:lnTo>
                  <a:lnTo>
                    <a:pt x="157162" y="0"/>
                  </a:lnTo>
                  <a:lnTo>
                    <a:pt x="0" y="183356"/>
                  </a:lnTo>
                  <a:lnTo>
                    <a:pt x="0" y="235744"/>
                  </a:lnTo>
                  <a:lnTo>
                    <a:pt x="130969" y="235744"/>
                  </a:lnTo>
                  <a:lnTo>
                    <a:pt x="104775" y="419100"/>
                  </a:lnTo>
                  <a:lnTo>
                    <a:pt x="157162" y="419100"/>
                  </a:lnTo>
                  <a:lnTo>
                    <a:pt x="314325" y="235744"/>
                  </a:lnTo>
                  <a:lnTo>
                    <a:pt x="314325" y="183356"/>
                  </a:lnTo>
                  <a:lnTo>
                    <a:pt x="183356" y="183356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41545" y="52701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问答秒级响应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47260" y="5642610"/>
              <a:ext cx="19907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流式 SSE 输出，结合当前页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7260" y="58712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上下文，回答可溯源。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943850" y="4305300"/>
            <a:ext cx="3200400" cy="1905000"/>
            <a:chOff x="7943850" y="4305300"/>
            <a:chExt cx="3200400" cy="1905000"/>
          </a:xfrm>
        </p:grpSpPr>
        <p:sp>
          <p:nvSpPr>
            <p:cNvPr id="57" name="Rectangle 57"/>
            <p:cNvSpPr/>
            <p:nvPr/>
          </p:nvSpPr>
          <p:spPr>
            <a:xfrm>
              <a:off x="7943850" y="4305300"/>
              <a:ext cx="320040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943850" y="4305300"/>
              <a:ext cx="3200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236744" y="4655344"/>
              <a:ext cx="366712" cy="366712"/>
              <a:chOff x="8236744" y="4655344"/>
              <a:chExt cx="366712" cy="36671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236744" y="4655344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52388"/>
                    </a:moveTo>
                    <a:cubicBezTo>
                      <a:pt x="104775" y="81320"/>
                      <a:pt x="81320" y="104775"/>
                      <a:pt x="52388" y="104775"/>
                    </a:cubicBezTo>
                    <a:cubicBezTo>
                      <a:pt x="23455" y="104775"/>
                      <a:pt x="0" y="81320"/>
                      <a:pt x="0" y="52388"/>
                    </a:cubicBezTo>
                    <a:cubicBezTo>
                      <a:pt x="0" y="23455"/>
                      <a:pt x="23455" y="0"/>
                      <a:pt x="52388" y="0"/>
                    </a:cubicBezTo>
                    <a:cubicBezTo>
                      <a:pt x="81320" y="0"/>
                      <a:pt x="104775" y="23455"/>
                      <a:pt x="104775" y="52388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98681" y="4917281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52388"/>
                    </a:moveTo>
                    <a:cubicBezTo>
                      <a:pt x="104775" y="81321"/>
                      <a:pt x="81321" y="104775"/>
                      <a:pt x="52388" y="104775"/>
                    </a:cubicBezTo>
                    <a:cubicBezTo>
                      <a:pt x="23454" y="104775"/>
                      <a:pt x="0" y="81321"/>
                      <a:pt x="0" y="52388"/>
                    </a:cubicBezTo>
                    <a:cubicBezTo>
                      <a:pt x="0" y="23454"/>
                      <a:pt x="23454" y="0"/>
                      <a:pt x="52388" y="0"/>
                    </a:cubicBezTo>
                    <a:cubicBezTo>
                      <a:pt x="81321" y="0"/>
                      <a:pt x="104775" y="23454"/>
                      <a:pt x="104775" y="52388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62938" y="4655344"/>
                <a:ext cx="31432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66712">
                    <a:moveTo>
                      <a:pt x="183356" y="91678"/>
                    </a:moveTo>
                    <a:cubicBezTo>
                      <a:pt x="183356" y="69978"/>
                      <a:pt x="200947" y="52388"/>
                      <a:pt x="222647" y="52388"/>
                    </a:cubicBezTo>
                    <a:cubicBezTo>
                      <a:pt x="244346" y="52388"/>
                      <a:pt x="261938" y="69978"/>
                      <a:pt x="261938" y="91678"/>
                    </a:cubicBezTo>
                    <a:lnTo>
                      <a:pt x="261938" y="209550"/>
                    </a:lnTo>
                    <a:lnTo>
                      <a:pt x="314325" y="209550"/>
                    </a:lnTo>
                    <a:lnTo>
                      <a:pt x="314325" y="91678"/>
                    </a:lnTo>
                    <a:cubicBezTo>
                      <a:pt x="314325" y="41046"/>
                      <a:pt x="273279" y="0"/>
                      <a:pt x="222647" y="0"/>
                    </a:cubicBezTo>
                    <a:cubicBezTo>
                      <a:pt x="172014" y="0"/>
                      <a:pt x="130969" y="41046"/>
                      <a:pt x="130969" y="91678"/>
                    </a:cubicBezTo>
                    <a:lnTo>
                      <a:pt x="130969" y="275034"/>
                    </a:lnTo>
                    <a:cubicBezTo>
                      <a:pt x="130969" y="296733"/>
                      <a:pt x="113378" y="314325"/>
                      <a:pt x="91678" y="314325"/>
                    </a:cubicBezTo>
                    <a:cubicBezTo>
                      <a:pt x="69978" y="314325"/>
                      <a:pt x="52388" y="296733"/>
                      <a:pt x="52388" y="275034"/>
                    </a:cubicBezTo>
                    <a:lnTo>
                      <a:pt x="52388" y="157162"/>
                    </a:lnTo>
                    <a:lnTo>
                      <a:pt x="0" y="157162"/>
                    </a:lnTo>
                    <a:lnTo>
                      <a:pt x="0" y="275034"/>
                    </a:lnTo>
                    <a:cubicBezTo>
                      <a:pt x="0" y="325667"/>
                      <a:pt x="41046" y="366712"/>
                      <a:pt x="91678" y="366712"/>
                    </a:cubicBezTo>
                    <a:cubicBezTo>
                      <a:pt x="142311" y="366712"/>
                      <a:pt x="183356" y="325667"/>
                      <a:pt x="183356" y="275034"/>
                    </a:cubicBezTo>
                    <a:lnTo>
                      <a:pt x="183356" y="91678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189595" y="52701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打断后自动续接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95310" y="56426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判断理解程度，定位原节点，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95310" y="58712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续讲或重讲，进度不丢。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67" name="TextBox 67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  <p:bldP spid="42" grpId="0"/>
      <p:bldP spid="49" grpId="0"/>
      <p:bldP spid="56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317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104900"/>
            <a:ext cx="5971303" cy="528638"/>
            <a:chOff x="609600" y="1104900"/>
            <a:chExt cx="5971303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104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115378"/>
              <a:ext cx="581318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泛雅沉淀海量课件，却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"可看不可讲"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1962150"/>
            <a:ext cx="4191000" cy="4000500"/>
            <a:chOff x="609600" y="1962150"/>
            <a:chExt cx="4191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609600" y="1962150"/>
              <a:ext cx="4191000" cy="4000500"/>
            </a:xfrm>
            <a:prstGeom prst="roundRect">
              <a:avLst>
                <a:gd name="adj" fmla="val 4286"/>
              </a:avLst>
            </a:prstGeom>
            <a:gradFill>
              <a:gsLst>
                <a:gs pos="0">
                  <a:srgbClr val="163E86"/>
                </a:gs>
                <a:gs pos="100000">
                  <a:srgbClr val="5B3FB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52500" y="2471738"/>
              <a:ext cx="571500" cy="464344"/>
            </a:xfrm>
            <a:custGeom>
              <a:avLst/>
              <a:gdLst/>
              <a:ahLst/>
              <a:cxnLst/>
              <a:rect l="l" t="t" r="r" b="b"/>
              <a:pathLst>
                <a:path w="571500" h="464344">
                  <a:moveTo>
                    <a:pt x="0" y="0"/>
                  </a:moveTo>
                  <a:lnTo>
                    <a:pt x="128080" y="0"/>
                  </a:lnTo>
                  <a:cubicBezTo>
                    <a:pt x="160423" y="0"/>
                    <a:pt x="191442" y="12848"/>
                    <a:pt x="214312" y="35719"/>
                  </a:cubicBezTo>
                  <a:cubicBezTo>
                    <a:pt x="237183" y="58589"/>
                    <a:pt x="250031" y="89608"/>
                    <a:pt x="250031" y="121951"/>
                  </a:cubicBezTo>
                  <a:lnTo>
                    <a:pt x="250031" y="321469"/>
                  </a:lnTo>
                  <a:lnTo>
                    <a:pt x="321469" y="321469"/>
                  </a:lnTo>
                  <a:lnTo>
                    <a:pt x="321469" y="121951"/>
                  </a:lnTo>
                  <a:cubicBezTo>
                    <a:pt x="321469" y="89608"/>
                    <a:pt x="334317" y="58589"/>
                    <a:pt x="357188" y="35719"/>
                  </a:cubicBezTo>
                  <a:cubicBezTo>
                    <a:pt x="380058" y="12848"/>
                    <a:pt x="411076" y="0"/>
                    <a:pt x="443420" y="0"/>
                  </a:cubicBezTo>
                  <a:lnTo>
                    <a:pt x="571500" y="0"/>
                  </a:lnTo>
                  <a:lnTo>
                    <a:pt x="571500" y="392906"/>
                  </a:lnTo>
                  <a:lnTo>
                    <a:pt x="392906" y="392906"/>
                  </a:lnTo>
                  <a:lnTo>
                    <a:pt x="321469" y="464344"/>
                  </a:lnTo>
                  <a:lnTo>
                    <a:pt x="250031" y="464344"/>
                  </a:lnTo>
                  <a:lnTo>
                    <a:pt x="178594" y="392906"/>
                  </a:lnTo>
                  <a:lnTo>
                    <a:pt x="0" y="392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3925" y="33766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教育数字化转型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3925" y="375761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7FE3D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正在加速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355" y="44072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个性化学习与高效知识传递，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5355" y="46929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成为高校教学的核心需求；课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5355" y="49787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件具备从"静态"升级为"AI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5355" y="5264468"/>
              <a:ext cx="1933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互动智课"的技术条件。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86400" y="2107882"/>
            <a:ext cx="6096000" cy="1044893"/>
            <a:chOff x="5486400" y="2107882"/>
            <a:chExt cx="6096000" cy="1044893"/>
          </a:xfrm>
        </p:grpSpPr>
        <p:grpSp>
          <p:nvGrpSpPr>
            <p:cNvPr id="31" name="Group 31"/>
            <p:cNvGrpSpPr/>
            <p:nvPr/>
          </p:nvGrpSpPr>
          <p:grpSpPr>
            <a:xfrm>
              <a:off x="5529262" y="2114550"/>
              <a:ext cx="257175" cy="342900"/>
              <a:chOff x="5529262" y="2114550"/>
              <a:chExt cx="257175" cy="3429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529262" y="2251710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529262" y="2358866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529262" y="2114550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960745" y="21078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海量课程资源已沉淀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65508" y="2453164"/>
              <a:ext cx="46229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超星泛雅平台已服务大量高校、教师与学生，积累了大量优质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65508" y="2700814"/>
              <a:ext cx="30502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PPT / PDF 课件，但仍以静态形式呈现。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486400" y="31432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rgbClr val="E2E8F2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486400" y="3365182"/>
            <a:ext cx="6096000" cy="1044893"/>
            <a:chOff x="5486400" y="3365182"/>
            <a:chExt cx="6096000" cy="1044893"/>
          </a:xfrm>
        </p:grpSpPr>
        <p:grpSp>
          <p:nvGrpSpPr>
            <p:cNvPr id="39" name="Group 39"/>
            <p:cNvGrpSpPr/>
            <p:nvPr/>
          </p:nvGrpSpPr>
          <p:grpSpPr>
            <a:xfrm>
              <a:off x="5486400" y="3393281"/>
              <a:ext cx="342900" cy="320391"/>
              <a:chOff x="5486400" y="3393281"/>
              <a:chExt cx="342900" cy="32039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572125" y="3393281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85725" y="214312"/>
                    </a:lnTo>
                    <a:lnTo>
                      <a:pt x="128588" y="257175"/>
                    </a:lnTo>
                    <a:lnTo>
                      <a:pt x="171450" y="214312"/>
                    </a:lnTo>
                    <a:lnTo>
                      <a:pt x="257175" y="214312"/>
                    </a:lnTo>
                    <a:lnTo>
                      <a:pt x="257175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486400" y="3479006"/>
                <a:ext cx="186604" cy="234666"/>
              </a:xfrm>
              <a:custGeom>
                <a:avLst/>
                <a:gdLst/>
                <a:ahLst/>
                <a:cxnLst/>
                <a:rect l="l" t="t" r="r" b="b"/>
                <a:pathLst>
                  <a:path w="186604" h="234666">
                    <a:moveTo>
                      <a:pt x="42862" y="0"/>
                    </a:moveTo>
                    <a:lnTo>
                      <a:pt x="42862" y="171450"/>
                    </a:lnTo>
                    <a:lnTo>
                      <a:pt x="153696" y="171450"/>
                    </a:lnTo>
                    <a:lnTo>
                      <a:pt x="186604" y="204358"/>
                    </a:lnTo>
                    <a:lnTo>
                      <a:pt x="156296" y="234666"/>
                    </a:lnTo>
                    <a:lnTo>
                      <a:pt x="135942" y="214312"/>
                    </a:lnTo>
                    <a:lnTo>
                      <a:pt x="0" y="214312"/>
                    </a:lnTo>
                    <a:lnTo>
                      <a:pt x="0" y="0"/>
                    </a:lnTo>
                    <a:lnTo>
                      <a:pt x="42862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960745" y="33651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讲授、互动、续接能力缺失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65508" y="3710464"/>
              <a:ext cx="46399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静态课件需教师额外录制讲解视频才能"可听可学"，学生遇到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65508" y="395811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疑问难获上下文答疑，打断后又难以续接进度。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486400" y="44005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rgbClr val="E2E8F2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486400" y="4622482"/>
            <a:ext cx="6096000" cy="1359218"/>
            <a:chOff x="5486400" y="4622482"/>
            <a:chExt cx="6096000" cy="1359218"/>
          </a:xfrm>
        </p:grpSpPr>
        <p:grpSp>
          <p:nvGrpSpPr>
            <p:cNvPr id="50" name="Group 50"/>
            <p:cNvGrpSpPr/>
            <p:nvPr/>
          </p:nvGrpSpPr>
          <p:grpSpPr>
            <a:xfrm>
              <a:off x="5486400" y="4629150"/>
              <a:ext cx="342900" cy="342900"/>
              <a:chOff x="5486400" y="4629150"/>
              <a:chExt cx="342900" cy="3429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657850" y="4629150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0" y="64294"/>
                    </a:moveTo>
                    <a:lnTo>
                      <a:pt x="53578" y="53578"/>
                    </a:lnTo>
                    <a:lnTo>
                      <a:pt x="64294" y="0"/>
                    </a:lnTo>
                    <a:lnTo>
                      <a:pt x="85725" y="0"/>
                    </a:lnTo>
                    <a:lnTo>
                      <a:pt x="96441" y="53578"/>
                    </a:lnTo>
                    <a:lnTo>
                      <a:pt x="150019" y="64294"/>
                    </a:lnTo>
                    <a:lnTo>
                      <a:pt x="150019" y="85725"/>
                    </a:lnTo>
                    <a:lnTo>
                      <a:pt x="96441" y="96441"/>
                    </a:lnTo>
                    <a:lnTo>
                      <a:pt x="85725" y="150019"/>
                    </a:lnTo>
                    <a:lnTo>
                      <a:pt x="64294" y="150019"/>
                    </a:lnTo>
                    <a:lnTo>
                      <a:pt x="53578" y="96441"/>
                    </a:lnTo>
                    <a:lnTo>
                      <a:pt x="0" y="85725"/>
                    </a:lnTo>
                    <a:lnTo>
                      <a:pt x="0" y="64294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486400" y="4736306"/>
                <a:ext cx="235744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35744">
                    <a:moveTo>
                      <a:pt x="0" y="128588"/>
                    </a:moveTo>
                    <a:lnTo>
                      <a:pt x="0" y="107156"/>
                    </a:lnTo>
                    <a:lnTo>
                      <a:pt x="85725" y="85725"/>
                    </a:lnTo>
                    <a:lnTo>
                      <a:pt x="107156" y="0"/>
                    </a:lnTo>
                    <a:lnTo>
                      <a:pt x="128588" y="0"/>
                    </a:lnTo>
                    <a:lnTo>
                      <a:pt x="150019" y="85725"/>
                    </a:lnTo>
                    <a:lnTo>
                      <a:pt x="235744" y="107156"/>
                    </a:lnTo>
                    <a:lnTo>
                      <a:pt x="235744" y="128588"/>
                    </a:lnTo>
                    <a:lnTo>
                      <a:pt x="150019" y="150019"/>
                    </a:lnTo>
                    <a:lnTo>
                      <a:pt x="128588" y="235744"/>
                    </a:lnTo>
                    <a:lnTo>
                      <a:pt x="107156" y="235744"/>
                    </a:lnTo>
                    <a:lnTo>
                      <a:pt x="85725" y="150019"/>
                    </a:lnTo>
                    <a:lnTo>
                      <a:pt x="0" y="128588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507831" y="4639866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0" y="32147"/>
                    </a:moveTo>
                    <a:lnTo>
                      <a:pt x="32147" y="0"/>
                    </a:lnTo>
                    <a:lnTo>
                      <a:pt x="64294" y="32147"/>
                    </a:lnTo>
                    <a:lnTo>
                      <a:pt x="32147" y="64294"/>
                    </a:lnTo>
                    <a:lnTo>
                      <a:pt x="0" y="32147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722144" y="48863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lnTo>
                      <a:pt x="42862" y="0"/>
                    </a:lnTo>
                    <a:lnTo>
                      <a:pt x="0" y="42862"/>
                    </a:lnTo>
                    <a:lnTo>
                      <a:pt x="42862" y="85725"/>
                    </a:lnTo>
                    <a:lnTo>
                      <a:pt x="85725" y="42862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786438" y="480060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21431" y="42862"/>
                    </a:moveTo>
                    <a:cubicBezTo>
                      <a:pt x="33268" y="42862"/>
                      <a:pt x="42862" y="33268"/>
                      <a:pt x="42862" y="21431"/>
                    </a:cubicBezTo>
                    <a:cubicBezTo>
                      <a:pt x="42862" y="9595"/>
                      <a:pt x="33268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  <a:cubicBezTo>
                      <a:pt x="0" y="33268"/>
                      <a:pt x="9595" y="42862"/>
                      <a:pt x="21431" y="42862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960745" y="4622482"/>
              <a:ext cx="23868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技术已具备升级基础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65508" y="4967764"/>
              <a:ext cx="49630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大语言模型、语音合成、多模态处理逐渐成熟，使课件解析、内容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65508" y="52154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生成、问答与讲授真正可落地。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86400" y="5600700"/>
              <a:ext cx="6096000" cy="381000"/>
            </a:xfrm>
            <a:prstGeom prst="roundRect">
              <a:avLst>
                <a:gd name="adj" fmla="val 25000"/>
              </a:avLst>
            </a:prstGeom>
            <a:solidFill>
              <a:srgbClr val="EAFBF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61660" y="5709285"/>
              <a:ext cx="5071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核心目标：让静态课件变成可讲授、可提问、可续接的智能学习内容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36" grpId="0"/>
      <p:bldP spid="44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317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104900"/>
            <a:ext cx="3436287" cy="528638"/>
            <a:chOff x="609600" y="1104900"/>
            <a:chExt cx="343628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104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1153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三类角色，</a:t>
              </a:r>
              <a:r>
                <a:rPr lang="zh-CN" sz="2550" b="1" dirty="0">
                  <a:solidFill>
                    <a:srgbClr val="E855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三道断点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1657350"/>
            <a:ext cx="3429000" cy="4533900"/>
            <a:chOff x="609600" y="1657350"/>
            <a:chExt cx="3429000" cy="4533900"/>
          </a:xfrm>
        </p:grpSpPr>
        <p:sp>
          <p:nvSpPr>
            <p:cNvPr id="19" name="Rectangle 19"/>
            <p:cNvSpPr/>
            <p:nvPr/>
          </p:nvSpPr>
          <p:spPr>
            <a:xfrm>
              <a:off x="609600" y="1657350"/>
              <a:ext cx="3429000" cy="45339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375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609600" y="1657350"/>
              <a:ext cx="3429000" cy="819150"/>
            </a:xfrm>
            <a:custGeom>
              <a:avLst/>
              <a:gdLst/>
              <a:ahLst/>
              <a:cxnLst/>
              <a:rect l="l" t="t" r="r" b="b"/>
              <a:pathLst>
                <a:path w="3429000" h="8191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819150"/>
                  </a:lnTo>
                  <a:lnTo>
                    <a:pt x="0" y="81915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1F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6300" y="18478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04888" y="1959769"/>
              <a:ext cx="200025" cy="233362"/>
              <a:chOff x="1004888" y="1959769"/>
              <a:chExt cx="200025" cy="2333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54894" y="195976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50006" y="100012"/>
                    </a:moveTo>
                    <a:cubicBezTo>
                      <a:pt x="77624" y="100012"/>
                      <a:pt x="100012" y="77624"/>
                      <a:pt x="100012" y="50006"/>
                    </a:cubicBez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  <a:cubicBezTo>
                      <a:pt x="0" y="77624"/>
                      <a:pt x="22389" y="100012"/>
                      <a:pt x="50006" y="100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04888" y="2093119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200025" y="50006"/>
                    </a:moveTo>
                    <a:cubicBezTo>
                      <a:pt x="200025" y="22388"/>
                      <a:pt x="177637" y="0"/>
                      <a:pt x="150019" y="0"/>
                    </a:cubicBezTo>
                    <a:lnTo>
                      <a:pt x="50006" y="0"/>
                    </a:lnTo>
                    <a:cubicBezTo>
                      <a:pt x="22389" y="0"/>
                      <a:pt x="0" y="22388"/>
                      <a:pt x="0" y="50006"/>
                    </a:cubicBezTo>
                    <a:lnTo>
                      <a:pt x="0" y="100012"/>
                    </a:lnTo>
                    <a:lnTo>
                      <a:pt x="200025" y="100012"/>
                    </a:lnTo>
                    <a:lnTo>
                      <a:pt x="200025" y="500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630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72565" y="22107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备课与内容生产负担重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66775" y="28670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7755" y="28260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备课与录课成本高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0612" y="30980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需逐字撰写讲稿、重复录制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0612" y="33075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讲解视频。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66775" y="38576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7755" y="3816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讲授结构弱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612" y="40886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内容零散，缺少开场、讲解、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0612" y="42981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过渡的教学脚本结构。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66775" y="48482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7755" y="4807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反馈不足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0612" y="50792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难及时掌握学生自主学习中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0612" y="5288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的疑问与理解困难。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381500" y="1657350"/>
            <a:ext cx="3429000" cy="4533900"/>
            <a:chOff x="4381500" y="1657350"/>
            <a:chExt cx="3429000" cy="4533900"/>
          </a:xfrm>
        </p:grpSpPr>
        <p:sp>
          <p:nvSpPr>
            <p:cNvPr id="40" name="Rectangle 40"/>
            <p:cNvSpPr/>
            <p:nvPr/>
          </p:nvSpPr>
          <p:spPr>
            <a:xfrm>
              <a:off x="4381500" y="1657350"/>
              <a:ext cx="3429000" cy="45339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3750"/>
                </a:srgbClr>
              </a:outerShdw>
            </a:effectLst>
          </p:spPr>
        </p:sp>
        <p:sp>
          <p:nvSpPr>
            <p:cNvPr id="41" name="Freeform 41"/>
            <p:cNvSpPr/>
            <p:nvPr/>
          </p:nvSpPr>
          <p:spPr>
            <a:xfrm>
              <a:off x="4381500" y="1657350"/>
              <a:ext cx="3429000" cy="819150"/>
            </a:xfrm>
            <a:custGeom>
              <a:avLst/>
              <a:gdLst/>
              <a:ahLst/>
              <a:cxnLst/>
              <a:rect l="l" t="t" r="r" b="b"/>
              <a:pathLst>
                <a:path w="3429000" h="8191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819150"/>
                  </a:lnTo>
                  <a:lnTo>
                    <a:pt x="0" y="81915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1ECFE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648200" y="18478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743450" y="1959769"/>
              <a:ext cx="266700" cy="233362"/>
              <a:chOff x="4743450" y="1959769"/>
              <a:chExt cx="266700" cy="2333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793456" y="195976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743450" y="207645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910138" y="207645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910138" y="19764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2349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44465" y="22107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自主学习缺少即时帮助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638675" y="28670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59655" y="2826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问答不精准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62512" y="30980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问答难关联当前课件上下文，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62512" y="3307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答案针对性不足。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638675" y="38576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859655" y="3816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进度易脱节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62512" y="40886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打断提问后，系统无法精准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62512" y="4298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续接原有讲授进度。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638675" y="48482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59655" y="4807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缺个性化补讲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62512" y="50792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无法按理解程度补充讲解或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62512" y="52887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动态调整节奏。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153400" y="1657350"/>
            <a:ext cx="3429000" cy="4533900"/>
            <a:chOff x="8153400" y="1657350"/>
            <a:chExt cx="3429000" cy="4533900"/>
          </a:xfrm>
        </p:grpSpPr>
        <p:sp>
          <p:nvSpPr>
            <p:cNvPr id="63" name="Rectangle 63"/>
            <p:cNvSpPr/>
            <p:nvPr/>
          </p:nvSpPr>
          <p:spPr>
            <a:xfrm>
              <a:off x="8153400" y="1657350"/>
              <a:ext cx="3429000" cy="45339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3750"/>
                </a:srgbClr>
              </a:outerShdw>
            </a:effectLst>
          </p:spPr>
        </p:sp>
        <p:sp>
          <p:nvSpPr>
            <p:cNvPr id="64" name="Freeform 64"/>
            <p:cNvSpPr/>
            <p:nvPr/>
          </p:nvSpPr>
          <p:spPr>
            <a:xfrm>
              <a:off x="8153400" y="1657350"/>
              <a:ext cx="3429000" cy="819150"/>
            </a:xfrm>
            <a:custGeom>
              <a:avLst/>
              <a:gdLst/>
              <a:ahLst/>
              <a:cxnLst/>
              <a:rect l="l" t="t" r="r" b="b"/>
              <a:pathLst>
                <a:path w="3429000" h="8191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819150"/>
                  </a:lnTo>
                  <a:lnTo>
                    <a:pt x="0" y="81915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6F7F4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420100" y="18478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515350" y="1976438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26670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266700" y="200025"/>
                  </a:lnTo>
                  <a:lnTo>
                    <a:pt x="266700" y="0"/>
                  </a:lnTo>
                  <a:close/>
                  <a:moveTo>
                    <a:pt x="50006" y="66675"/>
                  </a:moveTo>
                  <a:cubicBezTo>
                    <a:pt x="59212" y="66675"/>
                    <a:pt x="66675" y="59212"/>
                    <a:pt x="66675" y="50006"/>
                  </a:cubicBezTo>
                  <a:cubicBezTo>
                    <a:pt x="66675" y="40800"/>
                    <a:pt x="59212" y="33338"/>
                    <a:pt x="50006" y="33338"/>
                  </a:cubicBezTo>
                  <a:cubicBezTo>
                    <a:pt x="40800" y="33338"/>
                    <a:pt x="33338" y="40800"/>
                    <a:pt x="33338" y="50006"/>
                  </a:cubicBezTo>
                  <a:cubicBezTo>
                    <a:pt x="33338" y="59212"/>
                    <a:pt x="40800" y="66675"/>
                    <a:pt x="50006" y="66675"/>
                  </a:cubicBezTo>
                  <a:close/>
                  <a:moveTo>
                    <a:pt x="125016" y="50006"/>
                  </a:moveTo>
                  <a:cubicBezTo>
                    <a:pt x="125016" y="59212"/>
                    <a:pt x="117553" y="66675"/>
                    <a:pt x="108347" y="66675"/>
                  </a:cubicBezTo>
                  <a:cubicBezTo>
                    <a:pt x="99141" y="66675"/>
                    <a:pt x="91678" y="59212"/>
                    <a:pt x="91678" y="50006"/>
                  </a:cubicBezTo>
                  <a:cubicBezTo>
                    <a:pt x="91678" y="40800"/>
                    <a:pt x="99141" y="33338"/>
                    <a:pt x="108347" y="33338"/>
                  </a:cubicBezTo>
                  <a:cubicBezTo>
                    <a:pt x="117553" y="33338"/>
                    <a:pt x="125016" y="40800"/>
                    <a:pt x="125016" y="50006"/>
                  </a:cubicBezTo>
                  <a:close/>
                  <a:moveTo>
                    <a:pt x="166688" y="66675"/>
                  </a:moveTo>
                  <a:cubicBezTo>
                    <a:pt x="175894" y="66675"/>
                    <a:pt x="183356" y="59212"/>
                    <a:pt x="183356" y="50006"/>
                  </a:cubicBezTo>
                  <a:cubicBezTo>
                    <a:pt x="183356" y="40800"/>
                    <a:pt x="175894" y="33338"/>
                    <a:pt x="166688" y="33338"/>
                  </a:cubicBezTo>
                  <a:cubicBezTo>
                    <a:pt x="157482" y="33338"/>
                    <a:pt x="150019" y="40800"/>
                    <a:pt x="150019" y="50006"/>
                  </a:cubicBezTo>
                  <a:cubicBezTo>
                    <a:pt x="150019" y="59212"/>
                    <a:pt x="157482" y="66675"/>
                    <a:pt x="166688" y="666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068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平台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16365" y="22107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轻量集成与可扩展诉求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410575" y="28670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631555" y="28260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静态课件智化难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34412" y="30980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解析多停留在文本提取，难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34412" y="3307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识别知识点逻辑。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410575" y="38576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31555" y="38166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改造成本敏感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34412" y="40886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需轻量集成，不增加平台侧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34412" y="42981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过重改造负担。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8410575" y="48482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31555" y="4807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接口标准缺位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634412" y="50792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缺乏标准化、可异步对接的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34412" y="52887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接口与学情数据。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82" name="TextBox 82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9" grpId="0"/>
      <p:bldP spid="62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104900"/>
            <a:ext cx="3436287" cy="528638"/>
            <a:chOff x="609600" y="1104900"/>
            <a:chExt cx="343628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104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1153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一套底座，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两端分工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24000" y="1733550"/>
            <a:ext cx="4000500" cy="1123950"/>
            <a:chOff x="1524000" y="1733550"/>
            <a:chExt cx="4000500" cy="1123950"/>
          </a:xfrm>
        </p:grpSpPr>
        <p:sp>
          <p:nvSpPr>
            <p:cNvPr id="19" name="Rectangle 19"/>
            <p:cNvSpPr/>
            <p:nvPr/>
          </p:nvSpPr>
          <p:spPr>
            <a:xfrm>
              <a:off x="1524000" y="1733550"/>
              <a:ext cx="4000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9050">
              <a:solidFill>
                <a:srgbClr val="1E6F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52600" y="20002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902619" y="2133600"/>
              <a:ext cx="250031" cy="250031"/>
              <a:chOff x="1902619" y="2133600"/>
              <a:chExt cx="250031" cy="25003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902619" y="2195393"/>
                <a:ext cx="188239" cy="188238"/>
              </a:xfrm>
              <a:custGeom>
                <a:avLst/>
                <a:gdLst/>
                <a:ahLst/>
                <a:cxnLst/>
                <a:rect l="l" t="t" r="r" b="b"/>
                <a:pathLst>
                  <a:path w="188239" h="188238">
                    <a:moveTo>
                      <a:pt x="121563" y="0"/>
                    </a:moveTo>
                    <a:lnTo>
                      <a:pt x="0" y="121563"/>
                    </a:lnTo>
                    <a:lnTo>
                      <a:pt x="0" y="188238"/>
                    </a:lnTo>
                    <a:lnTo>
                      <a:pt x="66675" y="188238"/>
                    </a:lnTo>
                    <a:lnTo>
                      <a:pt x="188239" y="66675"/>
                    </a:lnTo>
                    <a:lnTo>
                      <a:pt x="121563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047755" y="2133600"/>
                <a:ext cx="104895" cy="104895"/>
              </a:xfrm>
              <a:custGeom>
                <a:avLst/>
                <a:gdLst/>
                <a:ahLst/>
                <a:cxnLst/>
                <a:rect l="l" t="t" r="r" b="b"/>
                <a:pathLst>
                  <a:path w="104895" h="104895">
                    <a:moveTo>
                      <a:pt x="0" y="38220"/>
                    </a:moveTo>
                    <a:lnTo>
                      <a:pt x="66675" y="104895"/>
                    </a:lnTo>
                    <a:lnTo>
                      <a:pt x="91086" y="80484"/>
                    </a:lnTo>
                    <a:cubicBezTo>
                      <a:pt x="99927" y="71642"/>
                      <a:pt x="104895" y="59650"/>
                      <a:pt x="104895" y="47146"/>
                    </a:cubicBezTo>
                    <a:cubicBezTo>
                      <a:pt x="104895" y="21108"/>
                      <a:pt x="83787" y="0"/>
                      <a:pt x="57749" y="0"/>
                    </a:cubicBezTo>
                    <a:cubicBezTo>
                      <a:pt x="45244" y="0"/>
                      <a:pt x="33252" y="4967"/>
                      <a:pt x="24411" y="13809"/>
                    </a:cubicBez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4536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0308" y="2396014"/>
              <a:ext cx="26592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智课生成 · 脚本编辑 · 发布 · 学情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0" y="1733550"/>
            <a:ext cx="4000500" cy="1123950"/>
            <a:chOff x="6667500" y="1733550"/>
            <a:chExt cx="4000500" cy="1123950"/>
          </a:xfrm>
        </p:grpSpPr>
        <p:sp>
          <p:nvSpPr>
            <p:cNvPr id="27" name="Rectangle 27"/>
            <p:cNvSpPr/>
            <p:nvPr/>
          </p:nvSpPr>
          <p:spPr>
            <a:xfrm>
              <a:off x="6667500" y="1733550"/>
              <a:ext cx="4000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9050">
              <a:solidFill>
                <a:srgbClr val="7B5BE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96100" y="20002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029450" y="2150269"/>
              <a:ext cx="266700" cy="233362"/>
              <a:chOff x="7029450" y="2150269"/>
              <a:chExt cx="266700" cy="2333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079456" y="215026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29450" y="226695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196138" y="226695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96138" y="21669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971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3808" y="2396014"/>
              <a:ext cx="28292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课程学习 · 上下文问答 · 续学 · 强化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524250" y="2914650"/>
            <a:ext cx="5143501" cy="381000"/>
            <a:chOff x="3524250" y="2914650"/>
            <a:chExt cx="5143501" cy="381000"/>
          </a:xfrm>
        </p:grpSpPr>
        <p:sp>
          <p:nvSpPr>
            <p:cNvPr id="37" name="Line 37"/>
            <p:cNvSpPr/>
            <p:nvPr/>
          </p:nvSpPr>
          <p:spPr>
            <a:xfrm flipV="1">
              <a:off x="3524250" y="2914650"/>
              <a:ext cx="1" cy="381000"/>
            </a:xfrm>
            <a:prstGeom prst="line">
              <a:avLst/>
            </a:prstGeom>
            <a:noFill/>
            <a:ln w="28575">
              <a:solidFill>
                <a:srgbClr val="1E6FE0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 flipV="1">
              <a:off x="8667750" y="2914650"/>
              <a:ext cx="1" cy="381000"/>
            </a:xfrm>
            <a:prstGeom prst="line">
              <a:avLst/>
            </a:prstGeom>
            <a:noFill/>
            <a:ln w="28575">
              <a:solidFill>
                <a:srgbClr val="7B5BE0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10056" y="3048952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统一能力 · 双端分发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24000" y="3314700"/>
            <a:ext cx="9144000" cy="1962150"/>
            <a:chOff x="1524000" y="3314700"/>
            <a:chExt cx="9144000" cy="1962150"/>
          </a:xfrm>
        </p:grpSpPr>
        <p:sp>
          <p:nvSpPr>
            <p:cNvPr id="41" name="Rectangle 41"/>
            <p:cNvSpPr/>
            <p:nvPr/>
          </p:nvSpPr>
          <p:spPr>
            <a:xfrm>
              <a:off x="1524000" y="3314700"/>
              <a:ext cx="9144000" cy="1962150"/>
            </a:xfrm>
            <a:prstGeom prst="roundRect">
              <a:avLst>
                <a:gd name="adj" fmla="val 7767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1733550" y="3514725"/>
              <a:ext cx="26844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一套 AI 底座 · 统一能力中枢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64870" y="3563302"/>
              <a:ext cx="1587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FD8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三层协同 · 大模型外部化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752600" y="3867150"/>
              <a:ext cx="2743200" cy="1181100"/>
              <a:chOff x="1752600" y="3867150"/>
              <a:chExt cx="2743200" cy="11811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1752600" y="3867150"/>
                <a:ext cx="2743200" cy="118110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943100" y="4079081"/>
                <a:ext cx="32385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42888">
                    <a:moveTo>
                      <a:pt x="323850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323850" y="242888"/>
                    </a:lnTo>
                    <a:lnTo>
                      <a:pt x="323850" y="0"/>
                    </a:lnTo>
                    <a:close/>
                    <a:moveTo>
                      <a:pt x="60722" y="80962"/>
                    </a:moveTo>
                    <a:cubicBezTo>
                      <a:pt x="71900" y="80962"/>
                      <a:pt x="80962" y="71900"/>
                      <a:pt x="80962" y="60722"/>
                    </a:cubicBezTo>
                    <a:cubicBezTo>
                      <a:pt x="80962" y="49543"/>
                      <a:pt x="71900" y="40481"/>
                      <a:pt x="60722" y="40481"/>
                    </a:cubicBezTo>
                    <a:cubicBezTo>
                      <a:pt x="49543" y="40481"/>
                      <a:pt x="40481" y="49543"/>
                      <a:pt x="40481" y="60722"/>
                    </a:cubicBezTo>
                    <a:cubicBezTo>
                      <a:pt x="40481" y="71900"/>
                      <a:pt x="49543" y="80962"/>
                      <a:pt x="60722" y="80962"/>
                    </a:cubicBezTo>
                    <a:close/>
                    <a:moveTo>
                      <a:pt x="151805" y="60722"/>
                    </a:moveTo>
                    <a:cubicBezTo>
                      <a:pt x="151805" y="71900"/>
                      <a:pt x="142743" y="80962"/>
                      <a:pt x="131564" y="80962"/>
                    </a:cubicBezTo>
                    <a:cubicBezTo>
                      <a:pt x="120386" y="80962"/>
                      <a:pt x="111323" y="71900"/>
                      <a:pt x="111323" y="60722"/>
                    </a:cubicBezTo>
                    <a:cubicBezTo>
                      <a:pt x="111323" y="49543"/>
                      <a:pt x="120386" y="40481"/>
                      <a:pt x="131564" y="40481"/>
                    </a:cubicBezTo>
                    <a:cubicBezTo>
                      <a:pt x="142743" y="40481"/>
                      <a:pt x="151805" y="49543"/>
                      <a:pt x="151805" y="60722"/>
                    </a:cubicBezTo>
                    <a:close/>
                    <a:moveTo>
                      <a:pt x="202406" y="80962"/>
                    </a:moveTo>
                    <a:cubicBezTo>
                      <a:pt x="213585" y="80962"/>
                      <a:pt x="222647" y="71900"/>
                      <a:pt x="222647" y="60722"/>
                    </a:cubicBezTo>
                    <a:cubicBezTo>
                      <a:pt x="222647" y="49543"/>
                      <a:pt x="213585" y="40481"/>
                      <a:pt x="202406" y="40481"/>
                    </a:cubicBezTo>
                    <a:cubicBezTo>
                      <a:pt x="191228" y="40481"/>
                      <a:pt x="182166" y="49543"/>
                      <a:pt x="182166" y="60722"/>
                    </a:cubicBezTo>
                    <a:cubicBezTo>
                      <a:pt x="182166" y="71900"/>
                      <a:pt x="191228" y="80962"/>
                      <a:pt x="202406" y="80962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2345055" y="41214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前端交互层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28812" y="4507706"/>
                <a:ext cx="16712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Vue 3 教师端 / 学生端，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928812" y="4717256"/>
                <a:ext cx="19788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课件管理、学习与问答交互。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724400" y="3867150"/>
              <a:ext cx="2743200" cy="1181100"/>
              <a:chOff x="4724400" y="3867150"/>
              <a:chExt cx="2743200" cy="11811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724400" y="3867150"/>
                <a:ext cx="2743200" cy="118110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921414" y="4038600"/>
                <a:ext cx="310823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10823" h="323850">
                    <a:moveTo>
                      <a:pt x="125051" y="0"/>
                    </a:moveTo>
                    <a:lnTo>
                      <a:pt x="185773" y="0"/>
                    </a:lnTo>
                    <a:lnTo>
                      <a:pt x="197793" y="48081"/>
                    </a:lnTo>
                    <a:cubicBezTo>
                      <a:pt x="210620" y="52858"/>
                      <a:pt x="222422" y="59741"/>
                      <a:pt x="232777" y="68310"/>
                    </a:cubicBezTo>
                    <a:lnTo>
                      <a:pt x="280462" y="54669"/>
                    </a:lnTo>
                    <a:lnTo>
                      <a:pt x="310823" y="107256"/>
                    </a:lnTo>
                    <a:lnTo>
                      <a:pt x="275181" y="141718"/>
                    </a:lnTo>
                    <a:cubicBezTo>
                      <a:pt x="276282" y="148290"/>
                      <a:pt x="276855" y="155041"/>
                      <a:pt x="276855" y="161925"/>
                    </a:cubicBezTo>
                    <a:cubicBezTo>
                      <a:pt x="276855" y="168809"/>
                      <a:pt x="276282" y="175560"/>
                      <a:pt x="275181" y="182132"/>
                    </a:cubicBezTo>
                    <a:lnTo>
                      <a:pt x="310823" y="216595"/>
                    </a:lnTo>
                    <a:lnTo>
                      <a:pt x="280462" y="269180"/>
                    </a:lnTo>
                    <a:lnTo>
                      <a:pt x="232777" y="255540"/>
                    </a:lnTo>
                    <a:cubicBezTo>
                      <a:pt x="222422" y="264108"/>
                      <a:pt x="210620" y="270992"/>
                      <a:pt x="197793" y="275768"/>
                    </a:cubicBezTo>
                    <a:lnTo>
                      <a:pt x="185773" y="323850"/>
                    </a:lnTo>
                    <a:lnTo>
                      <a:pt x="125051" y="323850"/>
                    </a:lnTo>
                    <a:lnTo>
                      <a:pt x="113030" y="275768"/>
                    </a:lnTo>
                    <a:cubicBezTo>
                      <a:pt x="100203" y="270992"/>
                      <a:pt x="88402" y="264108"/>
                      <a:pt x="78045" y="255540"/>
                    </a:cubicBezTo>
                    <a:lnTo>
                      <a:pt x="30361" y="269180"/>
                    </a:lnTo>
                    <a:lnTo>
                      <a:pt x="0" y="216595"/>
                    </a:lnTo>
                    <a:lnTo>
                      <a:pt x="35641" y="182132"/>
                    </a:lnTo>
                    <a:cubicBezTo>
                      <a:pt x="34541" y="175560"/>
                      <a:pt x="33968" y="168809"/>
                      <a:pt x="33968" y="161925"/>
                    </a:cubicBezTo>
                    <a:cubicBezTo>
                      <a:pt x="33968" y="155041"/>
                      <a:pt x="34541" y="148290"/>
                      <a:pt x="35641" y="141718"/>
                    </a:cubicBezTo>
                    <a:lnTo>
                      <a:pt x="0" y="107256"/>
                    </a:lnTo>
                    <a:lnTo>
                      <a:pt x="30361" y="54669"/>
                    </a:lnTo>
                    <a:lnTo>
                      <a:pt x="78045" y="68310"/>
                    </a:lnTo>
                    <a:cubicBezTo>
                      <a:pt x="88402" y="59741"/>
                      <a:pt x="100203" y="52858"/>
                      <a:pt x="113030" y="48081"/>
                    </a:cubicBezTo>
                    <a:lnTo>
                      <a:pt x="125051" y="0"/>
                    </a:lnTo>
                    <a:close/>
                    <a:moveTo>
                      <a:pt x="155412" y="202406"/>
                    </a:moveTo>
                    <a:cubicBezTo>
                      <a:pt x="177769" y="202406"/>
                      <a:pt x="195893" y="184282"/>
                      <a:pt x="195893" y="161925"/>
                    </a:cubicBezTo>
                    <a:cubicBezTo>
                      <a:pt x="195893" y="139568"/>
                      <a:pt x="177769" y="121444"/>
                      <a:pt x="155412" y="121444"/>
                    </a:cubicBezTo>
                    <a:cubicBezTo>
                      <a:pt x="133054" y="121444"/>
                      <a:pt x="114930" y="139568"/>
                      <a:pt x="114930" y="161925"/>
                    </a:cubicBezTo>
                    <a:cubicBezTo>
                      <a:pt x="114930" y="184282"/>
                      <a:pt x="133054" y="202406"/>
                      <a:pt x="155412" y="202406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316855" y="41214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业务编排层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900612" y="4507706"/>
                <a:ext cx="17387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Go 后端：鉴权、状态机、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900612" y="4717256"/>
                <a:ext cx="18363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SSE 代理、OpenAPI 适配。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696200" y="3867150"/>
              <a:ext cx="2743200" cy="1181100"/>
              <a:chOff x="7696200" y="3867150"/>
              <a:chExt cx="2743200" cy="1181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696200" y="3867150"/>
                <a:ext cx="2743200" cy="118110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7886700" y="4038600"/>
                <a:ext cx="323850" cy="323850"/>
                <a:chOff x="7886700" y="4038600"/>
                <a:chExt cx="323850" cy="3238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048625" y="4038600"/>
                  <a:ext cx="141684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84" h="141684">
                      <a:moveTo>
                        <a:pt x="0" y="60722"/>
                      </a:moveTo>
                      <a:lnTo>
                        <a:pt x="50602" y="50602"/>
                      </a:lnTo>
                      <a:lnTo>
                        <a:pt x="60722" y="0"/>
                      </a:lnTo>
                      <a:lnTo>
                        <a:pt x="80962" y="0"/>
                      </a:lnTo>
                      <a:lnTo>
                        <a:pt x="91083" y="50602"/>
                      </a:lnTo>
                      <a:lnTo>
                        <a:pt x="141684" y="60722"/>
                      </a:lnTo>
                      <a:lnTo>
                        <a:pt x="141684" y="80962"/>
                      </a:lnTo>
                      <a:lnTo>
                        <a:pt x="91083" y="91083"/>
                      </a:lnTo>
                      <a:lnTo>
                        <a:pt x="80962" y="141684"/>
                      </a:lnTo>
                      <a:lnTo>
                        <a:pt x="60722" y="141684"/>
                      </a:lnTo>
                      <a:lnTo>
                        <a:pt x="50602" y="91083"/>
                      </a:lnTo>
                      <a:lnTo>
                        <a:pt x="0" y="80962"/>
                      </a:lnTo>
                      <a:lnTo>
                        <a:pt x="0" y="60722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886700" y="4139803"/>
                  <a:ext cx="222647" cy="222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7" h="222647">
                      <a:moveTo>
                        <a:pt x="0" y="121444"/>
                      </a:moveTo>
                      <a:lnTo>
                        <a:pt x="0" y="101203"/>
                      </a:lnTo>
                      <a:lnTo>
                        <a:pt x="80962" y="80962"/>
                      </a:lnTo>
                      <a:lnTo>
                        <a:pt x="101203" y="0"/>
                      </a:lnTo>
                      <a:lnTo>
                        <a:pt x="121444" y="0"/>
                      </a:lnTo>
                      <a:lnTo>
                        <a:pt x="141684" y="80962"/>
                      </a:lnTo>
                      <a:lnTo>
                        <a:pt x="222647" y="101203"/>
                      </a:lnTo>
                      <a:lnTo>
                        <a:pt x="222647" y="121444"/>
                      </a:lnTo>
                      <a:lnTo>
                        <a:pt x="141684" y="141684"/>
                      </a:lnTo>
                      <a:lnTo>
                        <a:pt x="121444" y="222647"/>
                      </a:lnTo>
                      <a:lnTo>
                        <a:pt x="101203" y="222647"/>
                      </a:lnTo>
                      <a:lnTo>
                        <a:pt x="80962" y="141684"/>
                      </a:lnTo>
                      <a:lnTo>
                        <a:pt x="0" y="121444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906941" y="4048720"/>
                  <a:ext cx="60722" cy="60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22" h="60722">
                      <a:moveTo>
                        <a:pt x="0" y="30361"/>
                      </a:moveTo>
                      <a:lnTo>
                        <a:pt x="30361" y="0"/>
                      </a:lnTo>
                      <a:lnTo>
                        <a:pt x="60722" y="30361"/>
                      </a:lnTo>
                      <a:lnTo>
                        <a:pt x="30361" y="60722"/>
                      </a:lnTo>
                      <a:lnTo>
                        <a:pt x="0" y="30361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109347" y="4281488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80962" y="40481"/>
                      </a:moveTo>
                      <a:lnTo>
                        <a:pt x="40481" y="0"/>
                      </a:lnTo>
                      <a:lnTo>
                        <a:pt x="0" y="40481"/>
                      </a:lnTo>
                      <a:lnTo>
                        <a:pt x="40481" y="80962"/>
                      </a:lnTo>
                      <a:lnTo>
                        <a:pt x="80962" y="40481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170069" y="4200525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20241" y="40481"/>
                      </a:moveTo>
                      <a:cubicBezTo>
                        <a:pt x="31420" y="40481"/>
                        <a:pt x="40481" y="31419"/>
                        <a:pt x="40481" y="20241"/>
                      </a:cubicBezTo>
                      <a:cubicBezTo>
                        <a:pt x="40481" y="9062"/>
                        <a:pt x="31420" y="0"/>
                        <a:pt x="20241" y="0"/>
                      </a:cubicBezTo>
                      <a:cubicBezTo>
                        <a:pt x="9062" y="0"/>
                        <a:pt x="0" y="9062"/>
                        <a:pt x="0" y="20241"/>
                      </a:cubicBezTo>
                      <a:cubicBezTo>
                        <a:pt x="0" y="31419"/>
                        <a:pt x="9062" y="40481"/>
                        <a:pt x="20241" y="40481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8288655" y="41214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能力中台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872412" y="4507706"/>
                <a:ext cx="19338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Dify + Python 引擎：解析、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872412" y="47172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 问答、TTS 语音合成。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1524000" y="5486400"/>
            <a:ext cx="9144000" cy="533400"/>
            <a:chOff x="1524000" y="5486400"/>
            <a:chExt cx="9144000" cy="533400"/>
          </a:xfrm>
        </p:grpSpPr>
        <p:sp>
          <p:nvSpPr>
            <p:cNvPr id="68" name="Rectangle 68"/>
            <p:cNvSpPr/>
            <p:nvPr/>
          </p:nvSpPr>
          <p:spPr>
            <a:xfrm>
              <a:off x="1524000" y="5486400"/>
              <a:ext cx="9144000" cy="533400"/>
            </a:xfrm>
            <a:prstGeom prst="roundRect">
              <a:avLst>
                <a:gd name="adj" fmla="val 21429"/>
              </a:avLst>
            </a:prstGeom>
            <a:solidFill>
              <a:srgbClr val="EAFBF8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1771650" y="56007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95250" y="0"/>
                  </a:moveTo>
                  <a:lnTo>
                    <a:pt x="95250" y="76200"/>
                  </a:lnTo>
                  <a:lnTo>
                    <a:pt x="171450" y="76200"/>
                  </a:lnTo>
                  <a:lnTo>
                    <a:pt x="171450" y="0"/>
                  </a:lnTo>
                  <a:lnTo>
                    <a:pt x="209550" y="0"/>
                  </a:lnTo>
                  <a:lnTo>
                    <a:pt x="209550" y="76200"/>
                  </a:lnTo>
                  <a:lnTo>
                    <a:pt x="266700" y="76200"/>
                  </a:lnTo>
                  <a:lnTo>
                    <a:pt x="266700" y="114300"/>
                  </a:lnTo>
                  <a:lnTo>
                    <a:pt x="228600" y="114300"/>
                  </a:lnTo>
                  <a:lnTo>
                    <a:pt x="228600" y="152400"/>
                  </a:lnTo>
                  <a:cubicBezTo>
                    <a:pt x="228600" y="198482"/>
                    <a:pt x="195876" y="236919"/>
                    <a:pt x="152400" y="245745"/>
                  </a:cubicBezTo>
                  <a:lnTo>
                    <a:pt x="152400" y="304800"/>
                  </a:lnTo>
                  <a:lnTo>
                    <a:pt x="114300" y="304800"/>
                  </a:lnTo>
                  <a:lnTo>
                    <a:pt x="114300" y="245745"/>
                  </a:lnTo>
                  <a:cubicBezTo>
                    <a:pt x="70823" y="236919"/>
                    <a:pt x="38100" y="198482"/>
                    <a:pt x="38100" y="152400"/>
                  </a:cubicBezTo>
                  <a:lnTo>
                    <a:pt x="38100" y="114300"/>
                  </a:lnTo>
                  <a:lnTo>
                    <a:pt x="0" y="114300"/>
                  </a:lnTo>
                  <a:lnTo>
                    <a:pt x="0" y="76200"/>
                  </a:lnTo>
                  <a:lnTo>
                    <a:pt x="57150" y="76200"/>
                  </a:lnTo>
                  <a:lnTo>
                    <a:pt x="5715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155508" y="5682139"/>
              <a:ext cx="75481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OpenAPI 适配层与泛雅平台轻量集成 —— 底座统一沉淀能力，向教师端、学生端两端分发。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6" grpId="0"/>
      <p:bldP spid="40" grpId="0"/>
      <p:bldP spid="67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47750"/>
            <a:ext cx="7435186" cy="528638"/>
            <a:chOff x="609600" y="1047750"/>
            <a:chExt cx="7435186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477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58228"/>
              <a:ext cx="72770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教师端：把备课从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"逐字撰写"</a:t>
              </a:r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变成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"编辑确认"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2955" y="1549718"/>
            <a:ext cx="84953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上传课件即自动生成结构化讲授脚本，教师编辑确认后一键发布；五项能力覆盖从备课到学情的完整闭环。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09600" y="2057400"/>
            <a:ext cx="2057400" cy="3905250"/>
            <a:chOff x="609600" y="2057400"/>
            <a:chExt cx="20574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6096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71550" y="253365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152400" y="0"/>
                  </a:moveTo>
                  <a:cubicBezTo>
                    <a:pt x="194483" y="0"/>
                    <a:pt x="228600" y="34116"/>
                    <a:pt x="228600" y="76200"/>
                  </a:cubicBezTo>
                  <a:lnTo>
                    <a:pt x="228600" y="95250"/>
                  </a:lnTo>
                  <a:cubicBezTo>
                    <a:pt x="270683" y="95250"/>
                    <a:pt x="304800" y="129366"/>
                    <a:pt x="304800" y="171450"/>
                  </a:cubicBezTo>
                  <a:lnTo>
                    <a:pt x="304800" y="228600"/>
                  </a:lnTo>
                  <a:lnTo>
                    <a:pt x="171450" y="228600"/>
                  </a:lnTo>
                  <a:lnTo>
                    <a:pt x="209550" y="190500"/>
                  </a:lnTo>
                  <a:lnTo>
                    <a:pt x="209550" y="171450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33350" y="114300"/>
                  </a:lnTo>
                  <a:lnTo>
                    <a:pt x="133350" y="171450"/>
                  </a:lnTo>
                  <a:lnTo>
                    <a:pt x="95250" y="171450"/>
                  </a:lnTo>
                  <a:lnTo>
                    <a:pt x="95250" y="190500"/>
                  </a:lnTo>
                  <a:lnTo>
                    <a:pt x="133350" y="228600"/>
                  </a:lnTo>
                  <a:lnTo>
                    <a:pt x="0" y="228600"/>
                  </a:lnTo>
                  <a:lnTo>
                    <a:pt x="0" y="152400"/>
                  </a:lnTo>
                  <a:cubicBezTo>
                    <a:pt x="0" y="110316"/>
                    <a:pt x="34116" y="76200"/>
                    <a:pt x="76200" y="76200"/>
                  </a:cubicBezTo>
                  <a:cubicBezTo>
                    <a:pt x="76200" y="34116"/>
                    <a:pt x="110316" y="0"/>
                    <a:pt x="152400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1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课件上传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770" y="3503295"/>
              <a:ext cx="4450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912" y="384095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 PPT / PDF 课件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91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上传，自动触发后台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9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解析任务。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838450" y="2057400"/>
            <a:ext cx="2057400" cy="3905250"/>
            <a:chOff x="2838450" y="2057400"/>
            <a:chExt cx="2057400" cy="3905250"/>
          </a:xfrm>
        </p:grpSpPr>
        <p:sp>
          <p:nvSpPr>
            <p:cNvPr id="30" name="Rectangle 30"/>
            <p:cNvSpPr/>
            <p:nvPr/>
          </p:nvSpPr>
          <p:spPr>
            <a:xfrm>
              <a:off x="28384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28384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670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200400" y="2495550"/>
              <a:ext cx="304800" cy="304800"/>
              <a:chOff x="3200400" y="2495550"/>
              <a:chExt cx="304800" cy="304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352800" y="24955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57150"/>
                    </a:moveTo>
                    <a:lnTo>
                      <a:pt x="47625" y="47625"/>
                    </a:lnTo>
                    <a:lnTo>
                      <a:pt x="57150" y="0"/>
                    </a:lnTo>
                    <a:lnTo>
                      <a:pt x="76200" y="0"/>
                    </a:lnTo>
                    <a:lnTo>
                      <a:pt x="85725" y="47625"/>
                    </a:lnTo>
                    <a:lnTo>
                      <a:pt x="133350" y="57150"/>
                    </a:lnTo>
                    <a:lnTo>
                      <a:pt x="133350" y="76200"/>
                    </a:lnTo>
                    <a:lnTo>
                      <a:pt x="85725" y="85725"/>
                    </a:lnTo>
                    <a:lnTo>
                      <a:pt x="76200" y="133350"/>
                    </a:lnTo>
                    <a:lnTo>
                      <a:pt x="57150" y="133350"/>
                    </a:lnTo>
                    <a:lnTo>
                      <a:pt x="47625" y="85725"/>
                    </a:lnTo>
                    <a:lnTo>
                      <a:pt x="0" y="7620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200400" y="259080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14300"/>
                    </a:moveTo>
                    <a:lnTo>
                      <a:pt x="0" y="95250"/>
                    </a:lnTo>
                    <a:lnTo>
                      <a:pt x="76200" y="76200"/>
                    </a:lnTo>
                    <a:lnTo>
                      <a:pt x="95250" y="0"/>
                    </a:lnTo>
                    <a:lnTo>
                      <a:pt x="114300" y="0"/>
                    </a:lnTo>
                    <a:lnTo>
                      <a:pt x="133350" y="76200"/>
                    </a:lnTo>
                    <a:lnTo>
                      <a:pt x="209550" y="95250"/>
                    </a:lnTo>
                    <a:lnTo>
                      <a:pt x="209550" y="114300"/>
                    </a:lnTo>
                    <a:lnTo>
                      <a:pt x="133350" y="133350"/>
                    </a:lnTo>
                    <a:lnTo>
                      <a:pt x="114300" y="209550"/>
                    </a:lnTo>
                    <a:lnTo>
                      <a:pt x="95250" y="209550"/>
                    </a:lnTo>
                    <a:lnTo>
                      <a:pt x="76200" y="1333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219450" y="25050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  <a:lnTo>
                      <a:pt x="28575" y="5715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409950" y="2724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38100" y="0"/>
                    </a:lnTo>
                    <a:lnTo>
                      <a:pt x="0" y="38100"/>
                    </a:lnTo>
                    <a:lnTo>
                      <a:pt x="38100" y="76200"/>
                    </a:lnTo>
                    <a:lnTo>
                      <a:pt x="76200" y="3810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467100" y="26479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04800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智课生成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5562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52762" y="38409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生成开场、讲解、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5276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过渡的结构化脚本与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527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配套语音。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067300" y="2057400"/>
            <a:ext cx="2057400" cy="3905250"/>
            <a:chOff x="5067300" y="2057400"/>
            <a:chExt cx="2057400" cy="3905250"/>
          </a:xfrm>
        </p:grpSpPr>
        <p:sp>
          <p:nvSpPr>
            <p:cNvPr id="45" name="Rectangle 45"/>
            <p:cNvSpPr/>
            <p:nvPr/>
          </p:nvSpPr>
          <p:spPr>
            <a:xfrm>
              <a:off x="50673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0673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959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448300" y="2495550"/>
              <a:ext cx="285750" cy="285750"/>
              <a:chOff x="5448300" y="2495550"/>
              <a:chExt cx="285750" cy="2857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448300" y="2566170"/>
                <a:ext cx="215130" cy="215130"/>
              </a:xfrm>
              <a:custGeom>
                <a:avLst/>
                <a:gdLst/>
                <a:ahLst/>
                <a:cxnLst/>
                <a:rect l="l" t="t" r="r" b="b"/>
                <a:pathLst>
                  <a:path w="215130" h="215130">
                    <a:moveTo>
                      <a:pt x="138930" y="0"/>
                    </a:moveTo>
                    <a:lnTo>
                      <a:pt x="0" y="138930"/>
                    </a:lnTo>
                    <a:lnTo>
                      <a:pt x="0" y="215130"/>
                    </a:lnTo>
                    <a:lnTo>
                      <a:pt x="76200" y="215130"/>
                    </a:lnTo>
                    <a:lnTo>
                      <a:pt x="215130" y="76200"/>
                    </a:lnTo>
                    <a:lnTo>
                      <a:pt x="13893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614170" y="2495550"/>
                <a:ext cx="11988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19880" h="119880">
                    <a:moveTo>
                      <a:pt x="0" y="43680"/>
                    </a:moveTo>
                    <a:lnTo>
                      <a:pt x="76200" y="119880"/>
                    </a:lnTo>
                    <a:lnTo>
                      <a:pt x="104099" y="91982"/>
                    </a:lnTo>
                    <a:cubicBezTo>
                      <a:pt x="114203" y="81877"/>
                      <a:pt x="119880" y="68172"/>
                      <a:pt x="119880" y="53882"/>
                    </a:cubicBezTo>
                    <a:cubicBezTo>
                      <a:pt x="119880" y="24124"/>
                      <a:pt x="95757" y="0"/>
                      <a:pt x="65999" y="0"/>
                    </a:cubicBezTo>
                    <a:cubicBezTo>
                      <a:pt x="51707" y="0"/>
                      <a:pt x="38003" y="5677"/>
                      <a:pt x="27899" y="15782"/>
                    </a:cubicBezTo>
                    <a:lnTo>
                      <a:pt x="0" y="4368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2768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脚本编辑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8447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03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1612" y="38409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在线增删改讲授节点、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1612" y="4069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调整顺序与表述，确认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16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教学内容。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296150" y="2057400"/>
            <a:ext cx="2057400" cy="3905250"/>
            <a:chOff x="7296150" y="2057400"/>
            <a:chExt cx="2057400" cy="3905250"/>
          </a:xfrm>
        </p:grpSpPr>
        <p:sp>
          <p:nvSpPr>
            <p:cNvPr id="57" name="Rectangle 57"/>
            <p:cNvSpPr/>
            <p:nvPr/>
          </p:nvSpPr>
          <p:spPr>
            <a:xfrm>
              <a:off x="72961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58" name="Rectangle 58"/>
            <p:cNvSpPr/>
            <p:nvPr/>
          </p:nvSpPr>
          <p:spPr>
            <a:xfrm>
              <a:off x="72961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247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658100" y="2495550"/>
              <a:ext cx="304800" cy="304800"/>
              <a:chOff x="7658100" y="2495550"/>
              <a:chExt cx="304800" cy="304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658100" y="24955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90500" y="304800"/>
                    </a:moveTo>
                    <a:lnTo>
                      <a:pt x="228600" y="266700"/>
                    </a:lnTo>
                    <a:lnTo>
                      <a:pt x="228600" y="190500"/>
                    </a:lnTo>
                    <a:lnTo>
                      <a:pt x="260164" y="158937"/>
                    </a:lnTo>
                    <a:cubicBezTo>
                      <a:pt x="288743" y="130356"/>
                      <a:pt x="304800" y="91593"/>
                      <a:pt x="304800" y="51174"/>
                    </a:cubicBezTo>
                    <a:lnTo>
                      <a:pt x="304800" y="0"/>
                    </a:lnTo>
                    <a:lnTo>
                      <a:pt x="253626" y="0"/>
                    </a:lnTo>
                    <a:cubicBezTo>
                      <a:pt x="213208" y="0"/>
                      <a:pt x="174444" y="16056"/>
                      <a:pt x="145863" y="44637"/>
                    </a:cubicBezTo>
                    <a:lnTo>
                      <a:pt x="114300" y="76200"/>
                    </a:lnTo>
                    <a:lnTo>
                      <a:pt x="38100" y="76200"/>
                    </a:lnTo>
                    <a:lnTo>
                      <a:pt x="0" y="114300"/>
                    </a:lnTo>
                    <a:lnTo>
                      <a:pt x="190500" y="304800"/>
                    </a:lnTo>
                    <a:close/>
                    <a:moveTo>
                      <a:pt x="200025" y="133350"/>
                    </a:moveTo>
                    <a:cubicBezTo>
                      <a:pt x="215806" y="133350"/>
                      <a:pt x="228600" y="120557"/>
                      <a:pt x="228600" y="104775"/>
                    </a:cubicBezTo>
                    <a:cubicBezTo>
                      <a:pt x="228600" y="88993"/>
                      <a:pt x="215806" y="76200"/>
                      <a:pt x="200025" y="76200"/>
                    </a:cubicBezTo>
                    <a:cubicBezTo>
                      <a:pt x="184243" y="76200"/>
                      <a:pt x="171450" y="88993"/>
                      <a:pt x="171450" y="104775"/>
                    </a:cubicBezTo>
                    <a:cubicBezTo>
                      <a:pt x="171450" y="120557"/>
                      <a:pt x="184243" y="133350"/>
                      <a:pt x="200025" y="13335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658100" y="2706483"/>
                <a:ext cx="93867" cy="93867"/>
              </a:xfrm>
              <a:custGeom>
                <a:avLst/>
                <a:gdLst/>
                <a:ahLst/>
                <a:cxnLst/>
                <a:rect l="l" t="t" r="r" b="b"/>
                <a:pathLst>
                  <a:path w="93867" h="93867">
                    <a:moveTo>
                      <a:pt x="93867" y="51115"/>
                    </a:moveTo>
                    <a:lnTo>
                      <a:pt x="42753" y="0"/>
                    </a:lnTo>
                    <a:lnTo>
                      <a:pt x="0" y="74817"/>
                    </a:lnTo>
                    <a:lnTo>
                      <a:pt x="19050" y="93867"/>
                    </a:lnTo>
                    <a:lnTo>
                      <a:pt x="93867" y="51115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50570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课程发布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1332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04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10462" y="3840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一键发布为可学习的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1046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互动智课，向学生端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104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开放学习。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525000" y="2057400"/>
            <a:ext cx="2057400" cy="3905250"/>
            <a:chOff x="9525000" y="2057400"/>
            <a:chExt cx="2057400" cy="3905250"/>
          </a:xfrm>
        </p:grpSpPr>
        <p:sp>
          <p:nvSpPr>
            <p:cNvPr id="69" name="Rectangle 69"/>
            <p:cNvSpPr/>
            <p:nvPr/>
          </p:nvSpPr>
          <p:spPr>
            <a:xfrm>
              <a:off x="95250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70" name="Rectangle 70"/>
            <p:cNvSpPr/>
            <p:nvPr/>
          </p:nvSpPr>
          <p:spPr>
            <a:xfrm>
              <a:off x="95250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7536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886950" y="2514600"/>
              <a:ext cx="304800" cy="266700"/>
              <a:chOff x="9886950" y="2514600"/>
              <a:chExt cx="304800" cy="2667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115550" y="25146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001250" y="25908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886950" y="26670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97345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学情查看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4217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05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39312" y="3840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查看学习进度、提问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39312" y="4069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记录与薄弱知识点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39312" y="429815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分布。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82" name="TextBox 82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4" grpId="0"/>
      <p:bldP spid="56" grpId="0"/>
      <p:bldP spid="68" grpId="0"/>
      <p:bldP spid="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47750"/>
            <a:ext cx="6649688" cy="528638"/>
            <a:chOff x="609600" y="1047750"/>
            <a:chExt cx="6649688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477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58228"/>
              <a:ext cx="64915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学生端：</a:t>
              </a:r>
              <a:r>
                <a:rPr lang="zh-CN" sz="255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边听讲边提问</a:t>
              </a:r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，问完自动接着学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2955" y="1549718"/>
            <a:ext cx="87203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学生像看一节"会讲课"的课程一样学习，随时就当前页提问，AI 判断理解程度后自动续接进度并强化薄弱点。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09600" y="2057400"/>
            <a:ext cx="2057400" cy="3905250"/>
            <a:chOff x="609600" y="2057400"/>
            <a:chExt cx="20574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6096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71550" y="2533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1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课程学习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770" y="350329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LEARN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912" y="3840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按结构化节点逐步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912" y="4069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观看 AI 讲授，像上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912" y="42981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一节真人课。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838450" y="2057400"/>
            <a:ext cx="2057400" cy="3905250"/>
            <a:chOff x="2838450" y="2057400"/>
            <a:chExt cx="2057400" cy="3905250"/>
          </a:xfrm>
        </p:grpSpPr>
        <p:sp>
          <p:nvSpPr>
            <p:cNvPr id="30" name="Rectangle 30"/>
            <p:cNvSpPr/>
            <p:nvPr/>
          </p:nvSpPr>
          <p:spPr>
            <a:xfrm>
              <a:off x="28384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28384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670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200400" y="2514600"/>
              <a:ext cx="304800" cy="284792"/>
              <a:chOff x="3200400" y="2514600"/>
              <a:chExt cx="304800" cy="28479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276600" y="25146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190500"/>
                    </a:lnTo>
                    <a:lnTo>
                      <a:pt x="76200" y="190500"/>
                    </a:lnTo>
                    <a:lnTo>
                      <a:pt x="114300" y="228600"/>
                    </a:lnTo>
                    <a:lnTo>
                      <a:pt x="152400" y="190500"/>
                    </a:lnTo>
                    <a:lnTo>
                      <a:pt x="228600" y="1905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200400" y="2590800"/>
                <a:ext cx="165870" cy="208592"/>
              </a:xfrm>
              <a:custGeom>
                <a:avLst/>
                <a:gdLst/>
                <a:ahLst/>
                <a:cxnLst/>
                <a:rect l="l" t="t" r="r" b="b"/>
                <a:pathLst>
                  <a:path w="165870" h="208592">
                    <a:moveTo>
                      <a:pt x="38100" y="0"/>
                    </a:moveTo>
                    <a:lnTo>
                      <a:pt x="38100" y="152400"/>
                    </a:lnTo>
                    <a:lnTo>
                      <a:pt x="136618" y="152400"/>
                    </a:lnTo>
                    <a:lnTo>
                      <a:pt x="165870" y="181651"/>
                    </a:lnTo>
                    <a:lnTo>
                      <a:pt x="138930" y="208592"/>
                    </a:lnTo>
                    <a:lnTo>
                      <a:pt x="120837" y="190500"/>
                    </a:lnTo>
                    <a:lnTo>
                      <a:pt x="0" y="190500"/>
                    </a:ln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048000" y="31718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上下文问答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55620" y="3503295"/>
              <a:ext cx="2307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ASK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52762" y="3840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随时就当前页提问，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52762" y="406955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结合本页内容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527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溯源作答。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67300" y="2057400"/>
            <a:ext cx="2057400" cy="3905250"/>
            <a:chOff x="5067300" y="2057400"/>
            <a:chExt cx="2057400" cy="3905250"/>
          </a:xfrm>
        </p:grpSpPr>
        <p:sp>
          <p:nvSpPr>
            <p:cNvPr id="42" name="Rectangle 42"/>
            <p:cNvSpPr/>
            <p:nvPr/>
          </p:nvSpPr>
          <p:spPr>
            <a:xfrm>
              <a:off x="50673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50673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2959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5448300" y="249555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38100" y="133350"/>
                  </a:moveTo>
                  <a:cubicBezTo>
                    <a:pt x="38100" y="80745"/>
                    <a:pt x="80745" y="38100"/>
                    <a:pt x="133350" y="38100"/>
                  </a:cubicBezTo>
                  <a:cubicBezTo>
                    <a:pt x="185955" y="38100"/>
                    <a:pt x="228600" y="80745"/>
                    <a:pt x="228600" y="133350"/>
                  </a:cubicBezTo>
                  <a:lnTo>
                    <a:pt x="228600" y="152400"/>
                  </a:lnTo>
                  <a:lnTo>
                    <a:pt x="171450" y="152400"/>
                  </a:lnTo>
                  <a:lnTo>
                    <a:pt x="171450" y="285750"/>
                  </a:lnTo>
                  <a:lnTo>
                    <a:pt x="209550" y="285750"/>
                  </a:lnTo>
                  <a:cubicBezTo>
                    <a:pt x="241114" y="285750"/>
                    <a:pt x="266700" y="260164"/>
                    <a:pt x="266700" y="228600"/>
                  </a:cubicBezTo>
                  <a:lnTo>
                    <a:pt x="266700" y="133350"/>
                  </a:lnTo>
                  <a:cubicBezTo>
                    <a:pt x="266700" y="59703"/>
                    <a:pt x="206997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lnTo>
                    <a:pt x="0" y="228600"/>
                  </a:lnTo>
                  <a:cubicBezTo>
                    <a:pt x="0" y="260164"/>
                    <a:pt x="25587" y="285750"/>
                    <a:pt x="57150" y="285750"/>
                  </a:cubicBezTo>
                  <a:lnTo>
                    <a:pt x="95250" y="285750"/>
                  </a:lnTo>
                  <a:lnTo>
                    <a:pt x="95250" y="152400"/>
                  </a:lnTo>
                  <a:lnTo>
                    <a:pt x="38100" y="152400"/>
                  </a:lnTo>
                  <a:lnTo>
                    <a:pt x="38100" y="13335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语音播放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84470" y="350329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LISTEN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81612" y="3840956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讲授脚本配 TTS 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161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音，支持边听边看，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16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解放双眼。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296150" y="2057400"/>
            <a:ext cx="2057400" cy="3905250"/>
            <a:chOff x="7296150" y="2057400"/>
            <a:chExt cx="2057400" cy="3905250"/>
          </a:xfrm>
        </p:grpSpPr>
        <p:sp>
          <p:nvSpPr>
            <p:cNvPr id="52" name="Rectangle 52"/>
            <p:cNvSpPr/>
            <p:nvPr/>
          </p:nvSpPr>
          <p:spPr>
            <a:xfrm>
              <a:off x="72961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72961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247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677150" y="2514600"/>
              <a:ext cx="266700" cy="266700"/>
              <a:chOff x="7677150" y="2514600"/>
              <a:chExt cx="266700" cy="2667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677150" y="2514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67650" y="2705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cubicBezTo>
                      <a:pt x="76200" y="59143"/>
                      <a:pt x="59143" y="76200"/>
                      <a:pt x="38100" y="76200"/>
                    </a:cubicBezTo>
                    <a:cubicBezTo>
                      <a:pt x="17057" y="76200"/>
                      <a:pt x="0" y="59143"/>
                      <a:pt x="0" y="38100"/>
                    </a:cubicBezTo>
                    <a:cubicBezTo>
                      <a:pt x="0" y="17057"/>
                      <a:pt x="17057" y="0"/>
                      <a:pt x="38100" y="0"/>
                    </a:cubicBezTo>
                    <a:cubicBezTo>
                      <a:pt x="59143" y="0"/>
                      <a:pt x="76200" y="17057"/>
                      <a:pt x="76200" y="3810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96200" y="25146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133350" y="66675"/>
                    </a:moveTo>
                    <a:cubicBezTo>
                      <a:pt x="133350" y="50893"/>
                      <a:pt x="146143" y="38100"/>
                      <a:pt x="161925" y="38100"/>
                    </a:cubicBezTo>
                    <a:cubicBezTo>
                      <a:pt x="177706" y="38100"/>
                      <a:pt x="190500" y="50893"/>
                      <a:pt x="190500" y="66675"/>
                    </a:cubicBezTo>
                    <a:lnTo>
                      <a:pt x="190500" y="152400"/>
                    </a:lnTo>
                    <a:lnTo>
                      <a:pt x="228600" y="152400"/>
                    </a:lnTo>
                    <a:lnTo>
                      <a:pt x="228600" y="66675"/>
                    </a:lnTo>
                    <a:cubicBezTo>
                      <a:pt x="228600" y="29851"/>
                      <a:pt x="198749" y="0"/>
                      <a:pt x="161925" y="0"/>
                    </a:cubicBezTo>
                    <a:cubicBezTo>
                      <a:pt x="125101" y="0"/>
                      <a:pt x="95250" y="29851"/>
                      <a:pt x="95250" y="66675"/>
                    </a:cubicBezTo>
                    <a:lnTo>
                      <a:pt x="95250" y="200025"/>
                    </a:lnTo>
                    <a:cubicBezTo>
                      <a:pt x="95250" y="215806"/>
                      <a:pt x="82457" y="228600"/>
                      <a:pt x="66675" y="228600"/>
                    </a:cubicBezTo>
                    <a:cubicBezTo>
                      <a:pt x="50893" y="228600"/>
                      <a:pt x="38100" y="215806"/>
                      <a:pt x="38100" y="200025"/>
                    </a:cubicBezTo>
                    <a:lnTo>
                      <a:pt x="38100" y="114300"/>
                    </a:lnTo>
                    <a:lnTo>
                      <a:pt x="0" y="114300"/>
                    </a:lnTo>
                    <a:lnTo>
                      <a:pt x="0" y="200025"/>
                    </a:lnTo>
                    <a:cubicBezTo>
                      <a:pt x="0" y="236849"/>
                      <a:pt x="29851" y="266700"/>
                      <a:pt x="66675" y="266700"/>
                    </a:cubicBezTo>
                    <a:cubicBezTo>
                      <a:pt x="103499" y="266700"/>
                      <a:pt x="133350" y="236849"/>
                      <a:pt x="133350" y="200025"/>
                    </a:cubicBezTo>
                    <a:lnTo>
                      <a:pt x="133350" y="6667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50570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断点续学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13320" y="3503295"/>
              <a:ext cx="463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RESUME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10462" y="3840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提问打断后，自动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1046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定位原节点，续讲或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04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重讲衔接。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525000" y="2057400"/>
            <a:ext cx="2057400" cy="3905250"/>
            <a:chOff x="9525000" y="2057400"/>
            <a:chExt cx="2057400" cy="3905250"/>
          </a:xfrm>
        </p:grpSpPr>
        <p:sp>
          <p:nvSpPr>
            <p:cNvPr id="65" name="Rectangle 65"/>
            <p:cNvSpPr/>
            <p:nvPr/>
          </p:nvSpPr>
          <p:spPr>
            <a:xfrm>
              <a:off x="95250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66" name="Rectangle 66"/>
            <p:cNvSpPr/>
            <p:nvPr/>
          </p:nvSpPr>
          <p:spPr>
            <a:xfrm>
              <a:off x="95250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7536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886950" y="2495550"/>
              <a:ext cx="304800" cy="304800"/>
              <a:chOff x="9886950" y="2495550"/>
              <a:chExt cx="304800" cy="304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9886950" y="24955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5624" y="38145"/>
                    </a:moveTo>
                    <a:cubicBezTo>
                      <a:pt x="154553" y="38115"/>
                      <a:pt x="153478" y="38100"/>
                      <a:pt x="152400" y="38100"/>
                    </a:cubicBezTo>
                    <a:cubicBezTo>
                      <a:pt x="89274" y="38100"/>
                      <a:pt x="38100" y="89274"/>
                      <a:pt x="38100" y="152400"/>
                    </a:cubicBezTo>
                    <a:cubicBezTo>
                      <a:pt x="38100" y="215526"/>
                      <a:pt x="89274" y="266700"/>
                      <a:pt x="152400" y="266700"/>
                    </a:cubicBezTo>
                    <a:cubicBezTo>
                      <a:pt x="215526" y="266700"/>
                      <a:pt x="266700" y="215526"/>
                      <a:pt x="266700" y="152400"/>
                    </a:cubicBezTo>
                    <a:cubicBezTo>
                      <a:pt x="266700" y="151322"/>
                      <a:pt x="266685" y="150247"/>
                      <a:pt x="266656" y="149176"/>
                    </a:cubicBezTo>
                    <a:lnTo>
                      <a:pt x="300308" y="115523"/>
                    </a:lnTo>
                    <a:cubicBezTo>
                      <a:pt x="303242" y="127332"/>
                      <a:pt x="304800" y="139684"/>
                      <a:pt x="304800" y="152400"/>
                    </a:cubicBezTo>
                    <a:cubicBezTo>
                      <a:pt x="304800" y="236569"/>
                      <a:pt x="236569" y="304800"/>
                      <a:pt x="152400" y="304800"/>
                    </a:cubicBezTo>
                    <a:cubicBezTo>
                      <a:pt x="68232" y="304800"/>
                      <a:pt x="0" y="236569"/>
                      <a:pt x="0" y="152400"/>
                    </a:cubicBezTo>
                    <a:cubicBezTo>
                      <a:pt x="0" y="68232"/>
                      <a:pt x="68232" y="0"/>
                      <a:pt x="152400" y="0"/>
                    </a:cubicBezTo>
                    <a:cubicBezTo>
                      <a:pt x="165116" y="0"/>
                      <a:pt x="177468" y="1557"/>
                      <a:pt x="189277" y="4492"/>
                    </a:cubicBezTo>
                    <a:lnTo>
                      <a:pt x="155624" y="38145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963150" y="2574150"/>
                <a:ext cx="150000" cy="15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50000">
                    <a:moveTo>
                      <a:pt x="0" y="73799"/>
                    </a:moveTo>
                    <a:cubicBezTo>
                      <a:pt x="0" y="38293"/>
                      <a:pt x="24284" y="8459"/>
                      <a:pt x="57150" y="0"/>
                    </a:cubicBezTo>
                    <a:lnTo>
                      <a:pt x="57150" y="40796"/>
                    </a:lnTo>
                    <a:cubicBezTo>
                      <a:pt x="45762" y="47384"/>
                      <a:pt x="38100" y="59697"/>
                      <a:pt x="38100" y="73799"/>
                    </a:cubicBezTo>
                    <a:cubicBezTo>
                      <a:pt x="38100" y="94841"/>
                      <a:pt x="55158" y="111899"/>
                      <a:pt x="76200" y="111899"/>
                    </a:cubicBezTo>
                    <a:cubicBezTo>
                      <a:pt x="90302" y="111899"/>
                      <a:pt x="102615" y="104237"/>
                      <a:pt x="109203" y="92849"/>
                    </a:cubicBezTo>
                    <a:lnTo>
                      <a:pt x="150000" y="92849"/>
                    </a:lnTo>
                    <a:cubicBezTo>
                      <a:pt x="141540" y="125715"/>
                      <a:pt x="111706" y="150000"/>
                      <a:pt x="76200" y="150000"/>
                    </a:cubicBezTo>
                    <a:cubicBezTo>
                      <a:pt x="34116" y="150000"/>
                      <a:pt x="0" y="115883"/>
                      <a:pt x="0" y="73799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0035405" y="2495550"/>
                <a:ext cx="156345" cy="156345"/>
              </a:xfrm>
              <a:custGeom>
                <a:avLst/>
                <a:gdLst/>
                <a:ahLst/>
                <a:cxnLst/>
                <a:rect l="l" t="t" r="r" b="b"/>
                <a:pathLst>
                  <a:path w="156345" h="156345">
                    <a:moveTo>
                      <a:pt x="118245" y="38100"/>
                    </a:moveTo>
                    <a:lnTo>
                      <a:pt x="99195" y="0"/>
                    </a:lnTo>
                    <a:lnTo>
                      <a:pt x="42045" y="57150"/>
                    </a:lnTo>
                    <a:lnTo>
                      <a:pt x="42045" y="87359"/>
                    </a:lnTo>
                    <a:lnTo>
                      <a:pt x="0" y="129405"/>
                    </a:lnTo>
                    <a:lnTo>
                      <a:pt x="26941" y="156345"/>
                    </a:lnTo>
                    <a:lnTo>
                      <a:pt x="68986" y="114300"/>
                    </a:lnTo>
                    <a:lnTo>
                      <a:pt x="99195" y="114300"/>
                    </a:lnTo>
                    <a:lnTo>
                      <a:pt x="156345" y="57150"/>
                    </a:lnTo>
                    <a:lnTo>
                      <a:pt x="118245" y="3810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734550" y="31718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薄弱点强化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42170" y="3503295"/>
              <a:ext cx="3946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FOCUS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39312" y="3840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依据理解程度针对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39312" y="4069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薄弱知识点补充讲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393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解与练习。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78" name="TextBox 78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1" grpId="0"/>
      <p:bldP spid="51" grpId="0"/>
      <p:bldP spid="64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47750"/>
            <a:ext cx="6292644" cy="528638"/>
            <a:chOff x="609600" y="1047750"/>
            <a:chExt cx="6292644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477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582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一条故事链，把两端串成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真实学习闭环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05000" y="2857500"/>
            <a:ext cx="8286750" cy="1714500"/>
            <a:chOff x="1905000" y="2857500"/>
            <a:chExt cx="8286750" cy="1714500"/>
          </a:xfrm>
        </p:grpSpPr>
        <p:sp>
          <p:nvSpPr>
            <p:cNvPr id="19" name="Freeform 19"/>
            <p:cNvSpPr/>
            <p:nvPr/>
          </p:nvSpPr>
          <p:spPr>
            <a:xfrm>
              <a:off x="1905000" y="2857500"/>
              <a:ext cx="8286750" cy="1714500"/>
            </a:xfrm>
            <a:custGeom>
              <a:avLst/>
              <a:gdLst/>
              <a:ahLst/>
              <a:cxnLst/>
              <a:rect l="l" t="t" r="r" b="b"/>
              <a:pathLst>
                <a:path w="8286750" h="1714500">
                  <a:moveTo>
                    <a:pt x="0" y="0"/>
                  </a:moveTo>
                  <a:lnTo>
                    <a:pt x="7429500" y="0"/>
                  </a:lnTo>
                  <a:cubicBezTo>
                    <a:pt x="7902946" y="0"/>
                    <a:pt x="8286750" y="383804"/>
                    <a:pt x="8286750" y="857250"/>
                  </a:cubicBezTo>
                  <a:cubicBezTo>
                    <a:pt x="8286750" y="1330696"/>
                    <a:pt x="7902946" y="1714500"/>
                    <a:pt x="7429500" y="1714500"/>
                  </a:cubicBezTo>
                  <a:lnTo>
                    <a:pt x="2476500" y="1714500"/>
                  </a:lnTo>
                </a:path>
              </a:pathLst>
            </a:custGeom>
            <a:noFill/>
            <a:ln w="228600" cap="rnd">
              <a:solidFill>
                <a:srgbClr val="E0E7FF"/>
              </a:solidFill>
              <a:round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76300" y="1962150"/>
            <a:ext cx="9486900" cy="552450"/>
            <a:chOff x="876300" y="1962150"/>
            <a:chExt cx="9486900" cy="552450"/>
          </a:xfrm>
        </p:grpSpPr>
        <p:grpSp>
          <p:nvGrpSpPr>
            <p:cNvPr id="24" name="Group 24"/>
            <p:cNvGrpSpPr/>
            <p:nvPr/>
          </p:nvGrpSpPr>
          <p:grpSpPr>
            <a:xfrm>
              <a:off x="876300" y="1962150"/>
              <a:ext cx="2057400" cy="552450"/>
              <a:chOff x="876300" y="1962150"/>
              <a:chExt cx="2057400" cy="5524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763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76300" y="1962150"/>
                <a:ext cx="2057400" cy="47625"/>
              </a:xfrm>
              <a:prstGeom prst="rect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3241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教师上传课件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52800" y="1962150"/>
              <a:ext cx="2057400" cy="552450"/>
              <a:chOff x="3352800" y="1962150"/>
              <a:chExt cx="2057400" cy="5524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3528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352800" y="1962150"/>
                <a:ext cx="2057400" cy="47625"/>
              </a:xfrm>
              <a:prstGeom prst="rect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905613" y="2129314"/>
                <a:ext cx="9517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生成智课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829300" y="1962150"/>
              <a:ext cx="2057400" cy="552450"/>
              <a:chOff x="5829300" y="1962150"/>
              <a:chExt cx="2057400" cy="5524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8293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829300" y="1962150"/>
                <a:ext cx="2057400" cy="47625"/>
              </a:xfrm>
              <a:prstGeom prst="rect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06241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教师编辑确认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305800" y="1962150"/>
              <a:ext cx="2057400" cy="552450"/>
              <a:chOff x="8305800" y="1962150"/>
              <a:chExt cx="2057400" cy="5524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3058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8305800" y="1962150"/>
                <a:ext cx="2057400" cy="47625"/>
              </a:xfrm>
              <a:prstGeom prst="rect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782741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学生进入学习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3352800" y="4933950"/>
            <a:ext cx="7010400" cy="552450"/>
            <a:chOff x="3352800" y="4933950"/>
            <a:chExt cx="7010400" cy="552450"/>
          </a:xfrm>
        </p:grpSpPr>
        <p:grpSp>
          <p:nvGrpSpPr>
            <p:cNvPr id="41" name="Group 41"/>
            <p:cNvGrpSpPr/>
            <p:nvPr/>
          </p:nvGrpSpPr>
          <p:grpSpPr>
            <a:xfrm>
              <a:off x="8305800" y="4933950"/>
              <a:ext cx="2057400" cy="552450"/>
              <a:chOff x="8305800" y="4933950"/>
              <a:chExt cx="2057400" cy="552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305800" y="49339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305800" y="4933950"/>
                <a:ext cx="2057400" cy="47625"/>
              </a:xfrm>
              <a:prstGeom prst="rect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693479" y="510111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实时上下文问答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829300" y="4933950"/>
              <a:ext cx="2057400" cy="552450"/>
              <a:chOff x="5829300" y="4933950"/>
              <a:chExt cx="2057400" cy="5524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829300" y="49339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5829300" y="4933950"/>
                <a:ext cx="2057400" cy="47625"/>
              </a:xfrm>
              <a:prstGeom prst="rect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306241" y="51011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自动续接进度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3352800" y="4933950"/>
              <a:ext cx="2057400" cy="552450"/>
              <a:chOff x="3352800" y="4933950"/>
              <a:chExt cx="2057400" cy="5524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352800" y="49339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352800" y="4933950"/>
                <a:ext cx="2057400" cy="47625"/>
              </a:xfrm>
              <a:prstGeom prst="rect">
                <a:avLst/>
              </a:prstGeom>
              <a:solidFill>
                <a:srgbClr val="E8553C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3829741" y="51011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学情回流教师</a:t>
                </a:r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1524000" y="2476500"/>
            <a:ext cx="8191500" cy="2476500"/>
            <a:chOff x="1524000" y="2476500"/>
            <a:chExt cx="8191500" cy="2476500"/>
          </a:xfrm>
        </p:grpSpPr>
        <p:grpSp>
          <p:nvGrpSpPr>
            <p:cNvPr id="54" name="Group 54"/>
            <p:cNvGrpSpPr/>
            <p:nvPr/>
          </p:nvGrpSpPr>
          <p:grpSpPr>
            <a:xfrm>
              <a:off x="1524000" y="2476500"/>
              <a:ext cx="762000" cy="762000"/>
              <a:chOff x="1524000" y="2476500"/>
              <a:chExt cx="762000" cy="7620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1524000" y="2476500"/>
                <a:ext cx="762000" cy="762000"/>
              </a:xfrm>
              <a:prstGeom prst="ellipse">
                <a:avLst/>
              </a:prstGeom>
              <a:solidFill>
                <a:srgbClr val="1E6F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1619250" y="2571750"/>
                <a:ext cx="571500" cy="571500"/>
              </a:xfrm>
              <a:prstGeom prst="ellipse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752600" y="2743200"/>
                <a:ext cx="304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28600">
                    <a:moveTo>
                      <a:pt x="152400" y="0"/>
                    </a:moveTo>
                    <a:cubicBezTo>
                      <a:pt x="194483" y="0"/>
                      <a:pt x="228600" y="34116"/>
                      <a:pt x="228600" y="76200"/>
                    </a:cubicBezTo>
                    <a:lnTo>
                      <a:pt x="228600" y="95250"/>
                    </a:lnTo>
                    <a:cubicBezTo>
                      <a:pt x="270683" y="95250"/>
                      <a:pt x="304800" y="129366"/>
                      <a:pt x="304800" y="171450"/>
                    </a:cubicBezTo>
                    <a:lnTo>
                      <a:pt x="304800" y="228600"/>
                    </a:lnTo>
                    <a:lnTo>
                      <a:pt x="171450" y="228600"/>
                    </a:lnTo>
                    <a:lnTo>
                      <a:pt x="209550" y="190500"/>
                    </a:lnTo>
                    <a:lnTo>
                      <a:pt x="209550" y="171450"/>
                    </a:lnTo>
                    <a:lnTo>
                      <a:pt x="171450" y="171450"/>
                    </a:lnTo>
                    <a:lnTo>
                      <a:pt x="17145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95250" y="171450"/>
                    </a:lnTo>
                    <a:lnTo>
                      <a:pt x="95250" y="190500"/>
                    </a:lnTo>
                    <a:lnTo>
                      <a:pt x="133350" y="228600"/>
                    </a:lnTo>
                    <a:lnTo>
                      <a:pt x="0" y="228600"/>
                    </a:lnTo>
                    <a:lnTo>
                      <a:pt x="0" y="152400"/>
                    </a:lnTo>
                    <a:cubicBezTo>
                      <a:pt x="0" y="110316"/>
                      <a:pt x="34116" y="76200"/>
                      <a:pt x="76200" y="76200"/>
                    </a:cubicBezTo>
                    <a:cubicBezTo>
                      <a:pt x="76200" y="34116"/>
                      <a:pt x="110316" y="0"/>
                      <a:pt x="152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4000500" y="2476500"/>
              <a:ext cx="762000" cy="762000"/>
              <a:chOff x="4000500" y="2476500"/>
              <a:chExt cx="762000" cy="7620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4000500" y="2476500"/>
                <a:ext cx="762000" cy="762000"/>
              </a:xfrm>
              <a:prstGeom prst="ellipse">
                <a:avLst/>
              </a:prstGeom>
              <a:solidFill>
                <a:srgbClr val="7B5B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4095750" y="2571750"/>
                <a:ext cx="571500" cy="571500"/>
              </a:xfrm>
              <a:prstGeom prst="ellipse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4229100" y="2705100"/>
                <a:ext cx="304800" cy="304800"/>
                <a:chOff x="4229100" y="2705100"/>
                <a:chExt cx="304800" cy="30480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4381500" y="27051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57150"/>
                      </a:moveTo>
                      <a:lnTo>
                        <a:pt x="47625" y="47625"/>
                      </a:ln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85725" y="47625"/>
                      </a:lnTo>
                      <a:lnTo>
                        <a:pt x="133350" y="57150"/>
                      </a:lnTo>
                      <a:lnTo>
                        <a:pt x="133350" y="76200"/>
                      </a:lnTo>
                      <a:lnTo>
                        <a:pt x="85725" y="85725"/>
                      </a:lnTo>
                      <a:lnTo>
                        <a:pt x="76200" y="133350"/>
                      </a:lnTo>
                      <a:lnTo>
                        <a:pt x="57150" y="133350"/>
                      </a:lnTo>
                      <a:lnTo>
                        <a:pt x="47625" y="85725"/>
                      </a:lnTo>
                      <a:lnTo>
                        <a:pt x="0" y="76200"/>
                      </a:lnTo>
                      <a:lnTo>
                        <a:pt x="0" y="5715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229100" y="2800350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14300"/>
                      </a:moveTo>
                      <a:lnTo>
                        <a:pt x="0" y="95250"/>
                      </a:lnTo>
                      <a:lnTo>
                        <a:pt x="76200" y="76200"/>
                      </a:lnTo>
                      <a:lnTo>
                        <a:pt x="95250" y="0"/>
                      </a:lnTo>
                      <a:lnTo>
                        <a:pt x="114300" y="0"/>
                      </a:lnTo>
                      <a:lnTo>
                        <a:pt x="133350" y="76200"/>
                      </a:lnTo>
                      <a:lnTo>
                        <a:pt x="209550" y="95250"/>
                      </a:lnTo>
                      <a:lnTo>
                        <a:pt x="209550" y="114300"/>
                      </a:lnTo>
                      <a:lnTo>
                        <a:pt x="133350" y="133350"/>
                      </a:lnTo>
                      <a:lnTo>
                        <a:pt x="114300" y="209550"/>
                      </a:lnTo>
                      <a:lnTo>
                        <a:pt x="95250" y="209550"/>
                      </a:lnTo>
                      <a:lnTo>
                        <a:pt x="76200" y="13335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248150" y="27146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lnTo>
                        <a:pt x="28575" y="0"/>
                      </a:lnTo>
                      <a:lnTo>
                        <a:pt x="57150" y="28575"/>
                      </a:lnTo>
                      <a:lnTo>
                        <a:pt x="28575" y="57150"/>
                      </a:lnTo>
                      <a:lnTo>
                        <a:pt x="0" y="285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438650" y="29337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lnTo>
                        <a:pt x="38100" y="0"/>
                      </a:lnTo>
                      <a:lnTo>
                        <a:pt x="0" y="38100"/>
                      </a:lnTo>
                      <a:lnTo>
                        <a:pt x="38100" y="76200"/>
                      </a:lnTo>
                      <a:lnTo>
                        <a:pt x="76200" y="381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495800" y="28575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19050" y="38100"/>
                      </a:move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  <a:cubicBezTo>
                        <a:pt x="0" y="29571"/>
                        <a:pt x="8529" y="38100"/>
                        <a:pt x="19050" y="381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69" name="Group 69"/>
            <p:cNvGrpSpPr/>
            <p:nvPr/>
          </p:nvGrpSpPr>
          <p:grpSpPr>
            <a:xfrm>
              <a:off x="6477000" y="2476500"/>
              <a:ext cx="762000" cy="762000"/>
              <a:chOff x="6477000" y="2476500"/>
              <a:chExt cx="762000" cy="762000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6477000" y="2476500"/>
                <a:ext cx="762000" cy="762000"/>
              </a:xfrm>
              <a:prstGeom prst="ellipse">
                <a:avLst/>
              </a:prstGeom>
              <a:solidFill>
                <a:srgbClr val="17B3A3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572250" y="2571750"/>
                <a:ext cx="571500" cy="571500"/>
              </a:xfrm>
              <a:prstGeom prst="ellipse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6724650" y="2705100"/>
                <a:ext cx="285750" cy="285750"/>
                <a:chOff x="6724650" y="2705100"/>
                <a:chExt cx="285750" cy="28575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6724650" y="2775720"/>
                  <a:ext cx="215130" cy="215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130" h="215130">
                      <a:moveTo>
                        <a:pt x="138930" y="0"/>
                      </a:moveTo>
                      <a:lnTo>
                        <a:pt x="0" y="138930"/>
                      </a:lnTo>
                      <a:lnTo>
                        <a:pt x="0" y="215130"/>
                      </a:lnTo>
                      <a:lnTo>
                        <a:pt x="76200" y="215130"/>
                      </a:lnTo>
                      <a:lnTo>
                        <a:pt x="215130" y="76200"/>
                      </a:lnTo>
                      <a:lnTo>
                        <a:pt x="13893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6890520" y="2705100"/>
                  <a:ext cx="119880" cy="1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80" h="119880">
                      <a:moveTo>
                        <a:pt x="0" y="43680"/>
                      </a:moveTo>
                      <a:lnTo>
                        <a:pt x="76200" y="119880"/>
                      </a:lnTo>
                      <a:lnTo>
                        <a:pt x="104099" y="91982"/>
                      </a:lnTo>
                      <a:cubicBezTo>
                        <a:pt x="114203" y="81877"/>
                        <a:pt x="119880" y="68172"/>
                        <a:pt x="119880" y="53882"/>
                      </a:cubicBezTo>
                      <a:cubicBezTo>
                        <a:pt x="119880" y="24124"/>
                        <a:pt x="95757" y="0"/>
                        <a:pt x="65999" y="0"/>
                      </a:cubicBezTo>
                      <a:cubicBezTo>
                        <a:pt x="51707" y="0"/>
                        <a:pt x="38003" y="5677"/>
                        <a:pt x="27899" y="15782"/>
                      </a:cubicBezTo>
                      <a:lnTo>
                        <a:pt x="0" y="436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73" name="Group 73"/>
            <p:cNvGrpSpPr/>
            <p:nvPr/>
          </p:nvGrpSpPr>
          <p:grpSpPr>
            <a:xfrm>
              <a:off x="8953500" y="2476500"/>
              <a:ext cx="762000" cy="762000"/>
              <a:chOff x="8953500" y="2476500"/>
              <a:chExt cx="762000" cy="7620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953500" y="2476500"/>
                <a:ext cx="762000" cy="762000"/>
              </a:xfrm>
              <a:prstGeom prst="ellipse">
                <a:avLst/>
              </a:prstGeom>
              <a:solidFill>
                <a:srgbClr val="1E6F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048750" y="2571750"/>
                <a:ext cx="571500" cy="571500"/>
              </a:xfrm>
              <a:prstGeom prst="ellipse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82100" y="2743200"/>
                <a:ext cx="3048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47650">
                    <a:moveTo>
                      <a:pt x="0" y="0"/>
                    </a:moveTo>
                    <a:lnTo>
                      <a:pt x="68309" y="0"/>
                    </a:lnTo>
                    <a:cubicBezTo>
                      <a:pt x="85559" y="0"/>
                      <a:pt x="102102" y="6852"/>
                      <a:pt x="114300" y="19050"/>
                    </a:cubicBezTo>
                    <a:cubicBezTo>
                      <a:pt x="126498" y="31248"/>
                      <a:pt x="133350" y="47791"/>
                      <a:pt x="133350" y="65041"/>
                    </a:cubicBezTo>
                    <a:lnTo>
                      <a:pt x="133350" y="171450"/>
                    </a:lnTo>
                    <a:lnTo>
                      <a:pt x="171450" y="171450"/>
                    </a:lnTo>
                    <a:lnTo>
                      <a:pt x="171450" y="65041"/>
                    </a:lnTo>
                    <a:cubicBezTo>
                      <a:pt x="171450" y="47791"/>
                      <a:pt x="178302" y="31248"/>
                      <a:pt x="190500" y="19050"/>
                    </a:cubicBezTo>
                    <a:cubicBezTo>
                      <a:pt x="202698" y="6852"/>
                      <a:pt x="219241" y="0"/>
                      <a:pt x="236491" y="0"/>
                    </a:cubicBezTo>
                    <a:lnTo>
                      <a:pt x="304800" y="0"/>
                    </a:lnTo>
                    <a:lnTo>
                      <a:pt x="304800" y="209550"/>
                    </a:lnTo>
                    <a:lnTo>
                      <a:pt x="2095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95250" y="209550"/>
                    </a:lnTo>
                    <a:lnTo>
                      <a:pt x="0" y="2095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8953500" y="4191000"/>
              <a:ext cx="762000" cy="762000"/>
              <a:chOff x="8953500" y="4191000"/>
              <a:chExt cx="762000" cy="76200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8953500" y="4191000"/>
                <a:ext cx="762000" cy="762000"/>
              </a:xfrm>
              <a:prstGeom prst="ellipse">
                <a:avLst/>
              </a:prstGeom>
              <a:solidFill>
                <a:srgbClr val="7B5B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9048750" y="4286250"/>
                <a:ext cx="571500" cy="571500"/>
              </a:xfrm>
              <a:prstGeom prst="ellipse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9182100" y="4438650"/>
                <a:ext cx="304800" cy="284792"/>
                <a:chOff x="9182100" y="4438650"/>
                <a:chExt cx="304800" cy="284792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9258300" y="4438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228600" y="0"/>
                      </a:moveTo>
                      <a:lnTo>
                        <a:pt x="0" y="0"/>
                      </a:lnTo>
                      <a:lnTo>
                        <a:pt x="0" y="190500"/>
                      </a:lnTo>
                      <a:lnTo>
                        <a:pt x="76200" y="190500"/>
                      </a:lnTo>
                      <a:lnTo>
                        <a:pt x="114300" y="228600"/>
                      </a:lnTo>
                      <a:lnTo>
                        <a:pt x="152400" y="190500"/>
                      </a:lnTo>
                      <a:lnTo>
                        <a:pt x="228600" y="190500"/>
                      </a:lnTo>
                      <a:lnTo>
                        <a:pt x="228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9182100" y="4514850"/>
                  <a:ext cx="165870" cy="208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70" h="208592">
                      <a:moveTo>
                        <a:pt x="38100" y="0"/>
                      </a:moveTo>
                      <a:lnTo>
                        <a:pt x="38100" y="152400"/>
                      </a:lnTo>
                      <a:lnTo>
                        <a:pt x="136618" y="152400"/>
                      </a:lnTo>
                      <a:lnTo>
                        <a:pt x="165870" y="181651"/>
                      </a:lnTo>
                      <a:lnTo>
                        <a:pt x="138930" y="208592"/>
                      </a:lnTo>
                      <a:lnTo>
                        <a:pt x="120837" y="190500"/>
                      </a:lnTo>
                      <a:lnTo>
                        <a:pt x="0" y="190500"/>
                      </a:lnTo>
                      <a:lnTo>
                        <a:pt x="0" y="0"/>
                      </a:lnTo>
                      <a:lnTo>
                        <a:pt x="381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86" name="Group 86"/>
            <p:cNvGrpSpPr/>
            <p:nvPr/>
          </p:nvGrpSpPr>
          <p:grpSpPr>
            <a:xfrm>
              <a:off x="6477000" y="4191000"/>
              <a:ext cx="762000" cy="762000"/>
              <a:chOff x="6477000" y="4191000"/>
              <a:chExt cx="762000" cy="762000"/>
            </a:xfrm>
          </p:grpSpPr>
          <p:sp>
            <p:nvSpPr>
              <p:cNvPr id="80" name="Ellipse 80"/>
              <p:cNvSpPr/>
              <p:nvPr/>
            </p:nvSpPr>
            <p:spPr>
              <a:xfrm>
                <a:off x="6477000" y="4191000"/>
                <a:ext cx="762000" cy="762000"/>
              </a:xfrm>
              <a:prstGeom prst="ellipse">
                <a:avLst/>
              </a:prstGeom>
              <a:solidFill>
                <a:srgbClr val="17B3A3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6572250" y="4286250"/>
                <a:ext cx="571500" cy="571500"/>
              </a:xfrm>
              <a:prstGeom prst="ellipse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6724650" y="4438650"/>
                <a:ext cx="266700" cy="266700"/>
                <a:chOff x="6724650" y="4438650"/>
                <a:chExt cx="266700" cy="266700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6724650" y="4438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cubicBezTo>
                        <a:pt x="76200" y="59142"/>
                        <a:pt x="59142" y="76200"/>
                        <a:pt x="38100" y="76200"/>
                      </a:cubicBezTo>
                      <a:cubicBezTo>
                        <a:pt x="17058" y="76200"/>
                        <a:pt x="0" y="59142"/>
                        <a:pt x="0" y="38100"/>
                      </a:cubicBez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6915150" y="46291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cubicBezTo>
                        <a:pt x="76200" y="59143"/>
                        <a:pt x="59143" y="76200"/>
                        <a:pt x="38100" y="76200"/>
                      </a:cubicBezTo>
                      <a:cubicBezTo>
                        <a:pt x="17057" y="76200"/>
                        <a:pt x="0" y="59143"/>
                        <a:pt x="0" y="38100"/>
                      </a:cubicBezTo>
                      <a:cubicBezTo>
                        <a:pt x="0" y="17057"/>
                        <a:pt x="17057" y="0"/>
                        <a:pt x="38100" y="0"/>
                      </a:cubicBezTo>
                      <a:cubicBezTo>
                        <a:pt x="59143" y="0"/>
                        <a:pt x="76200" y="17057"/>
                        <a:pt x="76200" y="381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6743700" y="4438650"/>
                  <a:ext cx="2286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66700">
                      <a:moveTo>
                        <a:pt x="133350" y="66675"/>
                      </a:moveTo>
                      <a:cubicBezTo>
                        <a:pt x="133350" y="50893"/>
                        <a:pt x="146143" y="38100"/>
                        <a:pt x="161925" y="38100"/>
                      </a:cubicBezTo>
                      <a:cubicBezTo>
                        <a:pt x="177706" y="38100"/>
                        <a:pt x="190500" y="50893"/>
                        <a:pt x="190500" y="66675"/>
                      </a:cubicBezTo>
                      <a:lnTo>
                        <a:pt x="190500" y="152400"/>
                      </a:lnTo>
                      <a:lnTo>
                        <a:pt x="228600" y="152400"/>
                      </a:lnTo>
                      <a:lnTo>
                        <a:pt x="228600" y="66675"/>
                      </a:lnTo>
                      <a:cubicBezTo>
                        <a:pt x="228600" y="29851"/>
                        <a:pt x="198749" y="0"/>
                        <a:pt x="161925" y="0"/>
                      </a:cubicBezTo>
                      <a:cubicBezTo>
                        <a:pt x="125101" y="0"/>
                        <a:pt x="95250" y="29851"/>
                        <a:pt x="95250" y="66675"/>
                      </a:cubicBezTo>
                      <a:lnTo>
                        <a:pt x="95250" y="200025"/>
                      </a:lnTo>
                      <a:cubicBezTo>
                        <a:pt x="95250" y="215806"/>
                        <a:pt x="82457" y="228600"/>
                        <a:pt x="66675" y="228600"/>
                      </a:cubicBezTo>
                      <a:cubicBezTo>
                        <a:pt x="50893" y="228600"/>
                        <a:pt x="38100" y="215806"/>
                        <a:pt x="38100" y="200025"/>
                      </a:cubicBezTo>
                      <a:lnTo>
                        <a:pt x="38100" y="114300"/>
                      </a:lnTo>
                      <a:lnTo>
                        <a:pt x="0" y="114300"/>
                      </a:lnTo>
                      <a:lnTo>
                        <a:pt x="0" y="200025"/>
                      </a:lnTo>
                      <a:cubicBezTo>
                        <a:pt x="0" y="236849"/>
                        <a:pt x="29851" y="266700"/>
                        <a:pt x="66675" y="266700"/>
                      </a:cubicBezTo>
                      <a:cubicBezTo>
                        <a:pt x="103499" y="266700"/>
                        <a:pt x="133350" y="236849"/>
                        <a:pt x="133350" y="200025"/>
                      </a:cubicBezTo>
                      <a:lnTo>
                        <a:pt x="133350" y="666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93" name="Group 93"/>
            <p:cNvGrpSpPr/>
            <p:nvPr/>
          </p:nvGrpSpPr>
          <p:grpSpPr>
            <a:xfrm>
              <a:off x="4000500" y="4191000"/>
              <a:ext cx="762000" cy="762000"/>
              <a:chOff x="4000500" y="4191000"/>
              <a:chExt cx="762000" cy="76200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4000500" y="4191000"/>
                <a:ext cx="762000" cy="762000"/>
              </a:xfrm>
              <a:prstGeom prst="ellipse">
                <a:avLst/>
              </a:prstGeom>
              <a:solidFill>
                <a:srgbClr val="E8553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4095750" y="4286250"/>
                <a:ext cx="571500" cy="571500"/>
              </a:xfrm>
              <a:prstGeom prst="ellipse">
                <a:avLst/>
              </a:prstGeom>
              <a:solidFill>
                <a:srgbClr val="E8553C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4229100" y="4438650"/>
                <a:ext cx="304800" cy="266700"/>
                <a:chOff x="4229100" y="4438650"/>
                <a:chExt cx="304800" cy="266700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4457700" y="4438650"/>
                  <a:ext cx="762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66700">
                      <a:moveTo>
                        <a:pt x="76200" y="0"/>
                      </a:moveTo>
                      <a:lnTo>
                        <a:pt x="0" y="0"/>
                      </a:lnTo>
                      <a:lnTo>
                        <a:pt x="0" y="266700"/>
                      </a:lnTo>
                      <a:lnTo>
                        <a:pt x="76200" y="266700"/>
                      </a:lnTo>
                      <a:lnTo>
                        <a:pt x="762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4343400" y="4514850"/>
                  <a:ext cx="762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905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190500"/>
                      </a:lnTo>
                      <a:lnTo>
                        <a:pt x="0" y="1905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4229100" y="4591050"/>
                  <a:ext cx="76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143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114300"/>
                      </a:lnTo>
                      <a:lnTo>
                        <a:pt x="0" y="1143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</p:grpSp>
      <p:grpSp>
        <p:nvGrpSpPr>
          <p:cNvPr id="97" name="Group 97"/>
          <p:cNvGrpSpPr/>
          <p:nvPr/>
        </p:nvGrpSpPr>
        <p:grpSpPr>
          <a:xfrm>
            <a:off x="609600" y="5867400"/>
            <a:ext cx="10972800" cy="457200"/>
            <a:chOff x="609600" y="5867400"/>
            <a:chExt cx="10972800" cy="457200"/>
          </a:xfrm>
        </p:grpSpPr>
        <p:sp>
          <p:nvSpPr>
            <p:cNvPr id="95" name="Rectangle 95"/>
            <p:cNvSpPr/>
            <p:nvPr/>
          </p:nvSpPr>
          <p:spPr>
            <a:xfrm>
              <a:off x="609600" y="586740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rgbClr val="EEF2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165596" y="6014085"/>
              <a:ext cx="5860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学情反馈回流教师端，驱动下一轮内容优化 —— 教师端与学生端形成持续闭环。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98" name="TextBox 98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37" grpId="0"/>
      <p:bldP spid="50" grpId="0"/>
      <p:bldP spid="94" grpId="0"/>
      <p:bldP spid="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5221510" cy="528638"/>
            <a:chOff x="609600" y="1009650"/>
            <a:chExt cx="5221510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506339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薄业务、重编排：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四层清晰组织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13636" y="1524000"/>
            <a:ext cx="11068764" cy="1028700"/>
            <a:chOff x="513636" y="1524000"/>
            <a:chExt cx="11068764" cy="1028700"/>
          </a:xfrm>
        </p:grpSpPr>
        <p:sp>
          <p:nvSpPr>
            <p:cNvPr id="19" name="Rectangle 19"/>
            <p:cNvSpPr/>
            <p:nvPr/>
          </p:nvSpPr>
          <p:spPr>
            <a:xfrm>
              <a:off x="609600" y="15240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 rot="-5400000">
              <a:off x="513636" y="188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04900" y="1524000"/>
              <a:ext cx="10477500" cy="1028700"/>
            </a:xfrm>
            <a:prstGeom prst="roundRect">
              <a:avLst>
                <a:gd name="adj" fmla="val 11111"/>
              </a:avLst>
            </a:prstGeom>
            <a:solidFill>
              <a:srgbClr val="EFF4FE"/>
            </a:solidFill>
            <a:ln w="14288">
              <a:solidFill>
                <a:srgbClr val="BBD2F8"/>
              </a:solidFill>
              <a:custDash>
                <a:ds d="400000" sp="266666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44918" y="1628299"/>
              <a:ext cx="2079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前端交互层 · Vue 3 + TypeScript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257300" y="1828800"/>
              <a:ext cx="3286125" cy="590550"/>
              <a:chOff x="1257300" y="1828800"/>
              <a:chExt cx="3286125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257300" y="1828800"/>
                <a:ext cx="328612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409700" y="2033588"/>
                <a:ext cx="2667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00025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66700" y="200025"/>
                    </a:lnTo>
                    <a:lnTo>
                      <a:pt x="266700" y="0"/>
                    </a:lnTo>
                    <a:close/>
                    <a:moveTo>
                      <a:pt x="50006" y="66675"/>
                    </a:moveTo>
                    <a:cubicBezTo>
                      <a:pt x="59212" y="66675"/>
                      <a:pt x="66675" y="59212"/>
                      <a:pt x="66675" y="50006"/>
                    </a:cubicBezTo>
                    <a:cubicBezTo>
                      <a:pt x="66675" y="40800"/>
                      <a:pt x="59212" y="33338"/>
                      <a:pt x="50006" y="33338"/>
                    </a:cubicBezTo>
                    <a:cubicBezTo>
                      <a:pt x="40800" y="33338"/>
                      <a:pt x="33338" y="40800"/>
                      <a:pt x="33338" y="50006"/>
                    </a:cubicBezTo>
                    <a:cubicBezTo>
                      <a:pt x="33338" y="59212"/>
                      <a:pt x="40800" y="66675"/>
                      <a:pt x="50006" y="66675"/>
                    </a:cubicBezTo>
                    <a:close/>
                    <a:moveTo>
                      <a:pt x="125016" y="50006"/>
                    </a:moveTo>
                    <a:cubicBezTo>
                      <a:pt x="125016" y="59212"/>
                      <a:pt x="117553" y="66675"/>
                      <a:pt x="108347" y="66675"/>
                    </a:cubicBezTo>
                    <a:cubicBezTo>
                      <a:pt x="99141" y="66675"/>
                      <a:pt x="91678" y="59212"/>
                      <a:pt x="91678" y="50006"/>
                    </a:cubicBezTo>
                    <a:cubicBezTo>
                      <a:pt x="91678" y="40800"/>
                      <a:pt x="99141" y="33338"/>
                      <a:pt x="108347" y="33338"/>
                    </a:cubicBezTo>
                    <a:cubicBezTo>
                      <a:pt x="117553" y="33338"/>
                      <a:pt x="125016" y="40800"/>
                      <a:pt x="125016" y="50006"/>
                    </a:cubicBezTo>
                    <a:close/>
                    <a:moveTo>
                      <a:pt x="166688" y="66675"/>
                    </a:moveTo>
                    <a:cubicBezTo>
                      <a:pt x="175894" y="66675"/>
                      <a:pt x="183356" y="59212"/>
                      <a:pt x="183356" y="50006"/>
                    </a:cubicBezTo>
                    <a:cubicBezTo>
                      <a:pt x="183356" y="40800"/>
                      <a:pt x="175894" y="33338"/>
                      <a:pt x="166688" y="33338"/>
                    </a:cubicBezTo>
                    <a:cubicBezTo>
                      <a:pt x="157482" y="33338"/>
                      <a:pt x="150019" y="40800"/>
                      <a:pt x="150019" y="50006"/>
                    </a:cubicBezTo>
                    <a:cubicBezTo>
                      <a:pt x="150019" y="59212"/>
                      <a:pt x="157482" y="66675"/>
                      <a:pt x="166688" y="66675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756410" y="1965960"/>
                <a:ext cx="9461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 Web 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59268" y="219979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课件管理 · 脚本编辑 · 学情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695825" y="1828800"/>
              <a:ext cx="3286125" cy="590550"/>
              <a:chOff x="4695825" y="1828800"/>
              <a:chExt cx="3286125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695825" y="1828800"/>
                <a:ext cx="328612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48225" y="2033588"/>
                <a:ext cx="266700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33362">
                    <a:moveTo>
                      <a:pt x="0" y="0"/>
                    </a:moveTo>
                    <a:lnTo>
                      <a:pt x="266700" y="0"/>
                    </a:lnTo>
                    <a:lnTo>
                      <a:pt x="266700" y="166688"/>
                    </a:lnTo>
                    <a:lnTo>
                      <a:pt x="166688" y="166688"/>
                    </a:lnTo>
                    <a:lnTo>
                      <a:pt x="166688" y="183356"/>
                    </a:lnTo>
                    <a:lnTo>
                      <a:pt x="200025" y="216694"/>
                    </a:lnTo>
                    <a:lnTo>
                      <a:pt x="200025" y="233362"/>
                    </a:lnTo>
                    <a:lnTo>
                      <a:pt x="66675" y="233362"/>
                    </a:lnTo>
                    <a:lnTo>
                      <a:pt x="66675" y="216694"/>
                    </a:lnTo>
                    <a:lnTo>
                      <a:pt x="100012" y="183356"/>
                    </a:lnTo>
                    <a:lnTo>
                      <a:pt x="100012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  <a:moveTo>
                      <a:pt x="33338" y="33338"/>
                    </a:moveTo>
                    <a:lnTo>
                      <a:pt x="233362" y="33338"/>
                    </a:lnTo>
                    <a:lnTo>
                      <a:pt x="233362" y="133350"/>
                    </a:lnTo>
                    <a:lnTo>
                      <a:pt x="33338" y="133350"/>
                    </a:lnTo>
                    <a:lnTo>
                      <a:pt x="33338" y="33338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194935" y="1965960"/>
                <a:ext cx="9461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学生 Web 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97792" y="219979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课程学习 · 问答 · 断点续学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134350" y="1828800"/>
              <a:ext cx="3295650" cy="590550"/>
              <a:chOff x="8134350" y="1828800"/>
              <a:chExt cx="32956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134350" y="1828800"/>
                <a:ext cx="32956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03419" y="200025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83344" y="0"/>
                    </a:moveTo>
                    <a:lnTo>
                      <a:pt x="83344" y="66675"/>
                    </a:lnTo>
                    <a:lnTo>
                      <a:pt x="150019" y="66675"/>
                    </a:lnTo>
                    <a:lnTo>
                      <a:pt x="150019" y="0"/>
                    </a:lnTo>
                    <a:lnTo>
                      <a:pt x="183356" y="0"/>
                    </a:lnTo>
                    <a:lnTo>
                      <a:pt x="183356" y="66675"/>
                    </a:lnTo>
                    <a:lnTo>
                      <a:pt x="233362" y="66675"/>
                    </a:lnTo>
                    <a:lnTo>
                      <a:pt x="233362" y="100012"/>
                    </a:lnTo>
                    <a:lnTo>
                      <a:pt x="200025" y="100012"/>
                    </a:lnTo>
                    <a:lnTo>
                      <a:pt x="200025" y="133350"/>
                    </a:lnTo>
                    <a:cubicBezTo>
                      <a:pt x="200025" y="173672"/>
                      <a:pt x="171391" y="207304"/>
                      <a:pt x="133350" y="215027"/>
                    </a:cubicBezTo>
                    <a:lnTo>
                      <a:pt x="133350" y="266700"/>
                    </a:lnTo>
                    <a:lnTo>
                      <a:pt x="100012" y="266700"/>
                    </a:lnTo>
                    <a:lnTo>
                      <a:pt x="100012" y="215027"/>
                    </a:lnTo>
                    <a:cubicBezTo>
                      <a:pt x="61970" y="207304"/>
                      <a:pt x="33338" y="173672"/>
                      <a:pt x="33338" y="133350"/>
                    </a:cubicBezTo>
                    <a:lnTo>
                      <a:pt x="33338" y="100012"/>
                    </a:lnTo>
                    <a:lnTo>
                      <a:pt x="0" y="100012"/>
                    </a:lnTo>
                    <a:lnTo>
                      <a:pt x="0" y="66675"/>
                    </a:lnTo>
                    <a:lnTo>
                      <a:pt x="50006" y="66675"/>
                    </a:lnTo>
                    <a:lnTo>
                      <a:pt x="50006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33460" y="19659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泛雅集成入口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36318" y="2199799"/>
                <a:ext cx="10778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OpenAPI 轻量接入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13636" y="2667000"/>
            <a:ext cx="11068764" cy="1028700"/>
            <a:chOff x="513636" y="2667000"/>
            <a:chExt cx="11068764" cy="1028700"/>
          </a:xfrm>
        </p:grpSpPr>
        <p:sp>
          <p:nvSpPr>
            <p:cNvPr id="39" name="Rectangle 39"/>
            <p:cNvSpPr/>
            <p:nvPr/>
          </p:nvSpPr>
          <p:spPr>
            <a:xfrm>
              <a:off x="609600" y="26670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 rot="-5400000">
              <a:off x="513636" y="3028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编排层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04900" y="2667000"/>
              <a:ext cx="10477500" cy="1028700"/>
            </a:xfrm>
            <a:prstGeom prst="roundRect">
              <a:avLst>
                <a:gd name="adj" fmla="val 11111"/>
              </a:avLst>
            </a:prstGeom>
            <a:solidFill>
              <a:srgbClr val="F4F0FE"/>
            </a:solidFill>
            <a:ln w="14288">
              <a:solidFill>
                <a:srgbClr val="CDBEF6"/>
              </a:solidFill>
              <a:custDash>
                <a:ds d="400000" sp="266666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44918" y="2771299"/>
              <a:ext cx="28301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业务编排层 · Go 后端服务（薄业务、强编排）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257300" y="2971800"/>
              <a:ext cx="2428875" cy="590550"/>
              <a:chOff x="1257300" y="2971800"/>
              <a:chExt cx="2428875" cy="5905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1257300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406128" y="3143250"/>
                <a:ext cx="216694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7650">
                    <a:moveTo>
                      <a:pt x="108347" y="247650"/>
                    </a:moveTo>
                    <a:lnTo>
                      <a:pt x="51853" y="207297"/>
                    </a:lnTo>
                    <a:cubicBezTo>
                      <a:pt x="19313" y="184053"/>
                      <a:pt x="0" y="146526"/>
                      <a:pt x="0" y="106537"/>
                    </a:cubicBezTo>
                    <a:lnTo>
                      <a:pt x="0" y="46434"/>
                    </a:lnTo>
                    <a:lnTo>
                      <a:pt x="108347" y="0"/>
                    </a:lnTo>
                    <a:lnTo>
                      <a:pt x="216694" y="46434"/>
                    </a:lnTo>
                    <a:lnTo>
                      <a:pt x="216694" y="106537"/>
                    </a:lnTo>
                    <a:cubicBezTo>
                      <a:pt x="216694" y="146526"/>
                      <a:pt x="197382" y="184053"/>
                      <a:pt x="164840" y="207297"/>
                    </a:cubicBezTo>
                    <a:lnTo>
                      <a:pt x="108347" y="247650"/>
                    </a:lnTo>
                    <a:close/>
                    <a:moveTo>
                      <a:pt x="173465" y="88335"/>
                    </a:moveTo>
                    <a:lnTo>
                      <a:pt x="151576" y="66446"/>
                    </a:lnTo>
                    <a:lnTo>
                      <a:pt x="92869" y="125153"/>
                    </a:lnTo>
                    <a:lnTo>
                      <a:pt x="65118" y="97402"/>
                    </a:lnTo>
                    <a:lnTo>
                      <a:pt x="43229" y="119292"/>
                    </a:lnTo>
                    <a:lnTo>
                      <a:pt x="92869" y="168931"/>
                    </a:lnTo>
                    <a:lnTo>
                      <a:pt x="173465" y="8833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719262" y="3117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鉴权与会话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722120" y="3350895"/>
                <a:ext cx="760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用户态 · 权限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3838575" y="2971800"/>
              <a:ext cx="2428875" cy="590550"/>
              <a:chOff x="3838575" y="2971800"/>
              <a:chExt cx="2428875" cy="5905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3838575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6906" y="3143250"/>
                <a:ext cx="237688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37688" h="247650">
                    <a:moveTo>
                      <a:pt x="95627" y="0"/>
                    </a:moveTo>
                    <a:lnTo>
                      <a:pt x="142061" y="0"/>
                    </a:lnTo>
                    <a:lnTo>
                      <a:pt x="151254" y="36768"/>
                    </a:lnTo>
                    <a:cubicBezTo>
                      <a:pt x="161062" y="40421"/>
                      <a:pt x="170087" y="45684"/>
                      <a:pt x="178006" y="52237"/>
                    </a:cubicBezTo>
                    <a:lnTo>
                      <a:pt x="214471" y="41806"/>
                    </a:lnTo>
                    <a:lnTo>
                      <a:pt x="237688" y="82019"/>
                    </a:lnTo>
                    <a:lnTo>
                      <a:pt x="210433" y="108373"/>
                    </a:lnTo>
                    <a:cubicBezTo>
                      <a:pt x="211275" y="113398"/>
                      <a:pt x="211713" y="118560"/>
                      <a:pt x="211713" y="123825"/>
                    </a:cubicBezTo>
                    <a:cubicBezTo>
                      <a:pt x="211713" y="129090"/>
                      <a:pt x="211275" y="134252"/>
                      <a:pt x="210433" y="139277"/>
                    </a:cubicBezTo>
                    <a:lnTo>
                      <a:pt x="237688" y="165631"/>
                    </a:lnTo>
                    <a:lnTo>
                      <a:pt x="214471" y="205844"/>
                    </a:lnTo>
                    <a:lnTo>
                      <a:pt x="178006" y="195413"/>
                    </a:lnTo>
                    <a:cubicBezTo>
                      <a:pt x="170087" y="201965"/>
                      <a:pt x="161062" y="207229"/>
                      <a:pt x="151254" y="210882"/>
                    </a:cubicBezTo>
                    <a:lnTo>
                      <a:pt x="142061" y="247650"/>
                    </a:lnTo>
                    <a:lnTo>
                      <a:pt x="95627" y="247650"/>
                    </a:lnTo>
                    <a:lnTo>
                      <a:pt x="86435" y="210882"/>
                    </a:lnTo>
                    <a:cubicBezTo>
                      <a:pt x="76626" y="207229"/>
                      <a:pt x="67601" y="201965"/>
                      <a:pt x="59682" y="195413"/>
                    </a:cubicBezTo>
                    <a:lnTo>
                      <a:pt x="23217" y="205844"/>
                    </a:lnTo>
                    <a:lnTo>
                      <a:pt x="0" y="165631"/>
                    </a:lnTo>
                    <a:lnTo>
                      <a:pt x="27255" y="139277"/>
                    </a:lnTo>
                    <a:cubicBezTo>
                      <a:pt x="26413" y="134252"/>
                      <a:pt x="25975" y="129090"/>
                      <a:pt x="25975" y="123825"/>
                    </a:cubicBezTo>
                    <a:cubicBezTo>
                      <a:pt x="25975" y="118560"/>
                      <a:pt x="26413" y="113398"/>
                      <a:pt x="27255" y="108373"/>
                    </a:cubicBezTo>
                    <a:lnTo>
                      <a:pt x="0" y="82019"/>
                    </a:lnTo>
                    <a:lnTo>
                      <a:pt x="23217" y="41806"/>
                    </a:lnTo>
                    <a:lnTo>
                      <a:pt x="59682" y="52237"/>
                    </a:lnTo>
                    <a:cubicBezTo>
                      <a:pt x="67601" y="45684"/>
                      <a:pt x="76626" y="40421"/>
                      <a:pt x="86435" y="36768"/>
                    </a:cubicBezTo>
                    <a:lnTo>
                      <a:pt x="95627" y="0"/>
                    </a:lnTo>
                    <a:close/>
                    <a:moveTo>
                      <a:pt x="118844" y="154781"/>
                    </a:moveTo>
                    <a:cubicBezTo>
                      <a:pt x="135941" y="154781"/>
                      <a:pt x="149800" y="140922"/>
                      <a:pt x="149800" y="123825"/>
                    </a:cubicBezTo>
                    <a:cubicBezTo>
                      <a:pt x="149800" y="106728"/>
                      <a:pt x="135941" y="92869"/>
                      <a:pt x="118844" y="92869"/>
                    </a:cubicBezTo>
                    <a:cubicBezTo>
                      <a:pt x="101747" y="92869"/>
                      <a:pt x="87888" y="106728"/>
                      <a:pt x="87888" y="123825"/>
                    </a:cubicBezTo>
                    <a:cubicBezTo>
                      <a:pt x="87888" y="140922"/>
                      <a:pt x="101747" y="154781"/>
                      <a:pt x="118844" y="154781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300538" y="3117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学习状态机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03395" y="335089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讲授 · 问答 · 续接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419850" y="2971800"/>
              <a:ext cx="2428875" cy="590550"/>
              <a:chOff x="6419850" y="2971800"/>
              <a:chExt cx="2428875" cy="5905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419850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4156" y="3143250"/>
                <a:ext cx="185738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47650">
                    <a:moveTo>
                      <a:pt x="108347" y="108347"/>
                    </a:moveTo>
                    <a:lnTo>
                      <a:pt x="123825" y="0"/>
                    </a:lnTo>
                    <a:lnTo>
                      <a:pt x="92869" y="0"/>
                    </a:lnTo>
                    <a:lnTo>
                      <a:pt x="0" y="108347"/>
                    </a:lnTo>
                    <a:lnTo>
                      <a:pt x="0" y="139303"/>
                    </a:lnTo>
                    <a:lnTo>
                      <a:pt x="77391" y="139303"/>
                    </a:lnTo>
                    <a:lnTo>
                      <a:pt x="61912" y="247650"/>
                    </a:lnTo>
                    <a:lnTo>
                      <a:pt x="92869" y="247650"/>
                    </a:lnTo>
                    <a:lnTo>
                      <a:pt x="185738" y="139303"/>
                    </a:lnTo>
                    <a:lnTo>
                      <a:pt x="185738" y="108347"/>
                    </a:lnTo>
                    <a:lnTo>
                      <a:pt x="108347" y="108347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81812" y="3117056"/>
                <a:ext cx="9658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SSE 流式代理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84670" y="3350895"/>
                <a:ext cx="9169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实时转发 AI 输出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9001125" y="2971800"/>
              <a:ext cx="2428875" cy="590550"/>
              <a:chOff x="9001125" y="2971800"/>
              <a:chExt cx="2428875" cy="5905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9001125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149953" y="3143250"/>
                <a:ext cx="216694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7650">
                    <a:moveTo>
                      <a:pt x="77391" y="0"/>
                    </a:moveTo>
                    <a:lnTo>
                      <a:pt x="77391" y="61912"/>
                    </a:lnTo>
                    <a:lnTo>
                      <a:pt x="139303" y="61912"/>
                    </a:lnTo>
                    <a:lnTo>
                      <a:pt x="139303" y="0"/>
                    </a:lnTo>
                    <a:lnTo>
                      <a:pt x="170259" y="0"/>
                    </a:lnTo>
                    <a:lnTo>
                      <a:pt x="170259" y="61912"/>
                    </a:lnTo>
                    <a:lnTo>
                      <a:pt x="216694" y="61912"/>
                    </a:lnTo>
                    <a:lnTo>
                      <a:pt x="216694" y="92869"/>
                    </a:lnTo>
                    <a:lnTo>
                      <a:pt x="185738" y="92869"/>
                    </a:lnTo>
                    <a:lnTo>
                      <a:pt x="185738" y="123825"/>
                    </a:lnTo>
                    <a:cubicBezTo>
                      <a:pt x="185738" y="161267"/>
                      <a:pt x="159149" y="192497"/>
                      <a:pt x="123825" y="199668"/>
                    </a:cubicBezTo>
                    <a:lnTo>
                      <a:pt x="123825" y="247650"/>
                    </a:lnTo>
                    <a:lnTo>
                      <a:pt x="92869" y="247650"/>
                    </a:lnTo>
                    <a:lnTo>
                      <a:pt x="92869" y="199668"/>
                    </a:lnTo>
                    <a:cubicBezTo>
                      <a:pt x="57544" y="192497"/>
                      <a:pt x="30956" y="161267"/>
                      <a:pt x="30956" y="123825"/>
                    </a:cubicBezTo>
                    <a:lnTo>
                      <a:pt x="30956" y="92869"/>
                    </a:lnTo>
                    <a:lnTo>
                      <a:pt x="0" y="92869"/>
                    </a:lnTo>
                    <a:lnTo>
                      <a:pt x="0" y="61912"/>
                    </a:lnTo>
                    <a:lnTo>
                      <a:pt x="46434" y="61912"/>
                    </a:lnTo>
                    <a:lnTo>
                      <a:pt x="46434" y="0"/>
                    </a:lnTo>
                    <a:lnTo>
                      <a:pt x="77391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463088" y="3117056"/>
                <a:ext cx="9894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OpenAPI 适配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465945" y="3350895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对接 Dify 工作流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602897" y="3810000"/>
            <a:ext cx="10979503" cy="1028700"/>
            <a:chOff x="602897" y="3810000"/>
            <a:chExt cx="10979503" cy="1028700"/>
          </a:xfrm>
        </p:grpSpPr>
        <p:sp>
          <p:nvSpPr>
            <p:cNvPr id="64" name="Rectangle 64"/>
            <p:cNvSpPr/>
            <p:nvPr/>
          </p:nvSpPr>
          <p:spPr>
            <a:xfrm>
              <a:off x="609600" y="38100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 rot="-5400000">
              <a:off x="602897" y="4171950"/>
              <a:ext cx="4896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层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104900" y="3810000"/>
              <a:ext cx="10477500" cy="1028700"/>
            </a:xfrm>
            <a:prstGeom prst="roundRect">
              <a:avLst>
                <a:gd name="adj" fmla="val 11111"/>
              </a:avLst>
            </a:prstGeom>
            <a:solidFill>
              <a:srgbClr val="E9F8F5"/>
            </a:solidFill>
            <a:ln w="14288">
              <a:solidFill>
                <a:srgbClr val="9FE2D7"/>
              </a:solidFill>
              <a:custDash>
                <a:ds d="400000" sp="266666"/>
              </a:custDash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44918" y="3914299"/>
              <a:ext cx="3226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能力中台 · Dify 编排 + Python 引擎 + 外部大模型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1257300" y="4114800"/>
              <a:ext cx="2428875" cy="590550"/>
              <a:chOff x="1257300" y="4114800"/>
              <a:chExt cx="2428875" cy="5905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1257300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390650" y="4286250"/>
                <a:ext cx="216694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7650">
                    <a:moveTo>
                      <a:pt x="170259" y="92869"/>
                    </a:moveTo>
                    <a:cubicBezTo>
                      <a:pt x="195905" y="92869"/>
                      <a:pt x="216694" y="72079"/>
                      <a:pt x="216694" y="46434"/>
                    </a:cubicBezTo>
                    <a:cubicBezTo>
                      <a:pt x="216694" y="20789"/>
                      <a:pt x="195905" y="0"/>
                      <a:pt x="170259" y="0"/>
                    </a:cubicBezTo>
                    <a:cubicBezTo>
                      <a:pt x="144614" y="0"/>
                      <a:pt x="123825" y="20789"/>
                      <a:pt x="123825" y="46434"/>
                    </a:cubicBezTo>
                    <a:cubicBezTo>
                      <a:pt x="123825" y="49897"/>
                      <a:pt x="124204" y="53271"/>
                      <a:pt x="124923" y="56517"/>
                    </a:cubicBezTo>
                    <a:lnTo>
                      <a:pt x="75357" y="87496"/>
                    </a:lnTo>
                    <a:cubicBezTo>
                      <a:pt x="67423" y="81171"/>
                      <a:pt x="57370" y="77391"/>
                      <a:pt x="46434" y="77391"/>
                    </a:cubicBezTo>
                    <a:cubicBezTo>
                      <a:pt x="20789" y="77391"/>
                      <a:pt x="0" y="98180"/>
                      <a:pt x="0" y="123825"/>
                    </a:cubicBezTo>
                    <a:cubicBezTo>
                      <a:pt x="0" y="149470"/>
                      <a:pt x="20789" y="170259"/>
                      <a:pt x="46434" y="170259"/>
                    </a:cubicBezTo>
                    <a:cubicBezTo>
                      <a:pt x="57370" y="170259"/>
                      <a:pt x="67423" y="166480"/>
                      <a:pt x="75357" y="160154"/>
                    </a:cubicBezTo>
                    <a:lnTo>
                      <a:pt x="124923" y="191133"/>
                    </a:lnTo>
                    <a:cubicBezTo>
                      <a:pt x="124204" y="194379"/>
                      <a:pt x="123825" y="197753"/>
                      <a:pt x="123825" y="201216"/>
                    </a:cubicBezTo>
                    <a:cubicBezTo>
                      <a:pt x="123825" y="226861"/>
                      <a:pt x="144614" y="247650"/>
                      <a:pt x="170259" y="247650"/>
                    </a:cubicBezTo>
                    <a:cubicBezTo>
                      <a:pt x="195905" y="247650"/>
                      <a:pt x="216694" y="226861"/>
                      <a:pt x="216694" y="201216"/>
                    </a:cubicBezTo>
                    <a:cubicBezTo>
                      <a:pt x="216694" y="175570"/>
                      <a:pt x="195905" y="154781"/>
                      <a:pt x="170259" y="154781"/>
                    </a:cubicBezTo>
                    <a:cubicBezTo>
                      <a:pt x="159324" y="154781"/>
                      <a:pt x="149271" y="158561"/>
                      <a:pt x="141337" y="164887"/>
                    </a:cubicBezTo>
                    <a:lnTo>
                      <a:pt x="91771" y="133908"/>
                    </a:lnTo>
                    <a:cubicBezTo>
                      <a:pt x="92490" y="130662"/>
                      <a:pt x="92869" y="127288"/>
                      <a:pt x="92869" y="123825"/>
                    </a:cubicBezTo>
                    <a:cubicBezTo>
                      <a:pt x="92869" y="120362"/>
                      <a:pt x="92490" y="116988"/>
                      <a:pt x="91771" y="113742"/>
                    </a:cubicBezTo>
                    <a:lnTo>
                      <a:pt x="141337" y="82764"/>
                    </a:lnTo>
                    <a:cubicBezTo>
                      <a:pt x="149271" y="89089"/>
                      <a:pt x="159324" y="92869"/>
                      <a:pt x="170259" y="92869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719262" y="4260056"/>
                <a:ext cx="6980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Dify 编排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722120" y="4493895"/>
                <a:ext cx="7189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工作流 · RAG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3838575" y="4114800"/>
              <a:ext cx="2428875" cy="590550"/>
              <a:chOff x="3838575" y="4114800"/>
              <a:chExt cx="2428875" cy="5905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3838575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971925" y="4286250"/>
                <a:ext cx="243116" cy="243116"/>
              </a:xfrm>
              <a:custGeom>
                <a:avLst/>
                <a:gdLst/>
                <a:ahLst/>
                <a:cxnLst/>
                <a:rect l="l" t="t" r="r" b="b"/>
                <a:pathLst>
                  <a:path w="243116" h="243116">
                    <a:moveTo>
                      <a:pt x="173234" y="195123"/>
                    </a:moveTo>
                    <a:cubicBezTo>
                      <a:pt x="155147" y="208670"/>
                      <a:pt x="132684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85" y="0"/>
                      <a:pt x="216694" y="48509"/>
                      <a:pt x="216694" y="108347"/>
                    </a:cubicBezTo>
                    <a:cubicBezTo>
                      <a:pt x="216694" y="132684"/>
                      <a:pt x="208670" y="155147"/>
                      <a:pt x="195123" y="173234"/>
                    </a:cubicBezTo>
                    <a:lnTo>
                      <a:pt x="243116" y="221227"/>
                    </a:lnTo>
                    <a:lnTo>
                      <a:pt x="221227" y="243116"/>
                    </a:lnTo>
                    <a:lnTo>
                      <a:pt x="173234" y="195123"/>
                    </a:lnTo>
                    <a:close/>
                    <a:moveTo>
                      <a:pt x="86458" y="130236"/>
                    </a:moveTo>
                    <a:lnTo>
                      <a:pt x="64568" y="152126"/>
                    </a:lnTo>
                    <a:cubicBezTo>
                      <a:pt x="40390" y="127947"/>
                      <a:pt x="40390" y="88746"/>
                      <a:pt x="64568" y="64568"/>
                    </a:cubicBezTo>
                    <a:cubicBezTo>
                      <a:pt x="88746" y="40390"/>
                      <a:pt x="127947" y="40390"/>
                      <a:pt x="152126" y="64568"/>
                    </a:cubicBezTo>
                    <a:lnTo>
                      <a:pt x="130236" y="86458"/>
                    </a:lnTo>
                    <a:cubicBezTo>
                      <a:pt x="118147" y="74368"/>
                      <a:pt x="98547" y="74368"/>
                      <a:pt x="86458" y="86458"/>
                    </a:cubicBezTo>
                    <a:cubicBezTo>
                      <a:pt x="74368" y="98547"/>
                      <a:pt x="74368" y="118147"/>
                      <a:pt x="86458" y="130236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4300538" y="4260056"/>
                <a:ext cx="1225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Python 解析引擎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303395" y="44938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课件多模态解析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419850" y="4114800"/>
              <a:ext cx="2428875" cy="590550"/>
              <a:chOff x="6419850" y="4114800"/>
              <a:chExt cx="2428875" cy="5905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6419850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53200" y="4286250"/>
                <a:ext cx="247650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32172">
                    <a:moveTo>
                      <a:pt x="139303" y="0"/>
                    </a:moveTo>
                    <a:lnTo>
                      <a:pt x="139303" y="30956"/>
                    </a:lnTo>
                    <a:lnTo>
                      <a:pt x="201216" y="30956"/>
                    </a:lnTo>
                    <a:lnTo>
                      <a:pt x="247650" y="131564"/>
                    </a:lnTo>
                    <a:lnTo>
                      <a:pt x="201216" y="232172"/>
                    </a:lnTo>
                    <a:lnTo>
                      <a:pt x="46434" y="232172"/>
                    </a:lnTo>
                    <a:lnTo>
                      <a:pt x="0" y="131564"/>
                    </a:lnTo>
                    <a:lnTo>
                      <a:pt x="46434" y="30956"/>
                    </a:lnTo>
                    <a:lnTo>
                      <a:pt x="108347" y="30956"/>
                    </a:lnTo>
                    <a:lnTo>
                      <a:pt x="108347" y="0"/>
                    </a:lnTo>
                    <a:lnTo>
                      <a:pt x="139303" y="0"/>
                    </a:lnTo>
                    <a:close/>
                    <a:moveTo>
                      <a:pt x="71167" y="181688"/>
                    </a:moveTo>
                    <a:lnTo>
                      <a:pt x="123825" y="189790"/>
                    </a:lnTo>
                    <a:lnTo>
                      <a:pt x="176483" y="181688"/>
                    </a:lnTo>
                    <a:lnTo>
                      <a:pt x="171775" y="151092"/>
                    </a:lnTo>
                    <a:lnTo>
                      <a:pt x="123825" y="158468"/>
                    </a:lnTo>
                    <a:lnTo>
                      <a:pt x="75875" y="151092"/>
                    </a:lnTo>
                    <a:lnTo>
                      <a:pt x="71167" y="181688"/>
                    </a:lnTo>
                    <a:close/>
                    <a:moveTo>
                      <a:pt x="108347" y="104477"/>
                    </a:moveTo>
                    <a:cubicBezTo>
                      <a:pt x="108347" y="115163"/>
                      <a:pt x="99685" y="123825"/>
                      <a:pt x="88999" y="123825"/>
                    </a:cubicBezTo>
                    <a:cubicBezTo>
                      <a:pt x="78314" y="123825"/>
                      <a:pt x="69652" y="115163"/>
                      <a:pt x="69652" y="104477"/>
                    </a:cubicBezTo>
                    <a:cubicBezTo>
                      <a:pt x="69652" y="93792"/>
                      <a:pt x="78314" y="85130"/>
                      <a:pt x="88999" y="85130"/>
                    </a:cubicBezTo>
                    <a:cubicBezTo>
                      <a:pt x="99685" y="85130"/>
                      <a:pt x="108347" y="93792"/>
                      <a:pt x="108347" y="104477"/>
                    </a:cubicBezTo>
                    <a:close/>
                    <a:moveTo>
                      <a:pt x="158651" y="123825"/>
                    </a:moveTo>
                    <a:cubicBezTo>
                      <a:pt x="169337" y="123825"/>
                      <a:pt x="177998" y="115163"/>
                      <a:pt x="177998" y="104477"/>
                    </a:cubicBezTo>
                    <a:cubicBezTo>
                      <a:pt x="177998" y="93792"/>
                      <a:pt x="169337" y="85130"/>
                      <a:pt x="158651" y="85130"/>
                    </a:cubicBezTo>
                    <a:cubicBezTo>
                      <a:pt x="147965" y="85130"/>
                      <a:pt x="139303" y="93792"/>
                      <a:pt x="139303" y="104477"/>
                    </a:cubicBezTo>
                    <a:cubicBezTo>
                      <a:pt x="139303" y="115163"/>
                      <a:pt x="147965" y="123825"/>
                      <a:pt x="158651" y="123825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881812" y="4260056"/>
                <a:ext cx="9973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通义千问 LLM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884670" y="4493895"/>
                <a:ext cx="8269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外部大模型 API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9001125" y="4114800"/>
              <a:ext cx="2428875" cy="590550"/>
              <a:chOff x="9001125" y="4114800"/>
              <a:chExt cx="2428875" cy="59055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9001125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9134475" y="4301728"/>
                <a:ext cx="247650" cy="216694"/>
                <a:chOff x="9134475" y="4301728"/>
                <a:chExt cx="247650" cy="216694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9134475" y="4301728"/>
                  <a:ext cx="123825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216694">
                      <a:moveTo>
                        <a:pt x="92869" y="0"/>
                      </a:moveTo>
                      <a:lnTo>
                        <a:pt x="123825" y="0"/>
                      </a:lnTo>
                      <a:lnTo>
                        <a:pt x="123825" y="216694"/>
                      </a:lnTo>
                      <a:lnTo>
                        <a:pt x="92869" y="216694"/>
                      </a:lnTo>
                      <a:lnTo>
                        <a:pt x="30956" y="154781"/>
                      </a:lnTo>
                      <a:lnTo>
                        <a:pt x="0" y="154781"/>
                      </a:lnTo>
                      <a:lnTo>
                        <a:pt x="0" y="61912"/>
                      </a:lnTo>
                      <a:lnTo>
                        <a:pt x="30956" y="61912"/>
                      </a:lnTo>
                      <a:lnTo>
                        <a:pt x="92869" y="0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9289256" y="4317206"/>
                  <a:ext cx="92869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185738">
                      <a:moveTo>
                        <a:pt x="61912" y="92869"/>
                      </a:moveTo>
                      <a:cubicBezTo>
                        <a:pt x="61912" y="58675"/>
                        <a:pt x="34193" y="30956"/>
                        <a:pt x="0" y="30956"/>
                      </a:cubicBezTo>
                      <a:lnTo>
                        <a:pt x="0" y="0"/>
                      </a:lnTo>
                      <a:cubicBezTo>
                        <a:pt x="51290" y="0"/>
                        <a:pt x="92869" y="41579"/>
                        <a:pt x="92869" y="92869"/>
                      </a:cubicBezTo>
                      <a:cubicBezTo>
                        <a:pt x="92869" y="144159"/>
                        <a:pt x="51290" y="185738"/>
                        <a:pt x="0" y="185738"/>
                      </a:cubicBezTo>
                      <a:lnTo>
                        <a:pt x="0" y="154781"/>
                      </a:lnTo>
                      <a:cubicBezTo>
                        <a:pt x="34193" y="154781"/>
                        <a:pt x="61912" y="127061"/>
                        <a:pt x="61912" y="92869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9289256" y="4379119"/>
                  <a:ext cx="30956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1912">
                      <a:moveTo>
                        <a:pt x="30956" y="30956"/>
                      </a:moveTo>
                      <a:cubicBezTo>
                        <a:pt x="30956" y="48053"/>
                        <a:pt x="17097" y="61912"/>
                        <a:pt x="0" y="61912"/>
                      </a:cubicBezTo>
                      <a:lnTo>
                        <a:pt x="0" y="0"/>
                      </a:lnTo>
                      <a:cubicBezTo>
                        <a:pt x="17097" y="0"/>
                        <a:pt x="30956" y="13860"/>
                        <a:pt x="30956" y="30956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9463088" y="4260056"/>
                <a:ext cx="9658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TTS 语音合成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465945" y="449389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讲授语音生成</a:t>
                </a:r>
              </a:p>
            </p:txBody>
          </p:sp>
        </p:grpSp>
      </p:grpSp>
      <p:grpSp>
        <p:nvGrpSpPr>
          <p:cNvPr id="113" name="Group 113"/>
          <p:cNvGrpSpPr/>
          <p:nvPr/>
        </p:nvGrpSpPr>
        <p:grpSpPr>
          <a:xfrm>
            <a:off x="609600" y="4953000"/>
            <a:ext cx="10972800" cy="819150"/>
            <a:chOff x="609600" y="4953000"/>
            <a:chExt cx="10972800" cy="819150"/>
          </a:xfrm>
        </p:grpSpPr>
        <p:sp>
          <p:nvSpPr>
            <p:cNvPr id="92" name="Rectangle 92"/>
            <p:cNvSpPr/>
            <p:nvPr/>
          </p:nvSpPr>
          <p:spPr>
            <a:xfrm>
              <a:off x="609600" y="4953000"/>
              <a:ext cx="381000" cy="819150"/>
            </a:xfrm>
            <a:prstGeom prst="roundRect">
              <a:avLst>
                <a:gd name="adj" fmla="val 20000"/>
              </a:avLst>
            </a:prstGeom>
            <a:solidFill>
              <a:srgbClr val="5A647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 rot="-5400000">
              <a:off x="632984" y="5225415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设施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104900" y="4953000"/>
              <a:ext cx="10477500" cy="819150"/>
            </a:xfrm>
            <a:prstGeom prst="roundRect">
              <a:avLst>
                <a:gd name="adj" fmla="val 13953"/>
              </a:avLst>
            </a:prstGeom>
            <a:solidFill>
              <a:srgbClr val="F1F4F8"/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44918" y="505729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基础设施 · 数据与存储</a:t>
              </a:r>
            </a:p>
          </p:txBody>
        </p:sp>
        <p:grpSp>
          <p:nvGrpSpPr>
            <p:cNvPr id="102" name="Group 102"/>
            <p:cNvGrpSpPr/>
            <p:nvPr/>
          </p:nvGrpSpPr>
          <p:grpSpPr>
            <a:xfrm>
              <a:off x="1257300" y="5257800"/>
              <a:ext cx="3286125" cy="381000"/>
              <a:chOff x="1257300" y="5257800"/>
              <a:chExt cx="3286125" cy="3810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1257300" y="5257800"/>
                <a:ext cx="32861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grpSp>
            <p:nvGrpSpPr>
              <p:cNvPr id="100" name="Group 100"/>
              <p:cNvGrpSpPr/>
              <p:nvPr/>
            </p:nvGrpSpPr>
            <p:grpSpPr>
              <a:xfrm>
                <a:off x="1435894" y="5353050"/>
                <a:ext cx="157162" cy="209550"/>
                <a:chOff x="1435894" y="5353050"/>
                <a:chExt cx="157162" cy="209550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1435894" y="5436870"/>
                  <a:ext cx="157162" cy="60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60245">
                      <a:moveTo>
                        <a:pt x="145861" y="6682"/>
                      </a:moveTo>
                      <a:cubicBezTo>
                        <a:pt x="149545" y="4839"/>
                        <a:pt x="153395" y="2617"/>
                        <a:pt x="157162" y="0"/>
                      </a:cubicBezTo>
                      <a:lnTo>
                        <a:pt x="157162" y="20955"/>
                      </a:lnTo>
                      <a:cubicBezTo>
                        <a:pt x="157162" y="42654"/>
                        <a:pt x="121980" y="60245"/>
                        <a:pt x="78581" y="60245"/>
                      </a:cubicBezTo>
                      <a:cubicBezTo>
                        <a:pt x="35182" y="60245"/>
                        <a:pt x="0" y="42654"/>
                        <a:pt x="0" y="20955"/>
                      </a:cubicBezTo>
                      <a:lnTo>
                        <a:pt x="0" y="0"/>
                      </a:lnTo>
                      <a:cubicBezTo>
                        <a:pt x="3768" y="2617"/>
                        <a:pt x="7617" y="4839"/>
                        <a:pt x="11302" y="6682"/>
                      </a:cubicBezTo>
                      <a:cubicBezTo>
                        <a:pt x="29873" y="15967"/>
                        <a:pt x="53697" y="20955"/>
                        <a:pt x="78581" y="20955"/>
                      </a:cubicBezTo>
                      <a:cubicBezTo>
                        <a:pt x="103466" y="20955"/>
                        <a:pt x="127289" y="15967"/>
                        <a:pt x="145861" y="6682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1435894" y="5502354"/>
                  <a:ext cx="157162" cy="60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60246">
                      <a:moveTo>
                        <a:pt x="0" y="0"/>
                      </a:moveTo>
                      <a:lnTo>
                        <a:pt x="0" y="20955"/>
                      </a:lnTo>
                      <a:cubicBezTo>
                        <a:pt x="0" y="42655"/>
                        <a:pt x="35182" y="60246"/>
                        <a:pt x="78581" y="60246"/>
                      </a:cubicBezTo>
                      <a:cubicBezTo>
                        <a:pt x="121980" y="60246"/>
                        <a:pt x="157162" y="42655"/>
                        <a:pt x="157162" y="20955"/>
                      </a:cubicBezTo>
                      <a:lnTo>
                        <a:pt x="157162" y="0"/>
                      </a:lnTo>
                      <a:cubicBezTo>
                        <a:pt x="153395" y="2617"/>
                        <a:pt x="149545" y="4839"/>
                        <a:pt x="145861" y="6682"/>
                      </a:cubicBezTo>
                      <a:cubicBezTo>
                        <a:pt x="127289" y="15968"/>
                        <a:pt x="103466" y="20955"/>
                        <a:pt x="78581" y="20955"/>
                      </a:cubicBezTo>
                      <a:cubicBezTo>
                        <a:pt x="53697" y="20955"/>
                        <a:pt x="29873" y="15968"/>
                        <a:pt x="11302" y="6682"/>
                      </a:cubicBezTo>
                      <a:cubicBezTo>
                        <a:pt x="7617" y="4839"/>
                        <a:pt x="3768" y="2617"/>
                        <a:pt x="0" y="0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1435894" y="5353050"/>
                  <a:ext cx="157162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78581">
                      <a:moveTo>
                        <a:pt x="78581" y="0"/>
                      </a:moveTo>
                      <a:cubicBezTo>
                        <a:pt x="121980" y="0"/>
                        <a:pt x="157162" y="17591"/>
                        <a:pt x="157162" y="39291"/>
                      </a:cubicBezTo>
                      <a:cubicBezTo>
                        <a:pt x="157162" y="60990"/>
                        <a:pt x="121980" y="78581"/>
                        <a:pt x="78581" y="78581"/>
                      </a:cubicBezTo>
                      <a:cubicBezTo>
                        <a:pt x="35182" y="78581"/>
                        <a:pt x="0" y="60990"/>
                        <a:pt x="0" y="39291"/>
                      </a:cubicBezTo>
                      <a:cubicBezTo>
                        <a:pt x="0" y="17591"/>
                        <a:pt x="35182" y="0"/>
                        <a:pt x="78581" y="0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</p:grpSp>
          <p:sp>
            <p:nvSpPr>
              <p:cNvPr id="101" name="TextBox 101"/>
              <p:cNvSpPr txBox="1"/>
              <p:nvPr/>
            </p:nvSpPr>
            <p:spPr>
              <a:xfrm>
                <a:off x="1701165" y="5392102"/>
                <a:ext cx="17688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PostgreSQL · 结构化数据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4695825" y="5257800"/>
              <a:ext cx="3286125" cy="381000"/>
              <a:chOff x="4695825" y="5257800"/>
              <a:chExt cx="3286125" cy="381000"/>
            </a:xfrm>
          </p:grpSpPr>
          <p:sp>
            <p:nvSpPr>
              <p:cNvPr id="103" name="Rectangle 103"/>
              <p:cNvSpPr/>
              <p:nvPr/>
            </p:nvSpPr>
            <p:spPr>
              <a:xfrm>
                <a:off x="4695825" y="5257800"/>
                <a:ext cx="32861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4874419" y="5353050"/>
                <a:ext cx="157162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09550">
                    <a:moveTo>
                      <a:pt x="91678" y="91678"/>
                    </a:moveTo>
                    <a:lnTo>
                      <a:pt x="104775" y="0"/>
                    </a:lnTo>
                    <a:lnTo>
                      <a:pt x="78581" y="0"/>
                    </a:lnTo>
                    <a:lnTo>
                      <a:pt x="0" y="91678"/>
                    </a:lnTo>
                    <a:lnTo>
                      <a:pt x="0" y="117872"/>
                    </a:lnTo>
                    <a:lnTo>
                      <a:pt x="65484" y="117872"/>
                    </a:lnTo>
                    <a:lnTo>
                      <a:pt x="52388" y="209550"/>
                    </a:lnTo>
                    <a:lnTo>
                      <a:pt x="78581" y="209550"/>
                    </a:lnTo>
                    <a:lnTo>
                      <a:pt x="157162" y="117872"/>
                    </a:lnTo>
                    <a:lnTo>
                      <a:pt x="157162" y="91678"/>
                    </a:lnTo>
                    <a:lnTo>
                      <a:pt x="91678" y="91678"/>
                    </a:ln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5139690" y="5392102"/>
                <a:ext cx="12983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Redis · 会话与缓存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8134350" y="5257800"/>
              <a:ext cx="3295650" cy="381000"/>
              <a:chOff x="8134350" y="5257800"/>
              <a:chExt cx="3295650" cy="381000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8134350" y="5257800"/>
                <a:ext cx="32956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grpSp>
            <p:nvGrpSpPr>
              <p:cNvPr id="110" name="Group 110"/>
              <p:cNvGrpSpPr/>
              <p:nvPr/>
            </p:nvGrpSpPr>
            <p:grpSpPr>
              <a:xfrm>
                <a:off x="8286750" y="5379244"/>
                <a:ext cx="209550" cy="157162"/>
                <a:chOff x="8286750" y="5379244"/>
                <a:chExt cx="209550" cy="157162"/>
              </a:xfrm>
            </p:grpSpPr>
            <p:sp>
              <p:nvSpPr>
                <p:cNvPr id="108" name="Freeform 108"/>
                <p:cNvSpPr/>
                <p:nvPr/>
              </p:nvSpPr>
              <p:spPr>
                <a:xfrm>
                  <a:off x="8286750" y="5379244"/>
                  <a:ext cx="209550" cy="65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65484">
                      <a:moveTo>
                        <a:pt x="209550" y="0"/>
                      </a:moveTo>
                      <a:lnTo>
                        <a:pt x="0" y="0"/>
                      </a:lnTo>
                      <a:lnTo>
                        <a:pt x="0" y="65484"/>
                      </a:lnTo>
                      <a:lnTo>
                        <a:pt x="209550" y="65484"/>
                      </a:lnTo>
                      <a:lnTo>
                        <a:pt x="209550" y="0"/>
                      </a:lnTo>
                      <a:close/>
                      <a:moveTo>
                        <a:pt x="52388" y="32742"/>
                      </a:moveTo>
                      <a:cubicBezTo>
                        <a:pt x="52388" y="39975"/>
                        <a:pt x="46524" y="45839"/>
                        <a:pt x="39291" y="45839"/>
                      </a:cubicBezTo>
                      <a:cubicBezTo>
                        <a:pt x="32057" y="45839"/>
                        <a:pt x="26194" y="39975"/>
                        <a:pt x="26194" y="32742"/>
                      </a:cubicBezTo>
                      <a:cubicBezTo>
                        <a:pt x="26194" y="25509"/>
                        <a:pt x="32057" y="19645"/>
                        <a:pt x="39291" y="19645"/>
                      </a:cubicBezTo>
                      <a:cubicBezTo>
                        <a:pt x="46524" y="19645"/>
                        <a:pt x="52388" y="25509"/>
                        <a:pt x="52388" y="32742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  <p:sp>
              <p:nvSpPr>
                <p:cNvPr id="109" name="Freeform 109"/>
                <p:cNvSpPr/>
                <p:nvPr/>
              </p:nvSpPr>
              <p:spPr>
                <a:xfrm>
                  <a:off x="8286750" y="5470922"/>
                  <a:ext cx="209550" cy="65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65484">
                      <a:moveTo>
                        <a:pt x="209550" y="0"/>
                      </a:moveTo>
                      <a:lnTo>
                        <a:pt x="0" y="0"/>
                      </a:lnTo>
                      <a:lnTo>
                        <a:pt x="0" y="65484"/>
                      </a:lnTo>
                      <a:lnTo>
                        <a:pt x="209550" y="65484"/>
                      </a:lnTo>
                      <a:lnTo>
                        <a:pt x="209550" y="0"/>
                      </a:lnTo>
                      <a:close/>
                      <a:moveTo>
                        <a:pt x="39291" y="45839"/>
                      </a:moveTo>
                      <a:cubicBezTo>
                        <a:pt x="46524" y="45839"/>
                        <a:pt x="52388" y="39976"/>
                        <a:pt x="52388" y="32742"/>
                      </a:cubicBezTo>
                      <a:cubicBezTo>
                        <a:pt x="52388" y="25509"/>
                        <a:pt x="46524" y="19645"/>
                        <a:pt x="39291" y="19645"/>
                      </a:cubicBezTo>
                      <a:cubicBezTo>
                        <a:pt x="32057" y="19645"/>
                        <a:pt x="26194" y="25509"/>
                        <a:pt x="26194" y="32742"/>
                      </a:cubicBezTo>
                      <a:cubicBezTo>
                        <a:pt x="26194" y="39976"/>
                        <a:pt x="32057" y="45839"/>
                        <a:pt x="39291" y="45839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</p:grpSp>
          <p:sp>
            <p:nvSpPr>
              <p:cNvPr id="111" name="TextBox 111"/>
              <p:cNvSpPr txBox="1"/>
              <p:nvPr/>
            </p:nvSpPr>
            <p:spPr>
              <a:xfrm>
                <a:off x="8578215" y="5392102"/>
                <a:ext cx="19085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MinIO · 课件与音频对象存储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8" grpId="0"/>
      <p:bldP spid="63" grpId="0"/>
      <p:bldP spid="91" grpId="0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4CEE-2F3B-3ADA-E630-B5E9BA3F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F23C1DF-EBA7-73F2-47BD-23055F44A3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B9CA06A-FBBA-5594-037C-34E79912A580}"/>
              </a:ext>
            </a:extLst>
          </p:cNvPr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D7FB9C8E-52A5-3396-752B-52CD87014992}"/>
                </a:ext>
              </a:extLst>
            </p:cNvPr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BB4BA2-0383-9283-61CA-BD5936DD1403}"/>
                </a:ext>
              </a:extLst>
            </p:cNvPr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1C3458-0126-1369-366B-D0BB38630589}"/>
                </a:ext>
              </a:extLst>
            </p:cNvPr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1E927CF-B3DC-4953-CDF4-C4FFFDCD0ED3}"/>
              </a:ext>
            </a:extLst>
          </p:cNvPr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7AC9C84-F7B1-0172-568D-50474B7C4E24}"/>
                </a:ext>
              </a:extLst>
            </p:cNvPr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1C16E54-3BE4-F8D3-BA39-F86A97CC29BE}"/>
                </a:ext>
              </a:extLst>
            </p:cNvPr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ED4680E-222B-D52C-018C-347001B042D3}"/>
                </a:ext>
              </a:extLst>
            </p:cNvPr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49DF212-7C93-54B5-F4E7-6DE6FBD33570}"/>
                </a:ext>
              </a:extLst>
            </p:cNvPr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9BABD00-007E-6EDC-D9B8-CA8134146415}"/>
                </a:ext>
              </a:extLst>
            </p:cNvPr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A7FECBE-CE86-7800-0E74-6ED42DD7005B}"/>
                </a:ext>
              </a:extLst>
            </p:cNvPr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F9FD4330-E577-6F26-9295-8152B3DA504E}"/>
                </a:ext>
              </a:extLst>
            </p:cNvPr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BB51B87-D526-CB05-64B3-1AA751A4D037}"/>
                </a:ext>
              </a:extLst>
            </p:cNvPr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sp>
        <p:nvSpPr>
          <p:cNvPr id="16" name="Rectangle 16">
            <a:extLst>
              <a:ext uri="{FF2B5EF4-FFF2-40B4-BE49-F238E27FC236}">
                <a16:creationId xmlns:a16="http://schemas.microsoft.com/office/drawing/2014/main" id="{09851FF9-3D03-5D29-9898-31C82C657E90}"/>
              </a:ext>
            </a:extLst>
          </p:cNvPr>
          <p:cNvSpPr/>
          <p:nvPr/>
        </p:nvSpPr>
        <p:spPr>
          <a:xfrm>
            <a:off x="609600" y="100965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116" name="Group 116">
            <a:extLst>
              <a:ext uri="{FF2B5EF4-FFF2-40B4-BE49-F238E27FC236}">
                <a16:creationId xmlns:a16="http://schemas.microsoft.com/office/drawing/2014/main" id="{D6927D0C-4605-D833-F5EB-0AD6DD99A59F}"/>
              </a:ext>
            </a:extLst>
          </p:cNvPr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114" name="TextBox 114">
              <a:extLst>
                <a:ext uri="{FF2B5EF4-FFF2-40B4-BE49-F238E27FC236}">
                  <a16:creationId xmlns:a16="http://schemas.microsoft.com/office/drawing/2014/main" id="{D90C14CE-95F6-3E5F-3D10-307466F49CA2}"/>
                </a:ext>
              </a:extLst>
            </p:cNvPr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115" name="TextBox 115">
              <a:extLst>
                <a:ext uri="{FF2B5EF4-FFF2-40B4-BE49-F238E27FC236}">
                  <a16:creationId xmlns:a16="http://schemas.microsoft.com/office/drawing/2014/main" id="{7C90A23F-B501-EEB7-420D-D59901C0BBEC}"/>
                </a:ext>
              </a:extLst>
            </p:cNvPr>
            <p:cNvSpPr txBox="1"/>
            <p:nvPr/>
          </p:nvSpPr>
          <p:spPr>
            <a:xfrm>
              <a:off x="11465591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17" name="TextBox 11">
            <a:extLst>
              <a:ext uri="{FF2B5EF4-FFF2-40B4-BE49-F238E27FC236}">
                <a16:creationId xmlns:a16="http://schemas.microsoft.com/office/drawing/2014/main" id="{DCD56067-2880-38CC-C673-CB507E2A5FAE}"/>
              </a:ext>
            </a:extLst>
          </p:cNvPr>
          <p:cNvSpPr txBox="1"/>
          <p:nvPr/>
        </p:nvSpPr>
        <p:spPr>
          <a:xfrm>
            <a:off x="800100" y="979170"/>
            <a:ext cx="678180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架构优势：能力沉淀一次，教学场景持续复用</a:t>
            </a:r>
          </a:p>
        </p:txBody>
      </p:sp>
      <p:grpSp>
        <p:nvGrpSpPr>
          <p:cNvPr id="118" name="Group 41">
            <a:extLst>
              <a:ext uri="{FF2B5EF4-FFF2-40B4-BE49-F238E27FC236}">
                <a16:creationId xmlns:a16="http://schemas.microsoft.com/office/drawing/2014/main" id="{04EA24C5-72C8-C290-7BFA-D9DAD536E536}"/>
              </a:ext>
            </a:extLst>
          </p:cNvPr>
          <p:cNvGrpSpPr/>
          <p:nvPr/>
        </p:nvGrpSpPr>
        <p:grpSpPr>
          <a:xfrm>
            <a:off x="514350" y="1800225"/>
            <a:ext cx="7753350" cy="704850"/>
            <a:chOff x="514350" y="1600200"/>
            <a:chExt cx="7753350" cy="704850"/>
          </a:xfrm>
        </p:grpSpPr>
        <p:sp>
          <p:nvSpPr>
            <p:cNvPr id="119" name="Rectangle 31">
              <a:extLst>
                <a:ext uri="{FF2B5EF4-FFF2-40B4-BE49-F238E27FC236}">
                  <a16:creationId xmlns:a16="http://schemas.microsoft.com/office/drawing/2014/main" id="{0F0A08F3-3048-1DA1-F5EB-A97BA3872E04}"/>
                </a:ext>
              </a:extLst>
            </p:cNvPr>
            <p:cNvSpPr/>
            <p:nvPr/>
          </p:nvSpPr>
          <p:spPr>
            <a:xfrm>
              <a:off x="514350" y="1600200"/>
              <a:ext cx="7753350" cy="704850"/>
            </a:xfrm>
            <a:prstGeom prst="roundRect">
              <a:avLst>
                <a:gd name="adj" fmla="val 18919"/>
              </a:avLst>
            </a:prstGeom>
            <a:solidFill>
              <a:srgbClr val="F7FAFF"/>
            </a:solidFill>
            <a:ln w="19050">
              <a:solidFill>
                <a:srgbClr val="3A73D9"/>
              </a:solidFill>
            </a:ln>
          </p:spPr>
        </p:sp>
        <p:sp>
          <p:nvSpPr>
            <p:cNvPr id="120" name="TextBox 32">
              <a:extLst>
                <a:ext uri="{FF2B5EF4-FFF2-40B4-BE49-F238E27FC236}">
                  <a16:creationId xmlns:a16="http://schemas.microsoft.com/office/drawing/2014/main" id="{8CEEDF55-EA4C-1DF8-2A9E-E593D380B729}"/>
                </a:ext>
              </a:extLst>
            </p:cNvPr>
            <p:cNvSpPr txBox="1"/>
            <p:nvPr/>
          </p:nvSpPr>
          <p:spPr>
            <a:xfrm>
              <a:off x="782955" y="189261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AI教学场景层</a:t>
              </a:r>
            </a:p>
          </p:txBody>
        </p:sp>
        <p:sp>
          <p:nvSpPr>
            <p:cNvPr id="121" name="Rectangle 33">
              <a:extLst>
                <a:ext uri="{FF2B5EF4-FFF2-40B4-BE49-F238E27FC236}">
                  <a16:creationId xmlns:a16="http://schemas.microsoft.com/office/drawing/2014/main" id="{2B49CD68-BE3A-BFA9-2362-6ADE18780AA6}"/>
                </a:ext>
              </a:extLst>
            </p:cNvPr>
            <p:cNvSpPr/>
            <p:nvPr/>
          </p:nvSpPr>
          <p:spPr>
            <a:xfrm>
              <a:off x="2647950" y="17335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A6C1EC"/>
              </a:solidFill>
            </a:ln>
          </p:spPr>
        </p:sp>
        <p:sp>
          <p:nvSpPr>
            <p:cNvPr id="122" name="TextBox 34">
              <a:extLst>
                <a:ext uri="{FF2B5EF4-FFF2-40B4-BE49-F238E27FC236}">
                  <a16:creationId xmlns:a16="http://schemas.microsoft.com/office/drawing/2014/main" id="{24BF18F9-1312-9E8C-0C04-C4F2B9B80FD9}"/>
                </a:ext>
              </a:extLst>
            </p:cNvPr>
            <p:cNvSpPr txBox="1"/>
            <p:nvPr/>
          </p:nvSpPr>
          <p:spPr>
            <a:xfrm>
              <a:off x="3012405" y="1861185"/>
              <a:ext cx="509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AI问答</a:t>
              </a:r>
            </a:p>
          </p:txBody>
        </p:sp>
        <p:sp>
          <p:nvSpPr>
            <p:cNvPr id="123" name="Rectangle 35">
              <a:extLst>
                <a:ext uri="{FF2B5EF4-FFF2-40B4-BE49-F238E27FC236}">
                  <a16:creationId xmlns:a16="http://schemas.microsoft.com/office/drawing/2014/main" id="{5686DCA2-AFD0-7935-F14B-E3BDF4344620}"/>
                </a:ext>
              </a:extLst>
            </p:cNvPr>
            <p:cNvSpPr/>
            <p:nvPr/>
          </p:nvSpPr>
          <p:spPr>
            <a:xfrm>
              <a:off x="4019550" y="17335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A6C1EC"/>
              </a:solidFill>
            </a:ln>
          </p:spPr>
        </p:sp>
        <p:sp>
          <p:nvSpPr>
            <p:cNvPr id="124" name="TextBox 36">
              <a:extLst>
                <a:ext uri="{FF2B5EF4-FFF2-40B4-BE49-F238E27FC236}">
                  <a16:creationId xmlns:a16="http://schemas.microsoft.com/office/drawing/2014/main" id="{7B62A288-17E2-E3E4-C57A-266032E578E0}"/>
                </a:ext>
              </a:extLst>
            </p:cNvPr>
            <p:cNvSpPr txBox="1"/>
            <p:nvPr/>
          </p:nvSpPr>
          <p:spPr>
            <a:xfrm>
              <a:off x="4384005" y="1861185"/>
              <a:ext cx="509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AI讲解</a:t>
              </a:r>
            </a:p>
          </p:txBody>
        </p:sp>
        <p:sp>
          <p:nvSpPr>
            <p:cNvPr id="125" name="Rectangle 37">
              <a:extLst>
                <a:ext uri="{FF2B5EF4-FFF2-40B4-BE49-F238E27FC236}">
                  <a16:creationId xmlns:a16="http://schemas.microsoft.com/office/drawing/2014/main" id="{8D384951-8474-9006-BF08-99272A72D490}"/>
                </a:ext>
              </a:extLst>
            </p:cNvPr>
            <p:cNvSpPr/>
            <p:nvPr/>
          </p:nvSpPr>
          <p:spPr>
            <a:xfrm>
              <a:off x="5391150" y="17335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A6C1EC"/>
              </a:solidFill>
            </a:ln>
          </p:spPr>
        </p:sp>
        <p:sp>
          <p:nvSpPr>
            <p:cNvPr id="126" name="TextBox 38">
              <a:extLst>
                <a:ext uri="{FF2B5EF4-FFF2-40B4-BE49-F238E27FC236}">
                  <a16:creationId xmlns:a16="http://schemas.microsoft.com/office/drawing/2014/main" id="{2CE78CD3-BF9A-9B1D-BD3F-79ABB0CC9171}"/>
                </a:ext>
              </a:extLst>
            </p:cNvPr>
            <p:cNvSpPr txBox="1"/>
            <p:nvPr/>
          </p:nvSpPr>
          <p:spPr>
            <a:xfrm>
              <a:off x="5587584" y="1861185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AI脚本生成</a:t>
              </a:r>
            </a:p>
          </p:txBody>
        </p:sp>
        <p:sp>
          <p:nvSpPr>
            <p:cNvPr id="127" name="Rectangle 39">
              <a:extLst>
                <a:ext uri="{FF2B5EF4-FFF2-40B4-BE49-F238E27FC236}">
                  <a16:creationId xmlns:a16="http://schemas.microsoft.com/office/drawing/2014/main" id="{5C748D1D-CD51-90B0-65B9-C61EA6A1AF9B}"/>
                </a:ext>
              </a:extLst>
            </p:cNvPr>
            <p:cNvSpPr/>
            <p:nvPr/>
          </p:nvSpPr>
          <p:spPr>
            <a:xfrm>
              <a:off x="6762750" y="17335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A6C1EC"/>
              </a:solidFill>
            </a:ln>
          </p:spPr>
        </p:sp>
        <p:sp>
          <p:nvSpPr>
            <p:cNvPr id="128" name="TextBox 40">
              <a:extLst>
                <a:ext uri="{FF2B5EF4-FFF2-40B4-BE49-F238E27FC236}">
                  <a16:creationId xmlns:a16="http://schemas.microsoft.com/office/drawing/2014/main" id="{FA741910-CB9F-67C6-9770-E92E4B61ADB6}"/>
                </a:ext>
              </a:extLst>
            </p:cNvPr>
            <p:cNvSpPr txBox="1"/>
            <p:nvPr/>
          </p:nvSpPr>
          <p:spPr>
            <a:xfrm>
              <a:off x="7030593" y="18611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学情分析</a:t>
              </a:r>
            </a:p>
          </p:txBody>
        </p:sp>
      </p:grpSp>
      <p:grpSp>
        <p:nvGrpSpPr>
          <p:cNvPr id="131" name="Group 62"/>
          <p:cNvGrpSpPr/>
          <p:nvPr/>
        </p:nvGrpSpPr>
        <p:grpSpPr>
          <a:xfrm>
            <a:off x="514350" y="3731102"/>
            <a:ext cx="7753350" cy="704850"/>
            <a:chOff x="514350" y="3505200"/>
            <a:chExt cx="7753350" cy="704850"/>
          </a:xfrm>
        </p:grpSpPr>
        <p:sp>
          <p:nvSpPr>
            <p:cNvPr id="132" name="Rectangle 53"/>
            <p:cNvSpPr/>
            <p:nvPr/>
          </p:nvSpPr>
          <p:spPr>
            <a:xfrm>
              <a:off x="514350" y="3505200"/>
              <a:ext cx="7753350" cy="704850"/>
            </a:xfrm>
            <a:prstGeom prst="roundRect">
              <a:avLst>
                <a:gd name="adj" fmla="val 18919"/>
              </a:avLst>
            </a:prstGeom>
            <a:solidFill>
              <a:srgbClr val="F3FCF9"/>
            </a:solidFill>
            <a:ln w="19050">
              <a:solidFill>
                <a:srgbClr val="53B69A"/>
              </a:solidFill>
            </a:ln>
          </p:spPr>
        </p:sp>
        <p:sp>
          <p:nvSpPr>
            <p:cNvPr id="133" name="TextBox 54"/>
            <p:cNvSpPr txBox="1"/>
            <p:nvPr/>
          </p:nvSpPr>
          <p:spPr>
            <a:xfrm>
              <a:off x="782955" y="3797618"/>
              <a:ext cx="1461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Workflow编排层</a:t>
              </a:r>
            </a:p>
          </p:txBody>
        </p:sp>
        <p:sp>
          <p:nvSpPr>
            <p:cNvPr id="134" name="TextBox 55"/>
            <p:cNvSpPr txBox="1"/>
            <p:nvPr/>
          </p:nvSpPr>
          <p:spPr>
            <a:xfrm>
              <a:off x="2738438" y="38057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解析</a:t>
              </a:r>
            </a:p>
          </p:txBody>
        </p:sp>
        <p:sp>
          <p:nvSpPr>
            <p:cNvPr id="135" name="TextBox 56"/>
            <p:cNvSpPr txBox="1"/>
            <p:nvPr/>
          </p:nvSpPr>
          <p:spPr>
            <a:xfrm>
              <a:off x="3339465" y="376523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</a:p>
          </p:txBody>
        </p:sp>
        <p:sp>
          <p:nvSpPr>
            <p:cNvPr id="136" name="TextBox 57"/>
            <p:cNvSpPr txBox="1"/>
            <p:nvPr/>
          </p:nvSpPr>
          <p:spPr>
            <a:xfrm>
              <a:off x="3818572" y="38057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入库</a:t>
              </a:r>
            </a:p>
          </p:txBody>
        </p:sp>
        <p:sp>
          <p:nvSpPr>
            <p:cNvPr id="137" name="TextBox 58"/>
            <p:cNvSpPr txBox="1"/>
            <p:nvPr/>
          </p:nvSpPr>
          <p:spPr>
            <a:xfrm>
              <a:off x="4440555" y="376523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</a:p>
          </p:txBody>
        </p:sp>
        <p:sp>
          <p:nvSpPr>
            <p:cNvPr id="138" name="TextBox 59"/>
            <p:cNvSpPr txBox="1"/>
            <p:nvPr/>
          </p:nvSpPr>
          <p:spPr>
            <a:xfrm>
              <a:off x="5096827" y="38057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</a:t>
              </a:r>
            </a:p>
          </p:txBody>
        </p:sp>
        <p:sp>
          <p:nvSpPr>
            <p:cNvPr id="139" name="TextBox 60"/>
            <p:cNvSpPr txBox="1"/>
            <p:nvPr/>
          </p:nvSpPr>
          <p:spPr>
            <a:xfrm>
              <a:off x="5810250" y="376523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</a:p>
          </p:txBody>
        </p:sp>
        <p:sp>
          <p:nvSpPr>
            <p:cNvPr id="140" name="TextBox 61"/>
            <p:cNvSpPr txBox="1"/>
            <p:nvPr/>
          </p:nvSpPr>
          <p:spPr>
            <a:xfrm>
              <a:off x="6345873" y="3805714"/>
              <a:ext cx="126365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</a:t>
              </a:r>
              <a:r>
                <a:rPr lang="en-US" alt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 </a:t>
              </a:r>
              <a:r>
                <a:rPr 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→ </a:t>
              </a:r>
              <a:r>
                <a:rPr lang="en-US" alt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    </a:t>
              </a:r>
              <a:r>
                <a:rPr lang="zh-CN" sz="1275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推送</a:t>
              </a:r>
            </a:p>
          </p:txBody>
        </p:sp>
      </p:grpSp>
      <p:grpSp>
        <p:nvGrpSpPr>
          <p:cNvPr id="141" name="Group 77"/>
          <p:cNvGrpSpPr/>
          <p:nvPr/>
        </p:nvGrpSpPr>
        <p:grpSpPr>
          <a:xfrm>
            <a:off x="536524" y="4704082"/>
            <a:ext cx="7753350" cy="704850"/>
            <a:chOff x="514350" y="4457700"/>
            <a:chExt cx="7753350" cy="704850"/>
          </a:xfrm>
        </p:grpSpPr>
        <p:sp>
          <p:nvSpPr>
            <p:cNvPr id="142" name="Rectangle 63"/>
            <p:cNvSpPr/>
            <p:nvPr/>
          </p:nvSpPr>
          <p:spPr>
            <a:xfrm>
              <a:off x="514350" y="4457700"/>
              <a:ext cx="7753350" cy="704850"/>
            </a:xfrm>
            <a:prstGeom prst="roundRect">
              <a:avLst>
                <a:gd name="adj" fmla="val 18919"/>
              </a:avLst>
            </a:prstGeom>
            <a:solidFill>
              <a:srgbClr val="F3F8FF"/>
            </a:solidFill>
            <a:ln w="19050">
              <a:solidFill>
                <a:srgbClr val="9CBFE8"/>
              </a:solidFill>
            </a:ln>
          </p:spPr>
        </p:sp>
        <p:sp>
          <p:nvSpPr>
            <p:cNvPr id="143" name="TextBox 64"/>
            <p:cNvSpPr txBox="1"/>
            <p:nvPr/>
          </p:nvSpPr>
          <p:spPr>
            <a:xfrm>
              <a:off x="782955" y="47501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模型适配层</a:t>
              </a:r>
            </a:p>
          </p:txBody>
        </p:sp>
        <p:sp>
          <p:nvSpPr>
            <p:cNvPr id="144" name="Rectangle 65"/>
            <p:cNvSpPr/>
            <p:nvPr/>
          </p:nvSpPr>
          <p:spPr>
            <a:xfrm>
              <a:off x="2647950" y="4591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5D8F0"/>
              </a:solidFill>
            </a:ln>
          </p:spPr>
        </p:sp>
        <p:sp>
          <p:nvSpPr>
            <p:cNvPr id="145" name="Freeform 66"/>
            <p:cNvSpPr/>
            <p:nvPr/>
          </p:nvSpPr>
          <p:spPr>
            <a:xfrm>
              <a:off x="2762066" y="4696661"/>
              <a:ext cx="171828" cy="169778"/>
            </a:xfrm>
            <a:custGeom>
              <a:avLst/>
              <a:gdLst/>
              <a:ahLst/>
              <a:cxnLst/>
              <a:rect l="l" t="t" r="r" b="b"/>
              <a:pathLst>
                <a:path w="171828" h="169778">
                  <a:moveTo>
                    <a:pt x="171055" y="103070"/>
                  </a:moveTo>
                  <a:lnTo>
                    <a:pt x="148895" y="64672"/>
                  </a:lnTo>
                  <a:lnTo>
                    <a:pt x="159397" y="46499"/>
                  </a:lnTo>
                  <a:cubicBezTo>
                    <a:pt x="160128" y="45250"/>
                    <a:pt x="160128" y="43704"/>
                    <a:pt x="159397" y="42455"/>
                  </a:cubicBezTo>
                  <a:lnTo>
                    <a:pt x="147731" y="22238"/>
                  </a:lnTo>
                  <a:cubicBezTo>
                    <a:pt x="147005" y="20992"/>
                    <a:pt x="145673" y="20223"/>
                    <a:pt x="144231" y="20217"/>
                  </a:cubicBezTo>
                  <a:lnTo>
                    <a:pt x="99889" y="20217"/>
                  </a:lnTo>
                  <a:lnTo>
                    <a:pt x="89388" y="2036"/>
                  </a:lnTo>
                  <a:cubicBezTo>
                    <a:pt x="88663" y="787"/>
                    <a:pt x="87332" y="15"/>
                    <a:pt x="85888" y="7"/>
                  </a:cubicBezTo>
                  <a:lnTo>
                    <a:pt x="62563" y="7"/>
                  </a:lnTo>
                  <a:cubicBezTo>
                    <a:pt x="61115" y="0"/>
                    <a:pt x="59776" y="776"/>
                    <a:pt x="59063" y="2036"/>
                  </a:cubicBezTo>
                  <a:lnTo>
                    <a:pt x="36896" y="40419"/>
                  </a:lnTo>
                  <a:lnTo>
                    <a:pt x="15893" y="40419"/>
                  </a:lnTo>
                  <a:cubicBezTo>
                    <a:pt x="14445" y="40412"/>
                    <a:pt x="13106" y="41188"/>
                    <a:pt x="12393" y="42448"/>
                  </a:cubicBezTo>
                  <a:lnTo>
                    <a:pt x="734" y="62651"/>
                  </a:lnTo>
                  <a:cubicBezTo>
                    <a:pt x="0" y="63901"/>
                    <a:pt x="0" y="65451"/>
                    <a:pt x="734" y="66701"/>
                  </a:cubicBezTo>
                  <a:lnTo>
                    <a:pt x="22901" y="105106"/>
                  </a:lnTo>
                  <a:lnTo>
                    <a:pt x="12400" y="123287"/>
                  </a:lnTo>
                  <a:cubicBezTo>
                    <a:pt x="11669" y="124535"/>
                    <a:pt x="11669" y="126082"/>
                    <a:pt x="12400" y="127330"/>
                  </a:cubicBezTo>
                  <a:lnTo>
                    <a:pt x="24073" y="147547"/>
                  </a:lnTo>
                  <a:cubicBezTo>
                    <a:pt x="24799" y="148793"/>
                    <a:pt x="26131" y="149562"/>
                    <a:pt x="27573" y="149569"/>
                  </a:cubicBezTo>
                  <a:lnTo>
                    <a:pt x="71900" y="149569"/>
                  </a:lnTo>
                  <a:lnTo>
                    <a:pt x="82401" y="167749"/>
                  </a:lnTo>
                  <a:cubicBezTo>
                    <a:pt x="83126" y="168999"/>
                    <a:pt x="84458" y="169771"/>
                    <a:pt x="85902" y="169778"/>
                  </a:cubicBezTo>
                  <a:lnTo>
                    <a:pt x="109233" y="169778"/>
                  </a:lnTo>
                  <a:cubicBezTo>
                    <a:pt x="110677" y="169771"/>
                    <a:pt x="112009" y="168999"/>
                    <a:pt x="112734" y="167749"/>
                  </a:cubicBezTo>
                  <a:lnTo>
                    <a:pt x="134908" y="129352"/>
                  </a:lnTo>
                  <a:lnTo>
                    <a:pt x="155911" y="129352"/>
                  </a:lnTo>
                  <a:cubicBezTo>
                    <a:pt x="157353" y="129346"/>
                    <a:pt x="158685" y="128576"/>
                    <a:pt x="159411" y="127330"/>
                  </a:cubicBezTo>
                  <a:lnTo>
                    <a:pt x="171084" y="107128"/>
                  </a:lnTo>
                  <a:cubicBezTo>
                    <a:pt x="171828" y="105874"/>
                    <a:pt x="171817" y="104313"/>
                    <a:pt x="171055" y="103070"/>
                  </a:cubicBezTo>
                  <a:moveTo>
                    <a:pt x="62570" y="4065"/>
                  </a:moveTo>
                  <a:lnTo>
                    <a:pt x="74243" y="24267"/>
                  </a:lnTo>
                  <a:lnTo>
                    <a:pt x="62570" y="44470"/>
                  </a:lnTo>
                  <a:lnTo>
                    <a:pt x="155918" y="44470"/>
                  </a:lnTo>
                  <a:lnTo>
                    <a:pt x="144231" y="64672"/>
                  </a:lnTo>
                  <a:lnTo>
                    <a:pt x="53226" y="64672"/>
                  </a:lnTo>
                  <a:lnTo>
                    <a:pt x="40403" y="42455"/>
                  </a:lnTo>
                  <a:close/>
                  <a:moveTo>
                    <a:pt x="71900" y="145518"/>
                  </a:moveTo>
                  <a:lnTo>
                    <a:pt x="27573" y="145504"/>
                  </a:lnTo>
                  <a:lnTo>
                    <a:pt x="39246" y="125287"/>
                  </a:lnTo>
                  <a:lnTo>
                    <a:pt x="62570" y="125287"/>
                  </a:lnTo>
                  <a:lnTo>
                    <a:pt x="15907" y="44484"/>
                  </a:lnTo>
                  <a:lnTo>
                    <a:pt x="39246" y="44484"/>
                  </a:lnTo>
                  <a:cubicBezTo>
                    <a:pt x="54400" y="70759"/>
                    <a:pt x="69562" y="97029"/>
                    <a:pt x="84730" y="123294"/>
                  </a:cubicBezTo>
                  <a:close/>
                  <a:moveTo>
                    <a:pt x="144223" y="105084"/>
                  </a:moveTo>
                  <a:lnTo>
                    <a:pt x="132558" y="84889"/>
                  </a:lnTo>
                  <a:lnTo>
                    <a:pt x="85895" y="165721"/>
                  </a:lnTo>
                  <a:lnTo>
                    <a:pt x="74222" y="145504"/>
                  </a:lnTo>
                  <a:cubicBezTo>
                    <a:pt x="89431" y="119265"/>
                    <a:pt x="104583" y="92990"/>
                    <a:pt x="119749" y="66723"/>
                  </a:cubicBezTo>
                  <a:lnTo>
                    <a:pt x="145409" y="66723"/>
                  </a:lnTo>
                  <a:lnTo>
                    <a:pt x="167569" y="105113"/>
                  </a:lnTo>
                  <a:close/>
                </a:path>
              </a:pathLst>
            </a:custGeom>
            <a:solidFill>
              <a:srgbClr val="476AE4"/>
            </a:solidFill>
            <a:ln>
              <a:noFill/>
            </a:ln>
          </p:spPr>
        </p:sp>
        <p:sp>
          <p:nvSpPr>
            <p:cNvPr id="146" name="TextBox 67"/>
            <p:cNvSpPr txBox="1"/>
            <p:nvPr/>
          </p:nvSpPr>
          <p:spPr>
            <a:xfrm>
              <a:off x="3119133" y="4718685"/>
              <a:ext cx="4673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Qwen</a:t>
              </a:r>
            </a:p>
          </p:txBody>
        </p:sp>
        <p:sp>
          <p:nvSpPr>
            <p:cNvPr id="147" name="Rectangle 68"/>
            <p:cNvSpPr/>
            <p:nvPr/>
          </p:nvSpPr>
          <p:spPr>
            <a:xfrm>
              <a:off x="4019550" y="4591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5D8F0"/>
              </a:solidFill>
            </a:ln>
          </p:spPr>
        </p:sp>
        <p:sp>
          <p:nvSpPr>
            <p:cNvPr id="148" name="Freeform 69"/>
            <p:cNvSpPr/>
            <p:nvPr/>
          </p:nvSpPr>
          <p:spPr>
            <a:xfrm>
              <a:off x="4132200" y="4718271"/>
              <a:ext cx="173207" cy="127266"/>
            </a:xfrm>
            <a:custGeom>
              <a:avLst/>
              <a:gdLst/>
              <a:ahLst/>
              <a:cxnLst/>
              <a:rect l="l" t="t" r="r" b="b"/>
              <a:pathLst>
                <a:path w="173207" h="127266">
                  <a:moveTo>
                    <a:pt x="171300" y="10780"/>
                  </a:moveTo>
                  <a:cubicBezTo>
                    <a:pt x="169485" y="9894"/>
                    <a:pt x="168700" y="11587"/>
                    <a:pt x="167642" y="12444"/>
                  </a:cubicBezTo>
                  <a:cubicBezTo>
                    <a:pt x="167278" y="12730"/>
                    <a:pt x="166971" y="13087"/>
                    <a:pt x="166664" y="13423"/>
                  </a:cubicBezTo>
                  <a:cubicBezTo>
                    <a:pt x="164006" y="16259"/>
                    <a:pt x="160906" y="18117"/>
                    <a:pt x="156855" y="17895"/>
                  </a:cubicBezTo>
                  <a:cubicBezTo>
                    <a:pt x="150933" y="17566"/>
                    <a:pt x="145875" y="19424"/>
                    <a:pt x="141403" y="23953"/>
                  </a:cubicBezTo>
                  <a:cubicBezTo>
                    <a:pt x="140453" y="18367"/>
                    <a:pt x="137296" y="15038"/>
                    <a:pt x="132495" y="12894"/>
                  </a:cubicBezTo>
                  <a:cubicBezTo>
                    <a:pt x="129981" y="11787"/>
                    <a:pt x="127437" y="10673"/>
                    <a:pt x="125673" y="8251"/>
                  </a:cubicBezTo>
                  <a:cubicBezTo>
                    <a:pt x="124444" y="6537"/>
                    <a:pt x="124108" y="4615"/>
                    <a:pt x="123494" y="2722"/>
                  </a:cubicBezTo>
                  <a:cubicBezTo>
                    <a:pt x="123101" y="1579"/>
                    <a:pt x="122708" y="414"/>
                    <a:pt x="121401" y="221"/>
                  </a:cubicBezTo>
                  <a:cubicBezTo>
                    <a:pt x="119972" y="0"/>
                    <a:pt x="119415" y="1193"/>
                    <a:pt x="118858" y="2193"/>
                  </a:cubicBezTo>
                  <a:cubicBezTo>
                    <a:pt x="116622" y="6279"/>
                    <a:pt x="115757" y="10780"/>
                    <a:pt x="115843" y="15338"/>
                  </a:cubicBezTo>
                  <a:cubicBezTo>
                    <a:pt x="116036" y="25596"/>
                    <a:pt x="120365" y="33769"/>
                    <a:pt x="128973" y="39576"/>
                  </a:cubicBezTo>
                  <a:cubicBezTo>
                    <a:pt x="129952" y="40248"/>
                    <a:pt x="130202" y="40912"/>
                    <a:pt x="129895" y="41884"/>
                  </a:cubicBezTo>
                  <a:cubicBezTo>
                    <a:pt x="129309" y="43884"/>
                    <a:pt x="128609" y="45834"/>
                    <a:pt x="127995" y="47835"/>
                  </a:cubicBezTo>
                  <a:cubicBezTo>
                    <a:pt x="127602" y="49113"/>
                    <a:pt x="127016" y="49392"/>
                    <a:pt x="125651" y="48835"/>
                  </a:cubicBezTo>
                  <a:cubicBezTo>
                    <a:pt x="121013" y="46850"/>
                    <a:pt x="116800" y="43990"/>
                    <a:pt x="113243" y="40412"/>
                  </a:cubicBezTo>
                  <a:cubicBezTo>
                    <a:pt x="107121" y="34497"/>
                    <a:pt x="101591" y="27961"/>
                    <a:pt x="94690" y="22839"/>
                  </a:cubicBezTo>
                  <a:cubicBezTo>
                    <a:pt x="93089" y="21663"/>
                    <a:pt x="91447" y="20543"/>
                    <a:pt x="89768" y="19481"/>
                  </a:cubicBezTo>
                  <a:cubicBezTo>
                    <a:pt x="82732" y="12644"/>
                    <a:pt x="90697" y="7029"/>
                    <a:pt x="92533" y="6365"/>
                  </a:cubicBezTo>
                  <a:cubicBezTo>
                    <a:pt x="94462" y="5665"/>
                    <a:pt x="93205" y="3272"/>
                    <a:pt x="86975" y="3308"/>
                  </a:cubicBezTo>
                  <a:cubicBezTo>
                    <a:pt x="80746" y="3329"/>
                    <a:pt x="75045" y="5415"/>
                    <a:pt x="67780" y="8201"/>
                  </a:cubicBezTo>
                  <a:cubicBezTo>
                    <a:pt x="66701" y="8614"/>
                    <a:pt x="65590" y="8939"/>
                    <a:pt x="64458" y="9173"/>
                  </a:cubicBezTo>
                  <a:cubicBezTo>
                    <a:pt x="57668" y="7896"/>
                    <a:pt x="50725" y="7653"/>
                    <a:pt x="43863" y="8451"/>
                  </a:cubicBezTo>
                  <a:cubicBezTo>
                    <a:pt x="30397" y="9951"/>
                    <a:pt x="19645" y="16309"/>
                    <a:pt x="11737" y="27182"/>
                  </a:cubicBezTo>
                  <a:cubicBezTo>
                    <a:pt x="2236" y="40248"/>
                    <a:pt x="0" y="55093"/>
                    <a:pt x="2736" y="70566"/>
                  </a:cubicBezTo>
                  <a:cubicBezTo>
                    <a:pt x="5615" y="86882"/>
                    <a:pt x="13937" y="100391"/>
                    <a:pt x="26739" y="110950"/>
                  </a:cubicBezTo>
                  <a:cubicBezTo>
                    <a:pt x="40005" y="121901"/>
                    <a:pt x="55293" y="127266"/>
                    <a:pt x="72731" y="126237"/>
                  </a:cubicBezTo>
                  <a:cubicBezTo>
                    <a:pt x="83318" y="125630"/>
                    <a:pt x="95105" y="124208"/>
                    <a:pt x="108406" y="112950"/>
                  </a:cubicBezTo>
                  <a:cubicBezTo>
                    <a:pt x="111764" y="114621"/>
                    <a:pt x="115279" y="115293"/>
                    <a:pt x="121122" y="115793"/>
                  </a:cubicBezTo>
                  <a:cubicBezTo>
                    <a:pt x="125616" y="116207"/>
                    <a:pt x="129945" y="115572"/>
                    <a:pt x="133302" y="114872"/>
                  </a:cubicBezTo>
                  <a:cubicBezTo>
                    <a:pt x="138553" y="113764"/>
                    <a:pt x="138189" y="108899"/>
                    <a:pt x="136288" y="108006"/>
                  </a:cubicBezTo>
                  <a:cubicBezTo>
                    <a:pt x="120894" y="100834"/>
                    <a:pt x="124273" y="103756"/>
                    <a:pt x="121201" y="101391"/>
                  </a:cubicBezTo>
                  <a:cubicBezTo>
                    <a:pt x="129023" y="92140"/>
                    <a:pt x="140975" y="75688"/>
                    <a:pt x="144661" y="53292"/>
                  </a:cubicBezTo>
                  <a:cubicBezTo>
                    <a:pt x="145018" y="50821"/>
                    <a:pt x="145482" y="47334"/>
                    <a:pt x="145432" y="45334"/>
                  </a:cubicBezTo>
                  <a:cubicBezTo>
                    <a:pt x="145404" y="44113"/>
                    <a:pt x="145682" y="43634"/>
                    <a:pt x="147076" y="43498"/>
                  </a:cubicBezTo>
                  <a:cubicBezTo>
                    <a:pt x="150940" y="43092"/>
                    <a:pt x="154688" y="41940"/>
                    <a:pt x="158113" y="40105"/>
                  </a:cubicBezTo>
                  <a:cubicBezTo>
                    <a:pt x="168092" y="34654"/>
                    <a:pt x="172114" y="25703"/>
                    <a:pt x="173064" y="14980"/>
                  </a:cubicBezTo>
                  <a:cubicBezTo>
                    <a:pt x="173207" y="13337"/>
                    <a:pt x="173036" y="11644"/>
                    <a:pt x="171300" y="10780"/>
                  </a:cubicBezTo>
                  <a:moveTo>
                    <a:pt x="84375" y="107342"/>
                  </a:moveTo>
                  <a:cubicBezTo>
                    <a:pt x="69459" y="95612"/>
                    <a:pt x="62222" y="91747"/>
                    <a:pt x="59229" y="91911"/>
                  </a:cubicBezTo>
                  <a:cubicBezTo>
                    <a:pt x="56443" y="92083"/>
                    <a:pt x="56943" y="95283"/>
                    <a:pt x="57557" y="97362"/>
                  </a:cubicBezTo>
                  <a:cubicBezTo>
                    <a:pt x="58200" y="99420"/>
                    <a:pt x="59036" y="100841"/>
                    <a:pt x="60208" y="102649"/>
                  </a:cubicBezTo>
                  <a:cubicBezTo>
                    <a:pt x="61022" y="103842"/>
                    <a:pt x="61579" y="105620"/>
                    <a:pt x="59400" y="106956"/>
                  </a:cubicBezTo>
                  <a:cubicBezTo>
                    <a:pt x="54593" y="109928"/>
                    <a:pt x="46241" y="105956"/>
                    <a:pt x="45849" y="105756"/>
                  </a:cubicBezTo>
                  <a:cubicBezTo>
                    <a:pt x="36126" y="100034"/>
                    <a:pt x="27989" y="92469"/>
                    <a:pt x="22267" y="82139"/>
                  </a:cubicBezTo>
                  <a:cubicBezTo>
                    <a:pt x="16731" y="72188"/>
                    <a:pt x="13516" y="61508"/>
                    <a:pt x="12987" y="50121"/>
                  </a:cubicBezTo>
                  <a:cubicBezTo>
                    <a:pt x="12844" y="47370"/>
                    <a:pt x="13659" y="46392"/>
                    <a:pt x="16395" y="45891"/>
                  </a:cubicBezTo>
                  <a:cubicBezTo>
                    <a:pt x="19999" y="45204"/>
                    <a:pt x="23691" y="45113"/>
                    <a:pt x="27325" y="45620"/>
                  </a:cubicBezTo>
                  <a:cubicBezTo>
                    <a:pt x="42548" y="47842"/>
                    <a:pt x="55514" y="54650"/>
                    <a:pt x="66380" y="65437"/>
                  </a:cubicBezTo>
                  <a:cubicBezTo>
                    <a:pt x="72581" y="71580"/>
                    <a:pt x="77274" y="78917"/>
                    <a:pt x="82110" y="86082"/>
                  </a:cubicBezTo>
                  <a:cubicBezTo>
                    <a:pt x="87254" y="93697"/>
                    <a:pt x="92783" y="100955"/>
                    <a:pt x="99827" y="106906"/>
                  </a:cubicBezTo>
                  <a:cubicBezTo>
                    <a:pt x="102313" y="108985"/>
                    <a:pt x="104299" y="110571"/>
                    <a:pt x="106199" y="111743"/>
                  </a:cubicBezTo>
                  <a:cubicBezTo>
                    <a:pt x="100470" y="112385"/>
                    <a:pt x="90911" y="112521"/>
                    <a:pt x="84375" y="107349"/>
                  </a:cubicBezTo>
                  <a:close/>
                  <a:moveTo>
                    <a:pt x="91526" y="61336"/>
                  </a:moveTo>
                  <a:cubicBezTo>
                    <a:pt x="91523" y="60616"/>
                    <a:pt x="91876" y="59940"/>
                    <a:pt x="92468" y="59531"/>
                  </a:cubicBezTo>
                  <a:cubicBezTo>
                    <a:pt x="93061" y="59121"/>
                    <a:pt x="93817" y="59029"/>
                    <a:pt x="94490" y="59286"/>
                  </a:cubicBezTo>
                  <a:cubicBezTo>
                    <a:pt x="94796" y="59399"/>
                    <a:pt x="95072" y="59579"/>
                    <a:pt x="95298" y="59815"/>
                  </a:cubicBezTo>
                  <a:cubicBezTo>
                    <a:pt x="95698" y="60222"/>
                    <a:pt x="95919" y="60772"/>
                    <a:pt x="95912" y="61343"/>
                  </a:cubicBezTo>
                  <a:cubicBezTo>
                    <a:pt x="95912" y="62558"/>
                    <a:pt x="94940" y="63537"/>
                    <a:pt x="93712" y="63537"/>
                  </a:cubicBezTo>
                  <a:cubicBezTo>
                    <a:pt x="93129" y="63542"/>
                    <a:pt x="92568" y="63313"/>
                    <a:pt x="92157" y="62900"/>
                  </a:cubicBezTo>
                  <a:cubicBezTo>
                    <a:pt x="91746" y="62487"/>
                    <a:pt x="91518" y="61926"/>
                    <a:pt x="91526" y="61343"/>
                  </a:cubicBezTo>
                  <a:moveTo>
                    <a:pt x="113743" y="72745"/>
                  </a:moveTo>
                  <a:cubicBezTo>
                    <a:pt x="112314" y="73323"/>
                    <a:pt x="110885" y="73824"/>
                    <a:pt x="109521" y="73888"/>
                  </a:cubicBezTo>
                  <a:cubicBezTo>
                    <a:pt x="107468" y="73956"/>
                    <a:pt x="105455" y="73316"/>
                    <a:pt x="103820" y="72073"/>
                  </a:cubicBezTo>
                  <a:cubicBezTo>
                    <a:pt x="101863" y="70430"/>
                    <a:pt x="100463" y="69516"/>
                    <a:pt x="99884" y="66658"/>
                  </a:cubicBezTo>
                  <a:cubicBezTo>
                    <a:pt x="99675" y="65263"/>
                    <a:pt x="99712" y="63841"/>
                    <a:pt x="99991" y="62458"/>
                  </a:cubicBezTo>
                  <a:cubicBezTo>
                    <a:pt x="100491" y="60122"/>
                    <a:pt x="99941" y="58622"/>
                    <a:pt x="98291" y="57264"/>
                  </a:cubicBezTo>
                  <a:cubicBezTo>
                    <a:pt x="96948" y="56150"/>
                    <a:pt x="95248" y="55843"/>
                    <a:pt x="93369" y="55843"/>
                  </a:cubicBezTo>
                  <a:cubicBezTo>
                    <a:pt x="92730" y="55795"/>
                    <a:pt x="92110" y="55604"/>
                    <a:pt x="91554" y="55285"/>
                  </a:cubicBezTo>
                  <a:cubicBezTo>
                    <a:pt x="91088" y="55074"/>
                    <a:pt x="90734" y="54675"/>
                    <a:pt x="90578" y="54188"/>
                  </a:cubicBezTo>
                  <a:cubicBezTo>
                    <a:pt x="90423" y="53700"/>
                    <a:pt x="90482" y="53170"/>
                    <a:pt x="90740" y="52728"/>
                  </a:cubicBezTo>
                  <a:cubicBezTo>
                    <a:pt x="91123" y="52165"/>
                    <a:pt x="91585" y="51660"/>
                    <a:pt x="92112" y="51228"/>
                  </a:cubicBezTo>
                  <a:cubicBezTo>
                    <a:pt x="94655" y="49785"/>
                    <a:pt x="97591" y="50256"/>
                    <a:pt x="100298" y="51342"/>
                  </a:cubicBezTo>
                  <a:cubicBezTo>
                    <a:pt x="102813" y="52371"/>
                    <a:pt x="104713" y="54257"/>
                    <a:pt x="107449" y="56929"/>
                  </a:cubicBezTo>
                  <a:cubicBezTo>
                    <a:pt x="110249" y="60150"/>
                    <a:pt x="110750" y="61043"/>
                    <a:pt x="112343" y="63465"/>
                  </a:cubicBezTo>
                  <a:cubicBezTo>
                    <a:pt x="113600" y="65351"/>
                    <a:pt x="114743" y="67294"/>
                    <a:pt x="115529" y="69523"/>
                  </a:cubicBezTo>
                  <a:cubicBezTo>
                    <a:pt x="116000" y="70909"/>
                    <a:pt x="115386" y="72045"/>
                    <a:pt x="113743" y="72738"/>
                  </a:cubicBezTo>
                </a:path>
              </a:pathLst>
            </a:custGeom>
            <a:solidFill>
              <a:srgbClr val="5B82F7"/>
            </a:solidFill>
            <a:ln>
              <a:noFill/>
            </a:ln>
          </p:spPr>
        </p:sp>
        <p:sp>
          <p:nvSpPr>
            <p:cNvPr id="149" name="TextBox 70"/>
            <p:cNvSpPr txBox="1"/>
            <p:nvPr/>
          </p:nvSpPr>
          <p:spPr>
            <a:xfrm>
              <a:off x="4368089" y="4718685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DeepSeek</a:t>
              </a:r>
            </a:p>
          </p:txBody>
        </p:sp>
        <p:sp>
          <p:nvSpPr>
            <p:cNvPr id="150" name="Rectangle 71"/>
            <p:cNvSpPr/>
            <p:nvPr/>
          </p:nvSpPr>
          <p:spPr>
            <a:xfrm>
              <a:off x="5391150" y="4591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5D8F0"/>
              </a:solidFill>
            </a:ln>
          </p:spPr>
        </p:sp>
        <p:sp>
          <p:nvSpPr>
            <p:cNvPr id="151" name="Freeform 72"/>
            <p:cNvSpPr/>
            <p:nvPr/>
          </p:nvSpPr>
          <p:spPr>
            <a:xfrm>
              <a:off x="5514975" y="4706316"/>
              <a:ext cx="171450" cy="150469"/>
            </a:xfrm>
            <a:custGeom>
              <a:avLst/>
              <a:gdLst/>
              <a:ahLst/>
              <a:cxnLst/>
              <a:rect l="l" t="t" r="r" b="b"/>
              <a:pathLst>
                <a:path w="171450" h="150469">
                  <a:moveTo>
                    <a:pt x="141998" y="0"/>
                  </a:moveTo>
                  <a:lnTo>
                    <a:pt x="171450" y="7602"/>
                  </a:lnTo>
                  <a:lnTo>
                    <a:pt x="171450" y="142923"/>
                  </a:lnTo>
                  <a:lnTo>
                    <a:pt x="141998" y="150469"/>
                  </a:lnTo>
                  <a:lnTo>
                    <a:pt x="141998" y="0"/>
                  </a:lnTo>
                  <a:close/>
                  <a:moveTo>
                    <a:pt x="46642" y="67351"/>
                  </a:moveTo>
                  <a:lnTo>
                    <a:pt x="76039" y="74953"/>
                  </a:lnTo>
                  <a:lnTo>
                    <a:pt x="76039" y="139094"/>
                  </a:lnTo>
                  <a:lnTo>
                    <a:pt x="46642" y="146696"/>
                  </a:lnTo>
                  <a:lnTo>
                    <a:pt x="46642" y="67351"/>
                  </a:lnTo>
                  <a:close/>
                  <a:moveTo>
                    <a:pt x="0" y="7883"/>
                  </a:moveTo>
                  <a:lnTo>
                    <a:pt x="29397" y="15486"/>
                  </a:lnTo>
                  <a:lnTo>
                    <a:pt x="29397" y="135039"/>
                  </a:lnTo>
                  <a:lnTo>
                    <a:pt x="0" y="142586"/>
                  </a:lnTo>
                  <a:lnTo>
                    <a:pt x="0" y="7883"/>
                  </a:lnTo>
                  <a:close/>
                  <a:moveTo>
                    <a:pt x="124696" y="48035"/>
                  </a:moveTo>
                  <a:lnTo>
                    <a:pt x="124696" y="127380"/>
                  </a:lnTo>
                  <a:lnTo>
                    <a:pt x="95244" y="119778"/>
                  </a:lnTo>
                  <a:lnTo>
                    <a:pt x="95244" y="55638"/>
                  </a:lnTo>
                  <a:lnTo>
                    <a:pt x="124696" y="48035"/>
                  </a:lnTo>
                  <a:close/>
                </a:path>
              </a:pathLst>
            </a:custGeom>
            <a:solidFill>
              <a:srgbClr val="F0A11C"/>
            </a:solidFill>
            <a:ln>
              <a:noFill/>
            </a:ln>
          </p:spPr>
        </p:sp>
        <p:sp>
          <p:nvSpPr>
            <p:cNvPr id="152" name="TextBox 73"/>
            <p:cNvSpPr txBox="1"/>
            <p:nvPr/>
          </p:nvSpPr>
          <p:spPr>
            <a:xfrm>
              <a:off x="5912739" y="47186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豆包</a:t>
              </a:r>
            </a:p>
          </p:txBody>
        </p:sp>
        <p:sp>
          <p:nvSpPr>
            <p:cNvPr id="153" name="Rectangle 74"/>
            <p:cNvSpPr/>
            <p:nvPr/>
          </p:nvSpPr>
          <p:spPr>
            <a:xfrm>
              <a:off x="6762750" y="4591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5D8F0"/>
              </a:solidFill>
            </a:ln>
          </p:spPr>
        </p:sp>
        <p:sp>
          <p:nvSpPr>
            <p:cNvPr id="154" name="Freeform 75"/>
            <p:cNvSpPr/>
            <p:nvPr/>
          </p:nvSpPr>
          <p:spPr>
            <a:xfrm>
              <a:off x="6874618" y="4693562"/>
              <a:ext cx="176288" cy="173782"/>
            </a:xfrm>
            <a:custGeom>
              <a:avLst/>
              <a:gdLst/>
              <a:ahLst/>
              <a:cxnLst/>
              <a:rect l="l" t="t" r="r" b="b"/>
              <a:pathLst>
                <a:path w="176288" h="173782">
                  <a:moveTo>
                    <a:pt x="161608" y="72422"/>
                  </a:moveTo>
                  <a:cubicBezTo>
                    <a:pt x="165486" y="60743"/>
                    <a:pt x="164144" y="47959"/>
                    <a:pt x="157924" y="37341"/>
                  </a:cubicBezTo>
                  <a:cubicBezTo>
                    <a:pt x="148572" y="21063"/>
                    <a:pt x="129776" y="12689"/>
                    <a:pt x="111420" y="16624"/>
                  </a:cubicBezTo>
                  <a:cubicBezTo>
                    <a:pt x="101075" y="5117"/>
                    <a:pt x="85379" y="0"/>
                    <a:pt x="70240" y="3199"/>
                  </a:cubicBezTo>
                  <a:cubicBezTo>
                    <a:pt x="55101" y="6398"/>
                    <a:pt x="42818" y="17428"/>
                    <a:pt x="38013" y="32137"/>
                  </a:cubicBezTo>
                  <a:cubicBezTo>
                    <a:pt x="25955" y="34609"/>
                    <a:pt x="15548" y="42159"/>
                    <a:pt x="9454" y="52853"/>
                  </a:cubicBezTo>
                  <a:cubicBezTo>
                    <a:pt x="0" y="69106"/>
                    <a:pt x="2146" y="89607"/>
                    <a:pt x="14760" y="103550"/>
                  </a:cubicBezTo>
                  <a:cubicBezTo>
                    <a:pt x="10867" y="115223"/>
                    <a:pt x="12198" y="128009"/>
                    <a:pt x="18410" y="138631"/>
                  </a:cubicBezTo>
                  <a:cubicBezTo>
                    <a:pt x="27774" y="154915"/>
                    <a:pt x="46583" y="163288"/>
                    <a:pt x="64949" y="159348"/>
                  </a:cubicBezTo>
                  <a:cubicBezTo>
                    <a:pt x="73118" y="168548"/>
                    <a:pt x="84855" y="173782"/>
                    <a:pt x="97157" y="173713"/>
                  </a:cubicBezTo>
                  <a:cubicBezTo>
                    <a:pt x="115973" y="173730"/>
                    <a:pt x="132642" y="161584"/>
                    <a:pt x="138390" y="143668"/>
                  </a:cubicBezTo>
                  <a:cubicBezTo>
                    <a:pt x="150446" y="141191"/>
                    <a:pt x="160852" y="133642"/>
                    <a:pt x="166948" y="122950"/>
                  </a:cubicBezTo>
                  <a:cubicBezTo>
                    <a:pt x="176288" y="106726"/>
                    <a:pt x="174133" y="86336"/>
                    <a:pt x="161608" y="72423"/>
                  </a:cubicBezTo>
                  <a:close/>
                  <a:moveTo>
                    <a:pt x="97157" y="162491"/>
                  </a:moveTo>
                  <a:cubicBezTo>
                    <a:pt x="89647" y="162503"/>
                    <a:pt x="82373" y="159871"/>
                    <a:pt x="76609" y="155056"/>
                  </a:cubicBezTo>
                  <a:lnTo>
                    <a:pt x="77623" y="154482"/>
                  </a:lnTo>
                  <a:lnTo>
                    <a:pt x="111758" y="134778"/>
                  </a:lnTo>
                  <a:cubicBezTo>
                    <a:pt x="113486" y="133764"/>
                    <a:pt x="114552" y="131915"/>
                    <a:pt x="114563" y="129911"/>
                  </a:cubicBezTo>
                  <a:lnTo>
                    <a:pt x="114563" y="81784"/>
                  </a:lnTo>
                  <a:lnTo>
                    <a:pt x="128994" y="90132"/>
                  </a:lnTo>
                  <a:cubicBezTo>
                    <a:pt x="129138" y="90206"/>
                    <a:pt x="129239" y="90344"/>
                    <a:pt x="129265" y="90504"/>
                  </a:cubicBezTo>
                  <a:lnTo>
                    <a:pt x="129265" y="130385"/>
                  </a:lnTo>
                  <a:cubicBezTo>
                    <a:pt x="129227" y="148101"/>
                    <a:pt x="114874" y="162454"/>
                    <a:pt x="97157" y="162491"/>
                  </a:cubicBezTo>
                  <a:close/>
                  <a:moveTo>
                    <a:pt x="28144" y="133021"/>
                  </a:moveTo>
                  <a:cubicBezTo>
                    <a:pt x="24377" y="126517"/>
                    <a:pt x="23025" y="118894"/>
                    <a:pt x="24325" y="111491"/>
                  </a:cubicBezTo>
                  <a:lnTo>
                    <a:pt x="25339" y="112100"/>
                  </a:lnTo>
                  <a:lnTo>
                    <a:pt x="59508" y="131804"/>
                  </a:lnTo>
                  <a:cubicBezTo>
                    <a:pt x="61229" y="132814"/>
                    <a:pt x="63363" y="132814"/>
                    <a:pt x="65084" y="131804"/>
                  </a:cubicBezTo>
                  <a:lnTo>
                    <a:pt x="106824" y="107740"/>
                  </a:lnTo>
                  <a:lnTo>
                    <a:pt x="106824" y="124402"/>
                  </a:lnTo>
                  <a:cubicBezTo>
                    <a:pt x="106816" y="124577"/>
                    <a:pt x="106728" y="124739"/>
                    <a:pt x="106586" y="124842"/>
                  </a:cubicBezTo>
                  <a:lnTo>
                    <a:pt x="72012" y="144782"/>
                  </a:lnTo>
                  <a:cubicBezTo>
                    <a:pt x="56648" y="153633"/>
                    <a:pt x="37019" y="148370"/>
                    <a:pt x="28144" y="133021"/>
                  </a:cubicBezTo>
                  <a:close/>
                  <a:moveTo>
                    <a:pt x="19154" y="58667"/>
                  </a:moveTo>
                  <a:cubicBezTo>
                    <a:pt x="22947" y="52122"/>
                    <a:pt x="28933" y="47129"/>
                    <a:pt x="36053" y="44574"/>
                  </a:cubicBezTo>
                  <a:lnTo>
                    <a:pt x="36053" y="85130"/>
                  </a:lnTo>
                  <a:cubicBezTo>
                    <a:pt x="36026" y="87126"/>
                    <a:pt x="37088" y="88978"/>
                    <a:pt x="38824" y="89963"/>
                  </a:cubicBezTo>
                  <a:lnTo>
                    <a:pt x="80360" y="113925"/>
                  </a:lnTo>
                  <a:lnTo>
                    <a:pt x="65929" y="122273"/>
                  </a:lnTo>
                  <a:cubicBezTo>
                    <a:pt x="65771" y="122357"/>
                    <a:pt x="65581" y="122357"/>
                    <a:pt x="65422" y="122273"/>
                  </a:cubicBezTo>
                  <a:lnTo>
                    <a:pt x="30916" y="102367"/>
                  </a:lnTo>
                  <a:cubicBezTo>
                    <a:pt x="15582" y="93479"/>
                    <a:pt x="10324" y="73865"/>
                    <a:pt x="19154" y="58498"/>
                  </a:cubicBezTo>
                  <a:close/>
                  <a:moveTo>
                    <a:pt x="137714" y="86212"/>
                  </a:moveTo>
                  <a:lnTo>
                    <a:pt x="96042" y="62013"/>
                  </a:lnTo>
                  <a:lnTo>
                    <a:pt x="110440" y="53698"/>
                  </a:lnTo>
                  <a:cubicBezTo>
                    <a:pt x="110598" y="53614"/>
                    <a:pt x="110788" y="53614"/>
                    <a:pt x="110947" y="53698"/>
                  </a:cubicBezTo>
                  <a:lnTo>
                    <a:pt x="145453" y="73638"/>
                  </a:lnTo>
                  <a:cubicBezTo>
                    <a:pt x="156224" y="79853"/>
                    <a:pt x="162437" y="91727"/>
                    <a:pt x="161403" y="104118"/>
                  </a:cubicBezTo>
                  <a:cubicBezTo>
                    <a:pt x="160368" y="116510"/>
                    <a:pt x="152272" y="127190"/>
                    <a:pt x="140621" y="131533"/>
                  </a:cubicBezTo>
                  <a:lnTo>
                    <a:pt x="140621" y="90976"/>
                  </a:lnTo>
                  <a:cubicBezTo>
                    <a:pt x="140560" y="88986"/>
                    <a:pt x="139455" y="87175"/>
                    <a:pt x="137713" y="86211"/>
                  </a:cubicBezTo>
                  <a:close/>
                  <a:moveTo>
                    <a:pt x="152078" y="64616"/>
                  </a:moveTo>
                  <a:lnTo>
                    <a:pt x="151063" y="64007"/>
                  </a:lnTo>
                  <a:lnTo>
                    <a:pt x="116963" y="44134"/>
                  </a:lnTo>
                  <a:cubicBezTo>
                    <a:pt x="115231" y="43118"/>
                    <a:pt x="113084" y="43118"/>
                    <a:pt x="111352" y="44134"/>
                  </a:cubicBezTo>
                  <a:lnTo>
                    <a:pt x="69648" y="68197"/>
                  </a:lnTo>
                  <a:lnTo>
                    <a:pt x="69648" y="51536"/>
                  </a:lnTo>
                  <a:cubicBezTo>
                    <a:pt x="69629" y="51364"/>
                    <a:pt x="69707" y="51195"/>
                    <a:pt x="69850" y="51097"/>
                  </a:cubicBezTo>
                  <a:lnTo>
                    <a:pt x="104357" y="31190"/>
                  </a:lnTo>
                  <a:cubicBezTo>
                    <a:pt x="115153" y="24970"/>
                    <a:pt x="128571" y="25551"/>
                    <a:pt x="138790" y="32679"/>
                  </a:cubicBezTo>
                  <a:cubicBezTo>
                    <a:pt x="149009" y="39808"/>
                    <a:pt x="154187" y="52200"/>
                    <a:pt x="152079" y="64480"/>
                  </a:cubicBezTo>
                  <a:close/>
                  <a:moveTo>
                    <a:pt x="61772" y="94153"/>
                  </a:moveTo>
                  <a:lnTo>
                    <a:pt x="47341" y="85839"/>
                  </a:lnTo>
                  <a:cubicBezTo>
                    <a:pt x="47195" y="85751"/>
                    <a:pt x="47096" y="85603"/>
                    <a:pt x="47070" y="85434"/>
                  </a:cubicBezTo>
                  <a:lnTo>
                    <a:pt x="47070" y="45655"/>
                  </a:lnTo>
                  <a:cubicBezTo>
                    <a:pt x="47086" y="33198"/>
                    <a:pt x="54299" y="21872"/>
                    <a:pt x="65581" y="16589"/>
                  </a:cubicBezTo>
                  <a:cubicBezTo>
                    <a:pt x="76863" y="11306"/>
                    <a:pt x="90181" y="13019"/>
                    <a:pt x="99760" y="20983"/>
                  </a:cubicBezTo>
                  <a:lnTo>
                    <a:pt x="98745" y="21558"/>
                  </a:lnTo>
                  <a:lnTo>
                    <a:pt x="64611" y="41261"/>
                  </a:lnTo>
                  <a:cubicBezTo>
                    <a:pt x="62883" y="42274"/>
                    <a:pt x="61817" y="44124"/>
                    <a:pt x="61806" y="46128"/>
                  </a:cubicBezTo>
                  <a:close/>
                  <a:moveTo>
                    <a:pt x="69613" y="77255"/>
                  </a:moveTo>
                  <a:lnTo>
                    <a:pt x="88201" y="66541"/>
                  </a:lnTo>
                  <a:lnTo>
                    <a:pt x="106824" y="77255"/>
                  </a:lnTo>
                  <a:lnTo>
                    <a:pt x="106824" y="98682"/>
                  </a:lnTo>
                  <a:lnTo>
                    <a:pt x="88268" y="109395"/>
                  </a:lnTo>
                  <a:lnTo>
                    <a:pt x="69647" y="98682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</p:sp>
        <p:sp>
          <p:nvSpPr>
            <p:cNvPr id="155" name="TextBox 76"/>
            <p:cNvSpPr txBox="1"/>
            <p:nvPr/>
          </p:nvSpPr>
          <p:spPr>
            <a:xfrm>
              <a:off x="7188851" y="4718685"/>
              <a:ext cx="576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OpenAI</a:t>
              </a:r>
            </a:p>
          </p:txBody>
        </p:sp>
      </p:grpSp>
      <p:grpSp>
        <p:nvGrpSpPr>
          <p:cNvPr id="156" name="Group 88"/>
          <p:cNvGrpSpPr/>
          <p:nvPr/>
        </p:nvGrpSpPr>
        <p:grpSpPr>
          <a:xfrm>
            <a:off x="536524" y="5695950"/>
            <a:ext cx="7753350" cy="704850"/>
            <a:chOff x="514350" y="5410200"/>
            <a:chExt cx="7753350" cy="704850"/>
          </a:xfrm>
        </p:grpSpPr>
        <p:sp>
          <p:nvSpPr>
            <p:cNvPr id="157" name="Rectangle 78"/>
            <p:cNvSpPr/>
            <p:nvPr/>
          </p:nvSpPr>
          <p:spPr>
            <a:xfrm>
              <a:off x="514350" y="5410200"/>
              <a:ext cx="7753350" cy="704850"/>
            </a:xfrm>
            <a:prstGeom prst="roundRect">
              <a:avLst>
                <a:gd name="adj" fmla="val 18919"/>
              </a:avLst>
            </a:prstGeom>
            <a:solidFill>
              <a:srgbClr val="FFF7F1"/>
            </a:solidFill>
            <a:ln w="19050">
              <a:solidFill>
                <a:srgbClr val="DE7A34"/>
              </a:solidFill>
            </a:ln>
          </p:spPr>
        </p:sp>
        <p:sp>
          <p:nvSpPr>
            <p:cNvPr id="158" name="TextBox 79"/>
            <p:cNvSpPr txBox="1"/>
            <p:nvPr/>
          </p:nvSpPr>
          <p:spPr>
            <a:xfrm>
              <a:off x="782955" y="5702618"/>
              <a:ext cx="1499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课程知识库(RAG)</a:t>
              </a:r>
            </a:p>
          </p:txBody>
        </p:sp>
        <p:sp>
          <p:nvSpPr>
            <p:cNvPr id="159" name="Rectangle 80"/>
            <p:cNvSpPr/>
            <p:nvPr/>
          </p:nvSpPr>
          <p:spPr>
            <a:xfrm>
              <a:off x="2647950" y="5543550"/>
              <a:ext cx="1483995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F0B589"/>
              </a:solidFill>
            </a:ln>
          </p:spPr>
        </p:sp>
        <p:sp>
          <p:nvSpPr>
            <p:cNvPr id="160" name="TextBox 81"/>
            <p:cNvSpPr txBox="1"/>
            <p:nvPr/>
          </p:nvSpPr>
          <p:spPr>
            <a:xfrm>
              <a:off x="3012313" y="56711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知识约束</a:t>
              </a:r>
            </a:p>
          </p:txBody>
        </p:sp>
        <p:sp>
          <p:nvSpPr>
            <p:cNvPr id="161" name="Rectangle 82"/>
            <p:cNvSpPr/>
            <p:nvPr/>
          </p:nvSpPr>
          <p:spPr>
            <a:xfrm>
              <a:off x="4440555" y="5558155"/>
              <a:ext cx="1476375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F0B589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TextBox 83"/>
            <p:cNvSpPr txBox="1"/>
            <p:nvPr/>
          </p:nvSpPr>
          <p:spPr>
            <a:xfrm>
              <a:off x="4783963" y="56711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检索增强</a:t>
              </a:r>
            </a:p>
          </p:txBody>
        </p:sp>
        <p:sp>
          <p:nvSpPr>
            <p:cNvPr id="163" name="Rectangle 84"/>
            <p:cNvSpPr/>
            <p:nvPr/>
          </p:nvSpPr>
          <p:spPr>
            <a:xfrm>
              <a:off x="6283325" y="5543550"/>
              <a:ext cx="148209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F0B589"/>
              </a:solidFill>
            </a:ln>
          </p:spPr>
        </p:sp>
        <p:sp>
          <p:nvSpPr>
            <p:cNvPr id="164" name="TextBox 85"/>
            <p:cNvSpPr txBox="1"/>
            <p:nvPr/>
          </p:nvSpPr>
          <p:spPr>
            <a:xfrm>
              <a:off x="6696583" y="56711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教学对齐</a:t>
              </a:r>
            </a:p>
          </p:txBody>
        </p:sp>
      </p:grpSp>
      <p:sp>
        <p:nvSpPr>
          <p:cNvPr id="165" name="下箭头 128"/>
          <p:cNvSpPr/>
          <p:nvPr/>
        </p:nvSpPr>
        <p:spPr>
          <a:xfrm>
            <a:off x="1315529" y="2517300"/>
            <a:ext cx="143510" cy="235585"/>
          </a:xfrm>
          <a:prstGeom prst="downArrow">
            <a:avLst/>
          </a:prstGeom>
          <a:solidFill>
            <a:srgbClr val="6E7386"/>
          </a:solidFill>
          <a:ln>
            <a:solidFill>
              <a:srgbClr val="6E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n>
                <a:solidFill>
                  <a:srgbClr val="6E7386"/>
                </a:solidFill>
              </a:ln>
              <a:solidFill>
                <a:srgbClr val="697083"/>
              </a:solidFill>
            </a:endParaRPr>
          </a:p>
        </p:txBody>
      </p:sp>
      <p:sp>
        <p:nvSpPr>
          <p:cNvPr id="166" name="下箭头 128">
            <a:extLst>
              <a:ext uri="{FF2B5EF4-FFF2-40B4-BE49-F238E27FC236}">
                <a16:creationId xmlns:a16="http://schemas.microsoft.com/office/drawing/2014/main" id="{FA6C01DD-2470-CEC9-BF09-176645843073}"/>
              </a:ext>
            </a:extLst>
          </p:cNvPr>
          <p:cNvSpPr/>
          <p:nvPr/>
        </p:nvSpPr>
        <p:spPr>
          <a:xfrm>
            <a:off x="1315529" y="3479245"/>
            <a:ext cx="143510" cy="235585"/>
          </a:xfrm>
          <a:prstGeom prst="downArrow">
            <a:avLst/>
          </a:prstGeom>
          <a:solidFill>
            <a:srgbClr val="6E7386"/>
          </a:solidFill>
          <a:ln>
            <a:solidFill>
              <a:srgbClr val="6E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>
              <a:ln>
                <a:solidFill>
                  <a:srgbClr val="6E7386"/>
                </a:solidFill>
              </a:ln>
              <a:solidFill>
                <a:srgbClr val="697083"/>
              </a:solidFill>
            </a:endParaRPr>
          </a:p>
        </p:txBody>
      </p:sp>
      <p:sp>
        <p:nvSpPr>
          <p:cNvPr id="167" name="下箭头 128">
            <a:extLst>
              <a:ext uri="{FF2B5EF4-FFF2-40B4-BE49-F238E27FC236}">
                <a16:creationId xmlns:a16="http://schemas.microsoft.com/office/drawing/2014/main" id="{9928DC7A-205B-A5A6-60F9-674559251B9E}"/>
              </a:ext>
            </a:extLst>
          </p:cNvPr>
          <p:cNvSpPr/>
          <p:nvPr/>
        </p:nvSpPr>
        <p:spPr>
          <a:xfrm>
            <a:off x="1315529" y="4448177"/>
            <a:ext cx="143510" cy="235585"/>
          </a:xfrm>
          <a:prstGeom prst="downArrow">
            <a:avLst/>
          </a:prstGeom>
          <a:solidFill>
            <a:srgbClr val="6E7386"/>
          </a:solidFill>
          <a:ln>
            <a:solidFill>
              <a:srgbClr val="6E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n>
                <a:solidFill>
                  <a:srgbClr val="6E7386"/>
                </a:solidFill>
              </a:ln>
              <a:solidFill>
                <a:srgbClr val="697083"/>
              </a:solidFill>
            </a:endParaRPr>
          </a:p>
        </p:txBody>
      </p:sp>
      <p:sp>
        <p:nvSpPr>
          <p:cNvPr id="168" name="下箭头 128">
            <a:extLst>
              <a:ext uri="{FF2B5EF4-FFF2-40B4-BE49-F238E27FC236}">
                <a16:creationId xmlns:a16="http://schemas.microsoft.com/office/drawing/2014/main" id="{0A5C10A4-AF96-A4DA-F785-20D2E7085F31}"/>
              </a:ext>
            </a:extLst>
          </p:cNvPr>
          <p:cNvSpPr/>
          <p:nvPr/>
        </p:nvSpPr>
        <p:spPr>
          <a:xfrm>
            <a:off x="1315529" y="5408932"/>
            <a:ext cx="143510" cy="235585"/>
          </a:xfrm>
          <a:prstGeom prst="downArrow">
            <a:avLst/>
          </a:prstGeom>
          <a:solidFill>
            <a:srgbClr val="6E7386"/>
          </a:solidFill>
          <a:ln>
            <a:solidFill>
              <a:srgbClr val="6E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n>
                <a:solidFill>
                  <a:srgbClr val="6E7386"/>
                </a:solidFill>
              </a:ln>
              <a:solidFill>
                <a:srgbClr val="697083"/>
              </a:solidFill>
            </a:endParaRPr>
          </a:p>
        </p:txBody>
      </p:sp>
      <p:sp>
        <p:nvSpPr>
          <p:cNvPr id="169" name="TextBox 12"/>
          <p:cNvSpPr txBox="1"/>
          <p:nvPr/>
        </p:nvSpPr>
        <p:spPr>
          <a:xfrm>
            <a:off x="800100" y="1405493"/>
            <a:ext cx="59831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通过能力中台、工作流编排与课程知识库协同，实现系统持续扩展而非重复开发</a:t>
            </a:r>
          </a:p>
        </p:txBody>
      </p:sp>
      <p:grpSp>
        <p:nvGrpSpPr>
          <p:cNvPr id="170" name="Group 95"/>
          <p:cNvGrpSpPr/>
          <p:nvPr/>
        </p:nvGrpSpPr>
        <p:grpSpPr>
          <a:xfrm>
            <a:off x="8545831" y="1720692"/>
            <a:ext cx="3048000" cy="914400"/>
            <a:chOff x="8572500" y="1600200"/>
            <a:chExt cx="3048000" cy="914400"/>
          </a:xfrm>
        </p:grpSpPr>
        <p:sp>
          <p:nvSpPr>
            <p:cNvPr id="171" name="Rectangle 89"/>
            <p:cNvSpPr/>
            <p:nvPr/>
          </p:nvSpPr>
          <p:spPr>
            <a:xfrm>
              <a:off x="8572500" y="1676400"/>
              <a:ext cx="3048000" cy="8382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3A73D9"/>
              </a:solidFill>
            </a:ln>
          </p:spPr>
        </p:sp>
        <p:sp>
          <p:nvSpPr>
            <p:cNvPr id="172" name="Rectangle 90"/>
            <p:cNvSpPr/>
            <p:nvPr/>
          </p:nvSpPr>
          <p:spPr>
            <a:xfrm>
              <a:off x="8572500" y="1600200"/>
              <a:ext cx="3048000" cy="76200"/>
            </a:xfrm>
            <a:prstGeom prst="roundRect">
              <a:avLst>
                <a:gd name="adj" fmla="val 50000"/>
              </a:avLst>
            </a:prstGeom>
            <a:solidFill>
              <a:srgbClr val="3A73D9"/>
            </a:solidFill>
            <a:ln>
              <a:noFill/>
            </a:ln>
          </p:spPr>
        </p:sp>
        <p:sp>
          <p:nvSpPr>
            <p:cNvPr id="173" name="Rectangle 91"/>
            <p:cNvSpPr/>
            <p:nvPr/>
          </p:nvSpPr>
          <p:spPr>
            <a:xfrm>
              <a:off x="8743950" y="1866900"/>
              <a:ext cx="133350" cy="209550"/>
            </a:xfrm>
            <a:prstGeom prst="roundRect">
              <a:avLst>
                <a:gd name="adj" fmla="val 28571"/>
              </a:avLst>
            </a:prstGeom>
            <a:solidFill>
              <a:srgbClr val="3A73D9"/>
            </a:solidFill>
            <a:ln>
              <a:noFill/>
            </a:ln>
          </p:spPr>
        </p:sp>
        <p:sp>
          <p:nvSpPr>
            <p:cNvPr id="174" name="TextBox 92"/>
            <p:cNvSpPr txBox="1"/>
            <p:nvPr/>
          </p:nvSpPr>
          <p:spPr>
            <a:xfrm>
              <a:off x="8974455" y="18449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能力下沉</a:t>
              </a:r>
            </a:p>
          </p:txBody>
        </p:sp>
        <p:sp>
          <p:nvSpPr>
            <p:cNvPr id="175" name="TextBox 93"/>
            <p:cNvSpPr txBox="1"/>
            <p:nvPr/>
          </p:nvSpPr>
          <p:spPr>
            <a:xfrm>
              <a:off x="8730615" y="214407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F556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统一封装解析、检索、生成能力</a:t>
              </a:r>
            </a:p>
          </p:txBody>
        </p:sp>
        <p:sp>
          <p:nvSpPr>
            <p:cNvPr id="176" name="Freeform 94"/>
            <p:cNvSpPr/>
            <p:nvPr/>
          </p:nvSpPr>
          <p:spPr>
            <a:xfrm>
              <a:off x="11218069" y="1819275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0" y="66675"/>
                  </a:moveTo>
                  <a:lnTo>
                    <a:pt x="116681" y="0"/>
                  </a:lnTo>
                  <a:lnTo>
                    <a:pt x="233362" y="66675"/>
                  </a:lnTo>
                  <a:lnTo>
                    <a:pt x="233362" y="200025"/>
                  </a:lnTo>
                  <a:lnTo>
                    <a:pt x="116681" y="266700"/>
                  </a:lnTo>
                  <a:lnTo>
                    <a:pt x="0" y="200025"/>
                  </a:lnTo>
                  <a:lnTo>
                    <a:pt x="0" y="66675"/>
                  </a:lnTo>
                  <a:close/>
                  <a:moveTo>
                    <a:pt x="50396" y="76274"/>
                  </a:moveTo>
                  <a:lnTo>
                    <a:pt x="33338" y="86022"/>
                  </a:lnTo>
                  <a:lnTo>
                    <a:pt x="33338" y="104923"/>
                  </a:lnTo>
                  <a:lnTo>
                    <a:pt x="100012" y="143023"/>
                  </a:lnTo>
                  <a:lnTo>
                    <a:pt x="100012" y="218779"/>
                  </a:lnTo>
                  <a:lnTo>
                    <a:pt x="116681" y="228304"/>
                  </a:lnTo>
                  <a:lnTo>
                    <a:pt x="133350" y="218779"/>
                  </a:lnTo>
                  <a:lnTo>
                    <a:pt x="133350" y="143023"/>
                  </a:lnTo>
                  <a:lnTo>
                    <a:pt x="200025" y="104923"/>
                  </a:lnTo>
                  <a:lnTo>
                    <a:pt x="200025" y="86022"/>
                  </a:lnTo>
                  <a:lnTo>
                    <a:pt x="182966" y="76274"/>
                  </a:lnTo>
                  <a:lnTo>
                    <a:pt x="116681" y="114151"/>
                  </a:lnTo>
                  <a:lnTo>
                    <a:pt x="50396" y="76274"/>
                  </a:lnTo>
                  <a:close/>
                </a:path>
              </a:pathLst>
            </a:custGeom>
            <a:solidFill>
              <a:srgbClr val="3A73D9"/>
            </a:solidFill>
            <a:ln>
              <a:noFill/>
            </a:ln>
          </p:spPr>
        </p:sp>
      </p:grpSp>
      <p:grpSp>
        <p:nvGrpSpPr>
          <p:cNvPr id="177" name="Group 104"/>
          <p:cNvGrpSpPr/>
          <p:nvPr/>
        </p:nvGrpSpPr>
        <p:grpSpPr>
          <a:xfrm>
            <a:off x="8538878" y="2764938"/>
            <a:ext cx="3048000" cy="838200"/>
            <a:chOff x="8572500" y="2724150"/>
            <a:chExt cx="3048000" cy="838200"/>
          </a:xfrm>
        </p:grpSpPr>
        <p:sp>
          <p:nvSpPr>
            <p:cNvPr id="178" name="Rectangle 96"/>
            <p:cNvSpPr/>
            <p:nvPr/>
          </p:nvSpPr>
          <p:spPr>
            <a:xfrm>
              <a:off x="8572500" y="2724150"/>
              <a:ext cx="3048000" cy="8382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8C6AE4"/>
              </a:solidFill>
            </a:ln>
          </p:spPr>
        </p:sp>
        <p:sp>
          <p:nvSpPr>
            <p:cNvPr id="179" name="Rectangle 97"/>
            <p:cNvSpPr/>
            <p:nvPr/>
          </p:nvSpPr>
          <p:spPr>
            <a:xfrm>
              <a:off x="8572500" y="2724150"/>
              <a:ext cx="3048000" cy="76200"/>
            </a:xfrm>
            <a:prstGeom prst="roundRect">
              <a:avLst>
                <a:gd name="adj" fmla="val 50000"/>
              </a:avLst>
            </a:prstGeom>
            <a:solidFill>
              <a:srgbClr val="8C6AE4"/>
            </a:solidFill>
            <a:ln>
              <a:noFill/>
            </a:ln>
          </p:spPr>
        </p:sp>
        <p:sp>
          <p:nvSpPr>
            <p:cNvPr id="180" name="Rectangle 98"/>
            <p:cNvSpPr/>
            <p:nvPr/>
          </p:nvSpPr>
          <p:spPr>
            <a:xfrm>
              <a:off x="8743950" y="2990850"/>
              <a:ext cx="133350" cy="209550"/>
            </a:xfrm>
            <a:prstGeom prst="roundRect">
              <a:avLst>
                <a:gd name="adj" fmla="val 28571"/>
              </a:avLst>
            </a:prstGeom>
            <a:solidFill>
              <a:srgbClr val="8C6AE4"/>
            </a:solidFill>
            <a:ln>
              <a:noFill/>
            </a:ln>
          </p:spPr>
        </p:sp>
        <p:sp>
          <p:nvSpPr>
            <p:cNvPr id="181" name="TextBox 99"/>
            <p:cNvSpPr txBox="1"/>
            <p:nvPr/>
          </p:nvSpPr>
          <p:spPr>
            <a:xfrm>
              <a:off x="8974455" y="29689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模型解耦</a:t>
              </a:r>
            </a:p>
          </p:txBody>
        </p:sp>
        <p:sp>
          <p:nvSpPr>
            <p:cNvPr id="182" name="TextBox 100"/>
            <p:cNvSpPr txBox="1"/>
            <p:nvPr/>
          </p:nvSpPr>
          <p:spPr>
            <a:xfrm>
              <a:off x="8730615" y="32680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F556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支持模型灵活切换升级</a:t>
              </a:r>
            </a:p>
          </p:txBody>
        </p:sp>
        <p:grpSp>
          <p:nvGrpSpPr>
            <p:cNvPr id="183" name="Group 103"/>
            <p:cNvGrpSpPr/>
            <p:nvPr/>
          </p:nvGrpSpPr>
          <p:grpSpPr>
            <a:xfrm>
              <a:off x="11191875" y="2961084"/>
              <a:ext cx="285750" cy="250031"/>
              <a:chOff x="11191875" y="2961084"/>
              <a:chExt cx="285750" cy="250031"/>
            </a:xfrm>
          </p:grpSpPr>
          <p:sp>
            <p:nvSpPr>
              <p:cNvPr id="184" name="Freeform 101"/>
              <p:cNvSpPr/>
              <p:nvPr/>
            </p:nvSpPr>
            <p:spPr>
              <a:xfrm>
                <a:off x="11191875" y="2961084"/>
                <a:ext cx="28575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14312">
                    <a:moveTo>
                      <a:pt x="232172" y="0"/>
                    </a:moveTo>
                    <a:lnTo>
                      <a:pt x="214312" y="0"/>
                    </a:lnTo>
                    <a:lnTo>
                      <a:pt x="214312" y="35719"/>
                    </a:lnTo>
                    <a:lnTo>
                      <a:pt x="189056" y="35719"/>
                    </a:lnTo>
                    <a:lnTo>
                      <a:pt x="125016" y="99759"/>
                    </a:lnTo>
                    <a:lnTo>
                      <a:pt x="60976" y="35719"/>
                    </a:lnTo>
                    <a:lnTo>
                      <a:pt x="0" y="35719"/>
                    </a:lnTo>
                    <a:lnTo>
                      <a:pt x="0" y="71438"/>
                    </a:lnTo>
                    <a:lnTo>
                      <a:pt x="46181" y="71438"/>
                    </a:lnTo>
                    <a:lnTo>
                      <a:pt x="99759" y="125016"/>
                    </a:lnTo>
                    <a:lnTo>
                      <a:pt x="46181" y="178594"/>
                    </a:lnTo>
                    <a:lnTo>
                      <a:pt x="0" y="178594"/>
                    </a:lnTo>
                    <a:lnTo>
                      <a:pt x="0" y="214312"/>
                    </a:lnTo>
                    <a:lnTo>
                      <a:pt x="60976" y="214312"/>
                    </a:lnTo>
                    <a:lnTo>
                      <a:pt x="203850" y="71438"/>
                    </a:lnTo>
                    <a:lnTo>
                      <a:pt x="214312" y="71438"/>
                    </a:lnTo>
                    <a:lnTo>
                      <a:pt x="214312" y="107156"/>
                    </a:lnTo>
                    <a:lnTo>
                      <a:pt x="232172" y="107156"/>
                    </a:lnTo>
                    <a:lnTo>
                      <a:pt x="285750" y="53578"/>
                    </a:lnTo>
                    <a:lnTo>
                      <a:pt x="232172" y="0"/>
                    </a:lnTo>
                    <a:close/>
                  </a:path>
                </a:pathLst>
              </a:custGeom>
              <a:solidFill>
                <a:srgbClr val="8C6AE4"/>
              </a:solidFill>
              <a:ln>
                <a:noFill/>
              </a:ln>
            </p:spPr>
          </p:sp>
          <p:sp>
            <p:nvSpPr>
              <p:cNvPr id="185" name="Freeform 102"/>
              <p:cNvSpPr/>
              <p:nvPr/>
            </p:nvSpPr>
            <p:spPr>
              <a:xfrm>
                <a:off x="11342148" y="3103959"/>
                <a:ext cx="135477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35477" h="107156">
                    <a:moveTo>
                      <a:pt x="64040" y="0"/>
                    </a:moveTo>
                    <a:lnTo>
                      <a:pt x="81899" y="0"/>
                    </a:lnTo>
                    <a:lnTo>
                      <a:pt x="135477" y="53578"/>
                    </a:lnTo>
                    <a:lnTo>
                      <a:pt x="81899" y="107156"/>
                    </a:lnTo>
                    <a:lnTo>
                      <a:pt x="64040" y="107156"/>
                    </a:lnTo>
                    <a:lnTo>
                      <a:pt x="64040" y="71438"/>
                    </a:lnTo>
                    <a:lnTo>
                      <a:pt x="38783" y="71438"/>
                    </a:lnTo>
                    <a:lnTo>
                      <a:pt x="0" y="32654"/>
                    </a:lnTo>
                    <a:lnTo>
                      <a:pt x="25257" y="7398"/>
                    </a:lnTo>
                    <a:lnTo>
                      <a:pt x="53578" y="35719"/>
                    </a:lnTo>
                    <a:lnTo>
                      <a:pt x="64040" y="35719"/>
                    </a:lnTo>
                    <a:lnTo>
                      <a:pt x="64040" y="0"/>
                    </a:lnTo>
                    <a:close/>
                  </a:path>
                </a:pathLst>
              </a:custGeom>
              <a:solidFill>
                <a:srgbClr val="8C6AE4"/>
              </a:solidFill>
              <a:ln>
                <a:noFill/>
              </a:ln>
            </p:spPr>
          </p:sp>
        </p:grpSp>
      </p:grpSp>
      <p:grpSp>
        <p:nvGrpSpPr>
          <p:cNvPr id="186" name="Group 113"/>
          <p:cNvGrpSpPr/>
          <p:nvPr/>
        </p:nvGrpSpPr>
        <p:grpSpPr>
          <a:xfrm>
            <a:off x="8545831" y="3711827"/>
            <a:ext cx="3048000" cy="838200"/>
            <a:chOff x="8572500" y="3848100"/>
            <a:chExt cx="3048000" cy="838200"/>
          </a:xfrm>
        </p:grpSpPr>
        <p:sp>
          <p:nvSpPr>
            <p:cNvPr id="187" name="Rectangle 105"/>
            <p:cNvSpPr/>
            <p:nvPr/>
          </p:nvSpPr>
          <p:spPr>
            <a:xfrm>
              <a:off x="8572500" y="3848100"/>
              <a:ext cx="3048000" cy="8382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53B69A"/>
              </a:solidFill>
            </a:ln>
          </p:spPr>
        </p:sp>
        <p:sp>
          <p:nvSpPr>
            <p:cNvPr id="188" name="Rectangle 106"/>
            <p:cNvSpPr/>
            <p:nvPr/>
          </p:nvSpPr>
          <p:spPr>
            <a:xfrm>
              <a:off x="8572500" y="3848100"/>
              <a:ext cx="3048000" cy="76200"/>
            </a:xfrm>
            <a:prstGeom prst="roundRect">
              <a:avLst>
                <a:gd name="adj" fmla="val 50000"/>
              </a:avLst>
            </a:prstGeom>
            <a:solidFill>
              <a:srgbClr val="53B69A"/>
            </a:solidFill>
            <a:ln>
              <a:noFill/>
            </a:ln>
          </p:spPr>
        </p:sp>
        <p:sp>
          <p:nvSpPr>
            <p:cNvPr id="189" name="Rectangle 107"/>
            <p:cNvSpPr/>
            <p:nvPr/>
          </p:nvSpPr>
          <p:spPr>
            <a:xfrm>
              <a:off x="8743950" y="4114800"/>
              <a:ext cx="133350" cy="209550"/>
            </a:xfrm>
            <a:prstGeom prst="roundRect">
              <a:avLst>
                <a:gd name="adj" fmla="val 28571"/>
              </a:avLst>
            </a:prstGeom>
            <a:solidFill>
              <a:srgbClr val="53B69A"/>
            </a:solidFill>
            <a:ln>
              <a:noFill/>
            </a:ln>
          </p:spPr>
        </p:sp>
        <p:sp>
          <p:nvSpPr>
            <p:cNvPr id="190" name="TextBox 108"/>
            <p:cNvSpPr txBox="1"/>
            <p:nvPr/>
          </p:nvSpPr>
          <p:spPr>
            <a:xfrm>
              <a:off x="8974455" y="4092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流程编排</a:t>
              </a:r>
            </a:p>
          </p:txBody>
        </p:sp>
        <p:sp>
          <p:nvSpPr>
            <p:cNvPr id="191" name="TextBox 109"/>
            <p:cNvSpPr txBox="1"/>
            <p:nvPr/>
          </p:nvSpPr>
          <p:spPr>
            <a:xfrm>
              <a:off x="8730615" y="43919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F556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复杂教学任务自动化执行</a:t>
              </a:r>
            </a:p>
          </p:txBody>
        </p:sp>
        <p:grpSp>
          <p:nvGrpSpPr>
            <p:cNvPr id="192" name="Group 112"/>
            <p:cNvGrpSpPr/>
            <p:nvPr/>
          </p:nvGrpSpPr>
          <p:grpSpPr>
            <a:xfrm>
              <a:off x="11182350" y="4067175"/>
              <a:ext cx="285750" cy="285750"/>
              <a:chOff x="11182350" y="4067175"/>
              <a:chExt cx="285750" cy="285750"/>
            </a:xfrm>
          </p:grpSpPr>
          <p:sp>
            <p:nvSpPr>
              <p:cNvPr id="193" name="Freeform 110"/>
              <p:cNvSpPr/>
              <p:nvPr/>
            </p:nvSpPr>
            <p:spPr>
              <a:xfrm>
                <a:off x="11218069" y="4067175"/>
                <a:ext cx="250031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25016">
                    <a:moveTo>
                      <a:pt x="142875" y="125016"/>
                    </a:moveTo>
                    <a:lnTo>
                      <a:pt x="125016" y="107156"/>
                    </a:lnTo>
                    <a:lnTo>
                      <a:pt x="165965" y="66207"/>
                    </a:lnTo>
                    <a:lnTo>
                      <a:pt x="155503" y="55745"/>
                    </a:lnTo>
                    <a:cubicBezTo>
                      <a:pt x="142681" y="42922"/>
                      <a:pt x="125290" y="35719"/>
                      <a:pt x="107156" y="35719"/>
                    </a:cubicBezTo>
                    <a:cubicBezTo>
                      <a:pt x="89023" y="35719"/>
                      <a:pt x="71631" y="42922"/>
                      <a:pt x="58809" y="55745"/>
                    </a:cubicBezTo>
                    <a:lnTo>
                      <a:pt x="57277" y="57277"/>
                    </a:lnTo>
                    <a:cubicBezTo>
                      <a:pt x="43473" y="71080"/>
                      <a:pt x="35719" y="89802"/>
                      <a:pt x="35719" y="109323"/>
                    </a:cubicBezTo>
                    <a:lnTo>
                      <a:pt x="35719" y="125016"/>
                    </a:lnTo>
                    <a:lnTo>
                      <a:pt x="0" y="125016"/>
                    </a:lnTo>
                    <a:lnTo>
                      <a:pt x="0" y="109323"/>
                    </a:lnTo>
                    <a:cubicBezTo>
                      <a:pt x="0" y="80329"/>
                      <a:pt x="11518" y="52522"/>
                      <a:pt x="32020" y="32020"/>
                    </a:cubicBezTo>
                    <a:lnTo>
                      <a:pt x="33552" y="30488"/>
                    </a:lnTo>
                    <a:cubicBezTo>
                      <a:pt x="53073" y="10967"/>
                      <a:pt x="79549" y="0"/>
                      <a:pt x="107156" y="0"/>
                    </a:cubicBezTo>
                    <a:cubicBezTo>
                      <a:pt x="134763" y="0"/>
                      <a:pt x="161240" y="10967"/>
                      <a:pt x="180760" y="30488"/>
                    </a:cubicBezTo>
                    <a:lnTo>
                      <a:pt x="191222" y="40950"/>
                    </a:lnTo>
                    <a:lnTo>
                      <a:pt x="232172" y="0"/>
                    </a:lnTo>
                    <a:lnTo>
                      <a:pt x="250031" y="17859"/>
                    </a:lnTo>
                    <a:lnTo>
                      <a:pt x="250031" y="125016"/>
                    </a:lnTo>
                    <a:lnTo>
                      <a:pt x="142875" y="125016"/>
                    </a:lnTo>
                    <a:close/>
                  </a:path>
                </a:pathLst>
              </a:custGeom>
              <a:solidFill>
                <a:srgbClr val="53B69A"/>
              </a:solidFill>
              <a:ln>
                <a:noFill/>
              </a:ln>
            </p:spPr>
          </p:sp>
          <p:sp>
            <p:nvSpPr>
              <p:cNvPr id="194" name="Freeform 111"/>
              <p:cNvSpPr/>
              <p:nvPr/>
            </p:nvSpPr>
            <p:spPr>
              <a:xfrm>
                <a:off x="11182350" y="4227909"/>
                <a:ext cx="250031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25016">
                    <a:moveTo>
                      <a:pt x="94528" y="69271"/>
                    </a:moveTo>
                    <a:cubicBezTo>
                      <a:pt x="107350" y="82092"/>
                      <a:pt x="124741" y="89297"/>
                      <a:pt x="142875" y="89297"/>
                    </a:cubicBezTo>
                    <a:cubicBezTo>
                      <a:pt x="161009" y="89297"/>
                      <a:pt x="178400" y="82094"/>
                      <a:pt x="191222" y="69271"/>
                    </a:cubicBezTo>
                    <a:lnTo>
                      <a:pt x="192754" y="67739"/>
                    </a:lnTo>
                    <a:cubicBezTo>
                      <a:pt x="206558" y="53935"/>
                      <a:pt x="214312" y="35213"/>
                      <a:pt x="214312" y="15693"/>
                    </a:cubicBezTo>
                    <a:lnTo>
                      <a:pt x="214312" y="0"/>
                    </a:lnTo>
                    <a:lnTo>
                      <a:pt x="250031" y="0"/>
                    </a:lnTo>
                    <a:lnTo>
                      <a:pt x="250031" y="15693"/>
                    </a:lnTo>
                    <a:cubicBezTo>
                      <a:pt x="250031" y="44688"/>
                      <a:pt x="238514" y="72493"/>
                      <a:pt x="218011" y="92996"/>
                    </a:cubicBezTo>
                    <a:lnTo>
                      <a:pt x="216479" y="94528"/>
                    </a:lnTo>
                    <a:cubicBezTo>
                      <a:pt x="196959" y="114048"/>
                      <a:pt x="170482" y="125016"/>
                      <a:pt x="142875" y="125016"/>
                    </a:cubicBezTo>
                    <a:cubicBezTo>
                      <a:pt x="115268" y="125016"/>
                      <a:pt x="88792" y="114048"/>
                      <a:pt x="69271" y="94528"/>
                    </a:cubicBezTo>
                    <a:lnTo>
                      <a:pt x="58809" y="84066"/>
                    </a:lnTo>
                    <a:lnTo>
                      <a:pt x="17859" y="125016"/>
                    </a:lnTo>
                    <a:lnTo>
                      <a:pt x="0" y="107156"/>
                    </a:lnTo>
                    <a:lnTo>
                      <a:pt x="0" y="0"/>
                    </a:lnTo>
                    <a:lnTo>
                      <a:pt x="107156" y="0"/>
                    </a:lnTo>
                    <a:lnTo>
                      <a:pt x="125016" y="17859"/>
                    </a:lnTo>
                    <a:lnTo>
                      <a:pt x="84066" y="58809"/>
                    </a:lnTo>
                    <a:lnTo>
                      <a:pt x="94528" y="69271"/>
                    </a:lnTo>
                    <a:close/>
                  </a:path>
                </a:pathLst>
              </a:custGeom>
              <a:solidFill>
                <a:srgbClr val="53B69A"/>
              </a:solidFill>
              <a:ln>
                <a:noFill/>
              </a:ln>
            </p:spPr>
          </p:sp>
        </p:grpSp>
      </p:grpSp>
      <p:grpSp>
        <p:nvGrpSpPr>
          <p:cNvPr id="195" name="Group 123"/>
          <p:cNvGrpSpPr/>
          <p:nvPr/>
        </p:nvGrpSpPr>
        <p:grpSpPr>
          <a:xfrm>
            <a:off x="8545831" y="4694626"/>
            <a:ext cx="3048000" cy="838200"/>
            <a:chOff x="8572500" y="4972050"/>
            <a:chExt cx="3048000" cy="838200"/>
          </a:xfrm>
        </p:grpSpPr>
        <p:sp>
          <p:nvSpPr>
            <p:cNvPr id="196" name="Rectangle 114"/>
            <p:cNvSpPr/>
            <p:nvPr/>
          </p:nvSpPr>
          <p:spPr>
            <a:xfrm>
              <a:off x="8572500" y="4972050"/>
              <a:ext cx="3048000" cy="83820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19050">
              <a:solidFill>
                <a:srgbClr val="DE7A34"/>
              </a:solidFill>
            </a:ln>
          </p:spPr>
        </p:sp>
        <p:sp>
          <p:nvSpPr>
            <p:cNvPr id="197" name="Rectangle 115"/>
            <p:cNvSpPr/>
            <p:nvPr/>
          </p:nvSpPr>
          <p:spPr>
            <a:xfrm>
              <a:off x="8572500" y="4972050"/>
              <a:ext cx="3048000" cy="76200"/>
            </a:xfrm>
            <a:prstGeom prst="roundRect">
              <a:avLst>
                <a:gd name="adj" fmla="val 50000"/>
              </a:avLst>
            </a:prstGeom>
            <a:solidFill>
              <a:srgbClr val="DE7A34"/>
            </a:solidFill>
            <a:ln>
              <a:noFill/>
            </a:ln>
          </p:spPr>
        </p:sp>
        <p:sp>
          <p:nvSpPr>
            <p:cNvPr id="198" name="Rectangle 116"/>
            <p:cNvSpPr/>
            <p:nvPr/>
          </p:nvSpPr>
          <p:spPr>
            <a:xfrm>
              <a:off x="8743950" y="5238750"/>
              <a:ext cx="133350" cy="209550"/>
            </a:xfrm>
            <a:prstGeom prst="roundRect">
              <a:avLst>
                <a:gd name="adj" fmla="val 28571"/>
              </a:avLst>
            </a:prstGeom>
            <a:solidFill>
              <a:srgbClr val="DE7A34"/>
            </a:solidFill>
            <a:ln>
              <a:noFill/>
            </a:ln>
          </p:spPr>
        </p:sp>
        <p:sp>
          <p:nvSpPr>
            <p:cNvPr id="199" name="TextBox 117"/>
            <p:cNvSpPr txBox="1"/>
            <p:nvPr/>
          </p:nvSpPr>
          <p:spPr>
            <a:xfrm>
              <a:off x="8974455" y="52168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知识优先</a:t>
              </a:r>
            </a:p>
          </p:txBody>
        </p:sp>
        <p:sp>
          <p:nvSpPr>
            <p:cNvPr id="200" name="TextBox 118"/>
            <p:cNvSpPr txBox="1"/>
            <p:nvPr/>
          </p:nvSpPr>
          <p:spPr>
            <a:xfrm>
              <a:off x="8730615" y="55159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F556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降低幻觉，提高教学一致性</a:t>
              </a:r>
            </a:p>
          </p:txBody>
        </p:sp>
        <p:grpSp>
          <p:nvGrpSpPr>
            <p:cNvPr id="201" name="Group 122"/>
            <p:cNvGrpSpPr/>
            <p:nvPr/>
          </p:nvGrpSpPr>
          <p:grpSpPr>
            <a:xfrm>
              <a:off x="11200209" y="5191125"/>
              <a:ext cx="250031" cy="285750"/>
              <a:chOff x="11200209" y="5191125"/>
              <a:chExt cx="250031" cy="285750"/>
            </a:xfrm>
          </p:grpSpPr>
          <p:sp>
            <p:nvSpPr>
              <p:cNvPr id="202" name="Freeform 119"/>
              <p:cNvSpPr/>
              <p:nvPr/>
            </p:nvSpPr>
            <p:spPr>
              <a:xfrm>
                <a:off x="11200209" y="5191125"/>
                <a:ext cx="25003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42875">
                    <a:moveTo>
                      <a:pt x="0" y="89297"/>
                    </a:moveTo>
                    <a:lnTo>
                      <a:pt x="0" y="53578"/>
                    </a:lnTo>
                    <a:lnTo>
                      <a:pt x="125016" y="0"/>
                    </a:lnTo>
                    <a:lnTo>
                      <a:pt x="250031" y="53578"/>
                    </a:lnTo>
                    <a:lnTo>
                      <a:pt x="250031" y="89297"/>
                    </a:lnTo>
                    <a:lnTo>
                      <a:pt x="125016" y="142875"/>
                    </a:lnTo>
                    <a:lnTo>
                      <a:pt x="0" y="89297"/>
                    </a:lnTo>
                    <a:close/>
                  </a:path>
                </a:pathLst>
              </a:custGeom>
              <a:solidFill>
                <a:srgbClr val="DE7A34"/>
              </a:solidFill>
              <a:ln>
                <a:noFill/>
              </a:ln>
            </p:spPr>
          </p:sp>
          <p:sp>
            <p:nvSpPr>
              <p:cNvPr id="203" name="Freeform 120"/>
              <p:cNvSpPr/>
              <p:nvPr/>
            </p:nvSpPr>
            <p:spPr>
              <a:xfrm>
                <a:off x="11200209" y="5387578"/>
                <a:ext cx="250031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89297">
                    <a:moveTo>
                      <a:pt x="125016" y="89297"/>
                    </a:moveTo>
                    <a:lnTo>
                      <a:pt x="0" y="35719"/>
                    </a:lnTo>
                    <a:lnTo>
                      <a:pt x="0" y="0"/>
                    </a:lnTo>
                    <a:lnTo>
                      <a:pt x="125016" y="53578"/>
                    </a:lnTo>
                    <a:lnTo>
                      <a:pt x="250031" y="0"/>
                    </a:lnTo>
                    <a:lnTo>
                      <a:pt x="250031" y="35719"/>
                    </a:lnTo>
                    <a:lnTo>
                      <a:pt x="125016" y="89297"/>
                    </a:lnTo>
                    <a:close/>
                  </a:path>
                </a:pathLst>
              </a:custGeom>
              <a:solidFill>
                <a:srgbClr val="DE7A34"/>
              </a:solidFill>
              <a:ln>
                <a:noFill/>
              </a:ln>
            </p:spPr>
          </p:sp>
          <p:sp>
            <p:nvSpPr>
              <p:cNvPr id="204" name="Freeform 121"/>
              <p:cNvSpPr/>
              <p:nvPr/>
            </p:nvSpPr>
            <p:spPr>
              <a:xfrm>
                <a:off x="11200209" y="5316141"/>
                <a:ext cx="250031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89297">
                    <a:moveTo>
                      <a:pt x="0" y="35719"/>
                    </a:moveTo>
                    <a:lnTo>
                      <a:pt x="125016" y="89297"/>
                    </a:lnTo>
                    <a:lnTo>
                      <a:pt x="250031" y="35719"/>
                    </a:lnTo>
                    <a:lnTo>
                      <a:pt x="250031" y="0"/>
                    </a:lnTo>
                    <a:lnTo>
                      <a:pt x="125016" y="53578"/>
                    </a:lnTo>
                    <a:lnTo>
                      <a:pt x="0" y="0"/>
                    </a:lnTo>
                    <a:lnTo>
                      <a:pt x="0" y="35719"/>
                    </a:lnTo>
                    <a:close/>
                  </a:path>
                </a:pathLst>
              </a:custGeom>
              <a:solidFill>
                <a:srgbClr val="DE7A34"/>
              </a:solidFill>
              <a:ln>
                <a:noFill/>
              </a:ln>
            </p:spPr>
          </p:sp>
        </p:grpSp>
      </p:grpSp>
      <p:grpSp>
        <p:nvGrpSpPr>
          <p:cNvPr id="205" name="Group 52"/>
          <p:cNvGrpSpPr/>
          <p:nvPr/>
        </p:nvGrpSpPr>
        <p:grpSpPr>
          <a:xfrm>
            <a:off x="507330" y="2752725"/>
            <a:ext cx="7753350" cy="704850"/>
            <a:chOff x="514350" y="2552700"/>
            <a:chExt cx="7753350" cy="704850"/>
          </a:xfrm>
        </p:grpSpPr>
        <p:sp>
          <p:nvSpPr>
            <p:cNvPr id="206" name="Rectangle 42"/>
            <p:cNvSpPr/>
            <p:nvPr/>
          </p:nvSpPr>
          <p:spPr>
            <a:xfrm>
              <a:off x="514350" y="2552700"/>
              <a:ext cx="7753350" cy="704850"/>
            </a:xfrm>
            <a:prstGeom prst="roundRect">
              <a:avLst>
                <a:gd name="adj" fmla="val 18919"/>
              </a:avLst>
            </a:prstGeom>
            <a:solidFill>
              <a:srgbClr val="F8F4FF"/>
            </a:solidFill>
            <a:ln w="19050">
              <a:solidFill>
                <a:srgbClr val="8C6AE4"/>
              </a:solidFill>
            </a:ln>
          </p:spPr>
        </p:sp>
        <p:sp>
          <p:nvSpPr>
            <p:cNvPr id="207" name="TextBox 43"/>
            <p:cNvSpPr txBox="1"/>
            <p:nvPr/>
          </p:nvSpPr>
          <p:spPr>
            <a:xfrm>
              <a:off x="782955" y="2845118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1B1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AI能力中台</a:t>
              </a:r>
            </a:p>
          </p:txBody>
        </p:sp>
        <p:sp>
          <p:nvSpPr>
            <p:cNvPr id="208" name="Rectangle 44"/>
            <p:cNvSpPr/>
            <p:nvPr/>
          </p:nvSpPr>
          <p:spPr>
            <a:xfrm>
              <a:off x="2647950" y="2686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9BAF5"/>
              </a:solidFill>
            </a:ln>
          </p:spPr>
        </p:sp>
        <p:sp>
          <p:nvSpPr>
            <p:cNvPr id="209" name="TextBox 45"/>
            <p:cNvSpPr txBox="1"/>
            <p:nvPr/>
          </p:nvSpPr>
          <p:spPr>
            <a:xfrm>
              <a:off x="2915793" y="28136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课件解析</a:t>
              </a:r>
            </a:p>
          </p:txBody>
        </p:sp>
        <p:sp>
          <p:nvSpPr>
            <p:cNvPr id="210" name="Rectangle 46"/>
            <p:cNvSpPr/>
            <p:nvPr/>
          </p:nvSpPr>
          <p:spPr>
            <a:xfrm>
              <a:off x="4019550" y="2686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9BAF5"/>
              </a:solidFill>
            </a:ln>
          </p:spPr>
        </p:sp>
        <p:sp>
          <p:nvSpPr>
            <p:cNvPr id="211" name="TextBox 47"/>
            <p:cNvSpPr txBox="1"/>
            <p:nvPr/>
          </p:nvSpPr>
          <p:spPr>
            <a:xfrm>
              <a:off x="4287393" y="28136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知识检索</a:t>
              </a:r>
            </a:p>
          </p:txBody>
        </p:sp>
        <p:sp>
          <p:nvSpPr>
            <p:cNvPr id="212" name="Rectangle 48"/>
            <p:cNvSpPr/>
            <p:nvPr/>
          </p:nvSpPr>
          <p:spPr>
            <a:xfrm>
              <a:off x="5391150" y="2686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9BAF5"/>
              </a:solidFill>
            </a:ln>
          </p:spPr>
        </p:sp>
        <p:sp>
          <p:nvSpPr>
            <p:cNvPr id="213" name="TextBox 49"/>
            <p:cNvSpPr txBox="1"/>
            <p:nvPr/>
          </p:nvSpPr>
          <p:spPr>
            <a:xfrm>
              <a:off x="5658993" y="28136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内容生成</a:t>
              </a:r>
            </a:p>
          </p:txBody>
        </p:sp>
        <p:sp>
          <p:nvSpPr>
            <p:cNvPr id="214" name="Rectangle 50"/>
            <p:cNvSpPr/>
            <p:nvPr/>
          </p:nvSpPr>
          <p:spPr>
            <a:xfrm>
              <a:off x="6762750" y="2686050"/>
              <a:ext cx="12382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9525">
              <a:solidFill>
                <a:srgbClr val="C9BAF5"/>
              </a:solidFill>
            </a:ln>
          </p:spPr>
        </p:sp>
        <p:sp>
          <p:nvSpPr>
            <p:cNvPr id="215" name="TextBox 51"/>
            <p:cNvSpPr txBox="1"/>
            <p:nvPr/>
          </p:nvSpPr>
          <p:spPr>
            <a:xfrm>
              <a:off x="7030593" y="28136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1233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31" grpId="0"/>
      <p:bldP spid="141" grpId="0"/>
      <p:bldP spid="156" grpId="0"/>
      <p:bldP spid="170" grpId="0"/>
      <p:bldP spid="177" grpId="0"/>
      <p:bldP spid="186" grpId="0"/>
      <p:bldP spid="195" grpId="0"/>
      <p:bldP spid="20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4726996" cy="521494"/>
            <a:chOff x="609600" y="1009650"/>
            <a:chExt cx="4726996" cy="521494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668" y="1028224"/>
              <a:ext cx="4567928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先节点化，</a:t>
              </a:r>
              <a:r>
                <a:rPr lang="zh-CN" sz="24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再问答，最后续接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71526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算法部分从一条主链和两条下游链展开：先形成节点化学习底座，再支撑教师端生成与学生端互动。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476750" y="1866900"/>
            <a:ext cx="3238500" cy="742950"/>
            <a:chOff x="4476750" y="1866900"/>
            <a:chExt cx="3238500" cy="742950"/>
          </a:xfrm>
        </p:grpSpPr>
        <p:sp>
          <p:nvSpPr>
            <p:cNvPr id="20" name="Rectangle 20"/>
            <p:cNvSpPr/>
            <p:nvPr/>
          </p:nvSpPr>
          <p:spPr>
            <a:xfrm>
              <a:off x="4476750" y="1866900"/>
              <a:ext cx="3238500" cy="742950"/>
            </a:xfrm>
            <a:prstGeom prst="roundRect">
              <a:avLst>
                <a:gd name="adj" fmla="val 20513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4702969" y="2095500"/>
              <a:ext cx="233363" cy="266700"/>
              <a:chOff x="4702969" y="2095500"/>
              <a:chExt cx="233363" cy="2667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769644" y="2095500"/>
                <a:ext cx="1666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00025">
                    <a:moveTo>
                      <a:pt x="100012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66688" y="200025"/>
                    </a:lnTo>
                    <a:lnTo>
                      <a:pt x="166688" y="66675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02969" y="2162175"/>
                <a:ext cx="1666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166688" y="200025"/>
                    </a:lnTo>
                    <a:lnTo>
                      <a:pt x="166688" y="166688"/>
                    </a:lnTo>
                    <a:lnTo>
                      <a:pt x="33338" y="166688"/>
                    </a:lnTo>
                    <a:lnTo>
                      <a:pt x="333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092065" y="20774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83492" y="2214086"/>
              <a:ext cx="256780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静态课件（PPT / PDF）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000500" y="2990850"/>
            <a:ext cx="4191000" cy="1047750"/>
            <a:chOff x="4000500" y="2990850"/>
            <a:chExt cx="4191000" cy="1047750"/>
          </a:xfrm>
        </p:grpSpPr>
        <p:sp>
          <p:nvSpPr>
            <p:cNvPr id="27" name="Rectangle 27"/>
            <p:cNvSpPr/>
            <p:nvPr/>
          </p:nvSpPr>
          <p:spPr>
            <a:xfrm>
              <a:off x="4000500" y="2990850"/>
              <a:ext cx="4191000" cy="1047750"/>
            </a:xfrm>
            <a:prstGeom prst="roundRect">
              <a:avLst>
                <a:gd name="adj" fmla="val 16364"/>
              </a:avLst>
            </a:prstGeom>
            <a:solidFill>
              <a:srgbClr val="FFFFFF"/>
            </a:solidFill>
            <a:ln w="14288">
              <a:solidFill>
                <a:srgbClr val="CDBEF6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4000500" y="2990850"/>
              <a:ext cx="4191000" cy="11430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286250" y="3355181"/>
              <a:ext cx="323850" cy="242888"/>
            </a:xfrm>
            <a:custGeom>
              <a:avLst/>
              <a:gdLst/>
              <a:ahLst/>
              <a:cxnLst/>
              <a:rect l="l" t="t" r="r" b="b"/>
              <a:pathLst>
                <a:path w="323850" h="242888">
                  <a:moveTo>
                    <a:pt x="0" y="121444"/>
                  </a:moveTo>
                  <a:lnTo>
                    <a:pt x="62330" y="46648"/>
                  </a:lnTo>
                  <a:cubicBezTo>
                    <a:pt x="86961" y="17090"/>
                    <a:pt x="123449" y="0"/>
                    <a:pt x="161925" y="0"/>
                  </a:cubicBezTo>
                  <a:cubicBezTo>
                    <a:pt x="200401" y="0"/>
                    <a:pt x="236888" y="17090"/>
                    <a:pt x="261521" y="46648"/>
                  </a:cubicBezTo>
                  <a:lnTo>
                    <a:pt x="323850" y="121444"/>
                  </a:lnTo>
                  <a:lnTo>
                    <a:pt x="261521" y="196239"/>
                  </a:lnTo>
                  <a:cubicBezTo>
                    <a:pt x="236888" y="225798"/>
                    <a:pt x="200401" y="242888"/>
                    <a:pt x="161925" y="242888"/>
                  </a:cubicBezTo>
                  <a:cubicBezTo>
                    <a:pt x="123449" y="242888"/>
                    <a:pt x="86961" y="225798"/>
                    <a:pt x="62330" y="196239"/>
                  </a:cubicBezTo>
                  <a:lnTo>
                    <a:pt x="0" y="121444"/>
                  </a:lnTo>
                  <a:close/>
                  <a:moveTo>
                    <a:pt x="161925" y="182166"/>
                  </a:moveTo>
                  <a:cubicBezTo>
                    <a:pt x="195461" y="182166"/>
                    <a:pt x="222647" y="154979"/>
                    <a:pt x="222647" y="121444"/>
                  </a:cubicBezTo>
                  <a:cubicBezTo>
                    <a:pt x="222647" y="87908"/>
                    <a:pt x="195461" y="60722"/>
                    <a:pt x="161925" y="60722"/>
                  </a:cubicBezTo>
                  <a:cubicBezTo>
                    <a:pt x="128389" y="60722"/>
                    <a:pt x="101203" y="87908"/>
                    <a:pt x="101203" y="121444"/>
                  </a:cubicBezTo>
                  <a:cubicBezTo>
                    <a:pt x="101203" y="154979"/>
                    <a:pt x="128389" y="182166"/>
                    <a:pt x="161925" y="182166"/>
                  </a:cubicBez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48212" y="3288506"/>
              <a:ext cx="753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主链阶段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39640" y="3444240"/>
              <a:ext cx="31079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多模态解析 + 跨页语义聚合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0118" y="3666649"/>
              <a:ext cx="2885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不是只提文本，而是理解标题、图表、布局关系，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50594" y="384214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并串联前后页知识脉络。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219450" y="4286250"/>
            <a:ext cx="5753100" cy="1066800"/>
            <a:chOff x="3219450" y="4286250"/>
            <a:chExt cx="5753100" cy="1066800"/>
          </a:xfrm>
        </p:grpSpPr>
        <p:sp>
          <p:nvSpPr>
            <p:cNvPr id="35" name="Rectangle 35"/>
            <p:cNvSpPr/>
            <p:nvPr/>
          </p:nvSpPr>
          <p:spPr>
            <a:xfrm>
              <a:off x="3219450" y="4286250"/>
              <a:ext cx="5753100" cy="1066800"/>
            </a:xfrm>
            <a:prstGeom prst="roundRect">
              <a:avLst>
                <a:gd name="adj" fmla="val 19643"/>
              </a:avLst>
            </a:prstGeom>
            <a:solidFill>
              <a:srgbClr val="FFFFFF"/>
            </a:solidFill>
            <a:ln w="19050">
              <a:solidFill>
                <a:srgbClr val="9FE2D7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3219450" y="4286250"/>
              <a:ext cx="5753100" cy="11430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3525441" y="4638675"/>
              <a:ext cx="283369" cy="323850"/>
              <a:chOff x="3525441" y="4638675"/>
              <a:chExt cx="283369" cy="3238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525441" y="4638675"/>
                <a:ext cx="283369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61925">
                    <a:moveTo>
                      <a:pt x="0" y="101203"/>
                    </a:moveTo>
                    <a:lnTo>
                      <a:pt x="0" y="60722"/>
                    </a:lnTo>
                    <a:lnTo>
                      <a:pt x="141684" y="0"/>
                    </a:lnTo>
                    <a:lnTo>
                      <a:pt x="283369" y="60722"/>
                    </a:lnTo>
                    <a:lnTo>
                      <a:pt x="283369" y="101203"/>
                    </a:lnTo>
                    <a:lnTo>
                      <a:pt x="141684" y="161925"/>
                    </a:lnTo>
                    <a:lnTo>
                      <a:pt x="0" y="101203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525441" y="4861322"/>
                <a:ext cx="283369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01203">
                    <a:moveTo>
                      <a:pt x="141684" y="101203"/>
                    </a:moveTo>
                    <a:lnTo>
                      <a:pt x="0" y="40481"/>
                    </a:lnTo>
                    <a:lnTo>
                      <a:pt x="0" y="0"/>
                    </a:lnTo>
                    <a:lnTo>
                      <a:pt x="141684" y="60722"/>
                    </a:lnTo>
                    <a:lnTo>
                      <a:pt x="283369" y="0"/>
                    </a:lnTo>
                    <a:lnTo>
                      <a:pt x="283369" y="40481"/>
                    </a:lnTo>
                    <a:lnTo>
                      <a:pt x="141684" y="101203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525441" y="4780359"/>
                <a:ext cx="283369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01203">
                    <a:moveTo>
                      <a:pt x="0" y="40481"/>
                    </a:moveTo>
                    <a:lnTo>
                      <a:pt x="141684" y="101203"/>
                    </a:lnTo>
                    <a:lnTo>
                      <a:pt x="283369" y="40481"/>
                    </a:lnTo>
                    <a:lnTo>
                      <a:pt x="283369" y="0"/>
                    </a:lnTo>
                    <a:lnTo>
                      <a:pt x="141684" y="60722"/>
                    </a:lnTo>
                    <a:lnTo>
                      <a:pt x="0" y="0"/>
                    </a:lnTo>
                    <a:lnTo>
                      <a:pt x="0" y="40481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967162" y="4602956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主链阶段 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56685" y="47424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节点化学习底座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68115" y="5049202"/>
              <a:ext cx="4507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全系统统一语言：后续讲稿生成、问答引用、续接定位都围绕节点展开。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121950" y="4629150"/>
              <a:ext cx="2846705" cy="273844"/>
              <a:chOff x="6121950" y="4629150"/>
              <a:chExt cx="2846705" cy="273844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121950" y="4629150"/>
                <a:ext cx="5905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FF4FE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343019" y="4704874"/>
                <a:ext cx="1612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页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6842760" y="4629150"/>
                <a:ext cx="5905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9F8F5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000565" y="47048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节点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562850" y="462915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1ECFE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747325" y="47048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7B5B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讲稿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324765" y="4629150"/>
                <a:ext cx="64389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FF4FE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362831" y="4708922"/>
                <a:ext cx="54887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40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知识索引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914400" y="5505450"/>
            <a:ext cx="4762500" cy="876300"/>
            <a:chOff x="914400" y="5505450"/>
            <a:chExt cx="4762500" cy="876300"/>
          </a:xfrm>
        </p:grpSpPr>
        <p:sp>
          <p:nvSpPr>
            <p:cNvPr id="54" name="Rectangle 54"/>
            <p:cNvSpPr/>
            <p:nvPr/>
          </p:nvSpPr>
          <p:spPr>
            <a:xfrm>
              <a:off x="914400" y="5505450"/>
              <a:ext cx="47625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grpSp>
          <p:nvGrpSpPr>
            <p:cNvPr id="57" name="Group 57"/>
            <p:cNvGrpSpPr/>
            <p:nvPr/>
          </p:nvGrpSpPr>
          <p:grpSpPr>
            <a:xfrm>
              <a:off x="1159669" y="5791200"/>
              <a:ext cx="250031" cy="250031"/>
              <a:chOff x="1159669" y="5791200"/>
              <a:chExt cx="250031" cy="25003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159669" y="5852993"/>
                <a:ext cx="188239" cy="188238"/>
              </a:xfrm>
              <a:custGeom>
                <a:avLst/>
                <a:gdLst/>
                <a:ahLst/>
                <a:cxnLst/>
                <a:rect l="l" t="t" r="r" b="b"/>
                <a:pathLst>
                  <a:path w="188239" h="188238">
                    <a:moveTo>
                      <a:pt x="121563" y="0"/>
                    </a:moveTo>
                    <a:lnTo>
                      <a:pt x="0" y="121563"/>
                    </a:lnTo>
                    <a:lnTo>
                      <a:pt x="0" y="188238"/>
                    </a:lnTo>
                    <a:lnTo>
                      <a:pt x="66675" y="188238"/>
                    </a:lnTo>
                    <a:lnTo>
                      <a:pt x="188239" y="66675"/>
                    </a:lnTo>
                    <a:lnTo>
                      <a:pt x="121563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304805" y="5791200"/>
                <a:ext cx="104895" cy="104895"/>
              </a:xfrm>
              <a:custGeom>
                <a:avLst/>
                <a:gdLst/>
                <a:ahLst/>
                <a:cxnLst/>
                <a:rect l="l" t="t" r="r" b="b"/>
                <a:pathLst>
                  <a:path w="104895" h="104895">
                    <a:moveTo>
                      <a:pt x="0" y="38220"/>
                    </a:moveTo>
                    <a:lnTo>
                      <a:pt x="66675" y="104895"/>
                    </a:lnTo>
                    <a:lnTo>
                      <a:pt x="91086" y="80484"/>
                    </a:lnTo>
                    <a:cubicBezTo>
                      <a:pt x="99927" y="71642"/>
                      <a:pt x="104895" y="59650"/>
                      <a:pt x="104895" y="47146"/>
                    </a:cubicBezTo>
                    <a:cubicBezTo>
                      <a:pt x="104895" y="21108"/>
                      <a:pt x="83787" y="0"/>
                      <a:pt x="57749" y="0"/>
                    </a:cubicBezTo>
                    <a:cubicBezTo>
                      <a:pt x="45244" y="0"/>
                      <a:pt x="33252" y="4967"/>
                      <a:pt x="24411" y="13809"/>
                    </a:cubicBez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529715" y="5715952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下游链 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524000" y="5876925"/>
              <a:ext cx="3041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教师侧：讲稿生成 / 编辑 / 发布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31144" y="6128147"/>
              <a:ext cx="314920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节点先被教师端消费，转成可编辑、可发布的讲授内容。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515100" y="5505450"/>
            <a:ext cx="4762500" cy="876300"/>
            <a:chOff x="6515100" y="5505450"/>
            <a:chExt cx="4762500" cy="876300"/>
          </a:xfrm>
        </p:grpSpPr>
        <p:sp>
          <p:nvSpPr>
            <p:cNvPr id="62" name="Rectangle 62"/>
            <p:cNvSpPr/>
            <p:nvPr/>
          </p:nvSpPr>
          <p:spPr>
            <a:xfrm>
              <a:off x="6515100" y="5505450"/>
              <a:ext cx="47625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14288">
              <a:solidFill>
                <a:srgbClr val="CDBEF6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grpSp>
          <p:nvGrpSpPr>
            <p:cNvPr id="65" name="Group 65"/>
            <p:cNvGrpSpPr/>
            <p:nvPr/>
          </p:nvGrpSpPr>
          <p:grpSpPr>
            <a:xfrm>
              <a:off x="6743700" y="5807869"/>
              <a:ext cx="266700" cy="249193"/>
              <a:chOff x="6743700" y="5807869"/>
              <a:chExt cx="266700" cy="24919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810375" y="5807869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166688"/>
                    </a:lnTo>
                    <a:lnTo>
                      <a:pt x="66675" y="166688"/>
                    </a:lnTo>
                    <a:lnTo>
                      <a:pt x="100012" y="200025"/>
                    </a:lnTo>
                    <a:lnTo>
                      <a:pt x="133350" y="166688"/>
                    </a:lnTo>
                    <a:lnTo>
                      <a:pt x="200025" y="166688"/>
                    </a:lnTo>
                    <a:lnTo>
                      <a:pt x="200025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43700" y="5874544"/>
                <a:ext cx="145137" cy="182518"/>
              </a:xfrm>
              <a:custGeom>
                <a:avLst/>
                <a:gdLst/>
                <a:ahLst/>
                <a:cxnLst/>
                <a:rect l="l" t="t" r="r" b="b"/>
                <a:pathLst>
                  <a:path w="145137" h="182518">
                    <a:moveTo>
                      <a:pt x="33338" y="0"/>
                    </a:moveTo>
                    <a:lnTo>
                      <a:pt x="33338" y="133350"/>
                    </a:lnTo>
                    <a:lnTo>
                      <a:pt x="119541" y="133350"/>
                    </a:lnTo>
                    <a:lnTo>
                      <a:pt x="145137" y="158945"/>
                    </a:lnTo>
                    <a:lnTo>
                      <a:pt x="121563" y="182518"/>
                    </a:lnTo>
                    <a:lnTo>
                      <a:pt x="105732" y="166688"/>
                    </a:lnTo>
                    <a:lnTo>
                      <a:pt x="0" y="166688"/>
                    </a:lnTo>
                    <a:lnTo>
                      <a:pt x="0" y="0"/>
                    </a:lnTo>
                    <a:lnTo>
                      <a:pt x="33338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30415" y="5715952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下游链 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24700" y="5876925"/>
              <a:ext cx="3041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学生侧：问答 / 理解判定 / 续接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31844" y="6128147"/>
              <a:ext cx="327421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问答和续接不是外挂，而是沿着同一套节点结构继续学习。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429000" y="2609850"/>
            <a:ext cx="5334000" cy="2971800"/>
            <a:chOff x="3429000" y="2609850"/>
            <a:chExt cx="5334000" cy="2971800"/>
          </a:xfrm>
        </p:grpSpPr>
        <p:sp>
          <p:nvSpPr>
            <p:cNvPr id="70" name="Line 70"/>
            <p:cNvSpPr/>
            <p:nvPr/>
          </p:nvSpPr>
          <p:spPr>
            <a:xfrm>
              <a:off x="6096000" y="26098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C7D2E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019800" y="28765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76200" y="1143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72" name="Line 72"/>
            <p:cNvSpPr/>
            <p:nvPr/>
          </p:nvSpPr>
          <p:spPr>
            <a:xfrm>
              <a:off x="6096000" y="4038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C7D2E8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019800" y="41719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76200" y="1143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3429000" y="5353050"/>
              <a:ext cx="1524000" cy="152400"/>
            </a:xfrm>
            <a:custGeom>
              <a:avLst/>
              <a:gdLst/>
              <a:ahLst/>
              <a:cxnLst/>
              <a:rect l="l" t="t" r="r" b="b"/>
              <a:pathLst>
                <a:path w="1524000" h="152400">
                  <a:moveTo>
                    <a:pt x="1524000" y="0"/>
                  </a:move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C7D2E8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429000" y="5429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1430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7239000" y="5353050"/>
              <a:ext cx="1524000" cy="152400"/>
            </a:xfrm>
            <a:custGeom>
              <a:avLst/>
              <a:gdLst/>
              <a:ahLst/>
              <a:cxnLst/>
              <a:rect l="l" t="t" r="r" b="b"/>
              <a:pathLst>
                <a:path w="1524000" h="152400">
                  <a:moveTo>
                    <a:pt x="0" y="0"/>
                  </a:moveTo>
                  <a:lnTo>
                    <a:pt x="1524000" y="152400"/>
                  </a:lnTo>
                </a:path>
              </a:pathLst>
            </a:custGeom>
            <a:noFill/>
            <a:ln w="28575">
              <a:solidFill>
                <a:srgbClr val="C7D2E8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8629650" y="5429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1524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465590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4" grpId="0"/>
      <p:bldP spid="53" grpId="0"/>
      <p:bldP spid="61" grpId="0"/>
      <p:bldP spid="69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6079759" cy="507206"/>
            <a:chOff x="609600" y="1009650"/>
            <a:chExt cx="6079759" cy="507206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0572" y="1044416"/>
              <a:ext cx="5918787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课件解析链：</a:t>
              </a:r>
              <a:r>
                <a:rPr lang="zh-CN" sz="232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把静态文件变成可讲授节点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581310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解析链的终点不是文本结果，而是整个系统后续都会消费的节点化学习底座。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09600" y="1962150"/>
            <a:ext cx="2043113" cy="2724150"/>
            <a:chOff x="609600" y="1962150"/>
            <a:chExt cx="2043113" cy="2724150"/>
          </a:xfrm>
        </p:grpSpPr>
        <p:sp>
          <p:nvSpPr>
            <p:cNvPr id="20" name="Rectangle 20"/>
            <p:cNvSpPr/>
            <p:nvPr/>
          </p:nvSpPr>
          <p:spPr>
            <a:xfrm>
              <a:off x="609600" y="1962150"/>
              <a:ext cx="1981200" cy="272415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1962150"/>
              <a:ext cx="1981200" cy="952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5815" y="22012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8195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拆页渲染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37009" y="2743200"/>
              <a:ext cx="250032" cy="285750"/>
              <a:chOff x="837009" y="2743200"/>
              <a:chExt cx="250032" cy="2857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08447" y="2743200"/>
                <a:ext cx="178594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214312">
                    <a:moveTo>
                      <a:pt x="107156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178594" y="214312"/>
                    </a:lnTo>
                    <a:lnTo>
                      <a:pt x="178594" y="71438"/>
                    </a:lnTo>
                    <a:lnTo>
                      <a:pt x="107156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7009" y="2814638"/>
                <a:ext cx="178594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214312">
                    <a:moveTo>
                      <a:pt x="0" y="0"/>
                    </a:moveTo>
                    <a:lnTo>
                      <a:pt x="0" y="214312"/>
                    </a:lnTo>
                    <a:lnTo>
                      <a:pt x="178594" y="214312"/>
                    </a:lnTo>
                    <a:lnTo>
                      <a:pt x="178594" y="178594"/>
                    </a:lnTo>
                    <a:lnTo>
                      <a:pt x="35719" y="178594"/>
                    </a:lnTo>
                    <a:lnTo>
                      <a:pt x="357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05815" y="3201352"/>
              <a:ext cx="14338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统一 PPT / PDF 入口，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5815" y="34109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保留页码、版面和页级索引。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" y="4038600"/>
              <a:ext cx="1562100" cy="400050"/>
            </a:xfrm>
            <a:prstGeom prst="roundRect">
              <a:avLst>
                <a:gd name="adj" fmla="val 2381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74208" y="41114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0008" y="426672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页图与页码索引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724150" y="1962150"/>
            <a:ext cx="1981200" cy="2724150"/>
            <a:chOff x="2724150" y="1962150"/>
            <a:chExt cx="1981200" cy="2724150"/>
          </a:xfrm>
        </p:grpSpPr>
        <p:sp>
          <p:nvSpPr>
            <p:cNvPr id="33" name="Rectangle 33"/>
            <p:cNvSpPr/>
            <p:nvPr/>
          </p:nvSpPr>
          <p:spPr>
            <a:xfrm>
              <a:off x="2724150" y="1962150"/>
              <a:ext cx="1981200" cy="272415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CDBEF6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2724150" y="1962150"/>
              <a:ext cx="1981200" cy="952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20365" y="22012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12745" y="23936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多模态识别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933700" y="2778919"/>
              <a:ext cx="285750" cy="214312"/>
            </a:xfrm>
            <a:custGeom>
              <a:avLst/>
              <a:gdLst/>
              <a:ahLst/>
              <a:cxnLst/>
              <a:rect l="l" t="t" r="r" b="b"/>
              <a:pathLst>
                <a:path w="285750" h="214312">
                  <a:moveTo>
                    <a:pt x="0" y="107156"/>
                  </a:moveTo>
                  <a:lnTo>
                    <a:pt x="54997" y="41160"/>
                  </a:lnTo>
                  <a:cubicBezTo>
                    <a:pt x="76731" y="15079"/>
                    <a:pt x="108926" y="0"/>
                    <a:pt x="142875" y="0"/>
                  </a:cubicBezTo>
                  <a:cubicBezTo>
                    <a:pt x="176824" y="0"/>
                    <a:pt x="209019" y="15079"/>
                    <a:pt x="230754" y="41160"/>
                  </a:cubicBezTo>
                  <a:lnTo>
                    <a:pt x="285750" y="107156"/>
                  </a:lnTo>
                  <a:lnTo>
                    <a:pt x="230754" y="173152"/>
                  </a:lnTo>
                  <a:cubicBezTo>
                    <a:pt x="209019" y="199234"/>
                    <a:pt x="176824" y="214312"/>
                    <a:pt x="142875" y="214312"/>
                  </a:cubicBezTo>
                  <a:cubicBezTo>
                    <a:pt x="108926" y="214312"/>
                    <a:pt x="76731" y="199234"/>
                    <a:pt x="54997" y="173152"/>
                  </a:cubicBezTo>
                  <a:lnTo>
                    <a:pt x="0" y="107156"/>
                  </a:lnTo>
                  <a:close/>
                  <a:moveTo>
                    <a:pt x="142875" y="160734"/>
                  </a:moveTo>
                  <a:cubicBezTo>
                    <a:pt x="172465" y="160734"/>
                    <a:pt x="196453" y="136747"/>
                    <a:pt x="196453" y="107156"/>
                  </a:cubicBezTo>
                  <a:cubicBezTo>
                    <a:pt x="196453" y="77566"/>
                    <a:pt x="172465" y="53578"/>
                    <a:pt x="142875" y="53578"/>
                  </a:cubicBezTo>
                  <a:cubicBezTo>
                    <a:pt x="113285" y="53578"/>
                    <a:pt x="89297" y="77566"/>
                    <a:pt x="89297" y="107156"/>
                  </a:cubicBezTo>
                  <a:cubicBezTo>
                    <a:pt x="89297" y="136747"/>
                    <a:pt x="113285" y="160734"/>
                    <a:pt x="142875" y="160734"/>
                  </a:cubicBez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20365" y="32013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识别标题、正文、图表、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20365" y="34109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阅读顺序和布局关系。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933700" y="4038600"/>
              <a:ext cx="1562100" cy="400050"/>
            </a:xfrm>
            <a:prstGeom prst="roundRect">
              <a:avLst>
                <a:gd name="adj" fmla="val 23810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588758" y="41114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24558" y="426672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页级结构化结果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838700" y="1962150"/>
            <a:ext cx="1981200" cy="2724150"/>
            <a:chOff x="4838700" y="1962150"/>
            <a:chExt cx="1981200" cy="2724150"/>
          </a:xfrm>
        </p:grpSpPr>
        <p:sp>
          <p:nvSpPr>
            <p:cNvPr id="44" name="Rectangle 44"/>
            <p:cNvSpPr/>
            <p:nvPr/>
          </p:nvSpPr>
          <p:spPr>
            <a:xfrm>
              <a:off x="4838700" y="1962150"/>
              <a:ext cx="1981200" cy="272415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9FE2D7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4838700" y="1962150"/>
              <a:ext cx="1981200" cy="952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034915" y="22012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27295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跨页聚合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5048250" y="274320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196453" y="107156"/>
                  </a:moveTo>
                  <a:cubicBezTo>
                    <a:pt x="226044" y="107156"/>
                    <a:pt x="250031" y="83168"/>
                    <a:pt x="250031" y="53578"/>
                  </a:cubicBezTo>
                  <a:cubicBezTo>
                    <a:pt x="250031" y="23988"/>
                    <a:pt x="226044" y="0"/>
                    <a:pt x="196453" y="0"/>
                  </a:cubicBezTo>
                  <a:cubicBezTo>
                    <a:pt x="166863" y="0"/>
                    <a:pt x="142875" y="23988"/>
                    <a:pt x="142875" y="53578"/>
                  </a:cubicBezTo>
                  <a:cubicBezTo>
                    <a:pt x="142875" y="57573"/>
                    <a:pt x="143312" y="61466"/>
                    <a:pt x="144142" y="65212"/>
                  </a:cubicBezTo>
                  <a:lnTo>
                    <a:pt x="86950" y="100957"/>
                  </a:lnTo>
                  <a:cubicBezTo>
                    <a:pt x="77795" y="93659"/>
                    <a:pt x="66196" y="89297"/>
                    <a:pt x="53578" y="89297"/>
                  </a:cubicBezTo>
                  <a:cubicBezTo>
                    <a:pt x="23988" y="89297"/>
                    <a:pt x="0" y="113285"/>
                    <a:pt x="0" y="142875"/>
                  </a:cubicBezTo>
                  <a:cubicBezTo>
                    <a:pt x="0" y="172465"/>
                    <a:pt x="23988" y="196453"/>
                    <a:pt x="53578" y="196453"/>
                  </a:cubicBezTo>
                  <a:cubicBezTo>
                    <a:pt x="66196" y="196453"/>
                    <a:pt x="77795" y="192092"/>
                    <a:pt x="86950" y="184793"/>
                  </a:cubicBezTo>
                  <a:lnTo>
                    <a:pt x="144142" y="220538"/>
                  </a:lnTo>
                  <a:cubicBezTo>
                    <a:pt x="143312" y="224283"/>
                    <a:pt x="142875" y="228177"/>
                    <a:pt x="142875" y="232172"/>
                  </a:cubicBezTo>
                  <a:cubicBezTo>
                    <a:pt x="142875" y="261763"/>
                    <a:pt x="166863" y="285750"/>
                    <a:pt x="196453" y="285750"/>
                  </a:cubicBezTo>
                  <a:cubicBezTo>
                    <a:pt x="226044" y="285750"/>
                    <a:pt x="250031" y="261763"/>
                    <a:pt x="250031" y="232172"/>
                  </a:cubicBezTo>
                  <a:cubicBezTo>
                    <a:pt x="250031" y="202581"/>
                    <a:pt x="226044" y="178594"/>
                    <a:pt x="196453" y="178594"/>
                  </a:cubicBezTo>
                  <a:cubicBezTo>
                    <a:pt x="183835" y="178594"/>
                    <a:pt x="172236" y="182955"/>
                    <a:pt x="163081" y="190254"/>
                  </a:cubicBezTo>
                  <a:lnTo>
                    <a:pt x="105890" y="154509"/>
                  </a:lnTo>
                  <a:cubicBezTo>
                    <a:pt x="106719" y="150763"/>
                    <a:pt x="107156" y="146870"/>
                    <a:pt x="107156" y="142875"/>
                  </a:cubicBezTo>
                  <a:cubicBezTo>
                    <a:pt x="107156" y="138880"/>
                    <a:pt x="106719" y="134987"/>
                    <a:pt x="105890" y="131241"/>
                  </a:cubicBezTo>
                  <a:lnTo>
                    <a:pt x="163081" y="95496"/>
                  </a:lnTo>
                  <a:cubicBezTo>
                    <a:pt x="172236" y="102794"/>
                    <a:pt x="183835" y="107156"/>
                    <a:pt x="196453" y="107156"/>
                  </a:cubicBez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034915" y="3201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把相邻页或章节中的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34915" y="34109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知识脉络重新串成上下文。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048250" y="4038600"/>
              <a:ext cx="1562100" cy="400050"/>
            </a:xfrm>
            <a:prstGeom prst="roundRect">
              <a:avLst>
                <a:gd name="adj" fmla="val 23810"/>
              </a:avLst>
            </a:prstGeom>
            <a:solidFill>
              <a:srgbClr val="E9F8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3308" y="41114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07366" y="42667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跨页知识脉络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953250" y="1962150"/>
            <a:ext cx="2183130" cy="2724150"/>
            <a:chOff x="6953250" y="1962150"/>
            <a:chExt cx="2183130" cy="2724150"/>
          </a:xfrm>
        </p:grpSpPr>
        <p:sp>
          <p:nvSpPr>
            <p:cNvPr id="55" name="Rectangle 55"/>
            <p:cNvSpPr/>
            <p:nvPr/>
          </p:nvSpPr>
          <p:spPr>
            <a:xfrm>
              <a:off x="6953250" y="1962150"/>
              <a:ext cx="1981200" cy="272415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56" name="Rectangle 56"/>
            <p:cNvSpPr/>
            <p:nvPr/>
          </p:nvSpPr>
          <p:spPr>
            <a:xfrm>
              <a:off x="6953250" y="1962150"/>
              <a:ext cx="1981200" cy="952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49465" y="22012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41845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节点重构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180659" y="2743200"/>
              <a:ext cx="250031" cy="285750"/>
              <a:chOff x="7180659" y="2743200"/>
              <a:chExt cx="250031" cy="2857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180659" y="2743200"/>
                <a:ext cx="25003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42875">
                    <a:moveTo>
                      <a:pt x="0" y="89297"/>
                    </a:moveTo>
                    <a:lnTo>
                      <a:pt x="0" y="53578"/>
                    </a:lnTo>
                    <a:lnTo>
                      <a:pt x="125016" y="0"/>
                    </a:lnTo>
                    <a:lnTo>
                      <a:pt x="250031" y="53578"/>
                    </a:lnTo>
                    <a:lnTo>
                      <a:pt x="250031" y="89297"/>
                    </a:lnTo>
                    <a:lnTo>
                      <a:pt x="125016" y="142875"/>
                    </a:lnTo>
                    <a:lnTo>
                      <a:pt x="0" y="89297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80659" y="2939653"/>
                <a:ext cx="250031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89297">
                    <a:moveTo>
                      <a:pt x="125016" y="89297"/>
                    </a:moveTo>
                    <a:lnTo>
                      <a:pt x="0" y="35719"/>
                    </a:lnTo>
                    <a:lnTo>
                      <a:pt x="0" y="0"/>
                    </a:lnTo>
                    <a:lnTo>
                      <a:pt x="125016" y="53578"/>
                    </a:lnTo>
                    <a:lnTo>
                      <a:pt x="250031" y="0"/>
                    </a:lnTo>
                    <a:lnTo>
                      <a:pt x="250031" y="35719"/>
                    </a:lnTo>
                    <a:lnTo>
                      <a:pt x="125016" y="89297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180659" y="2868216"/>
                <a:ext cx="250031" cy="89297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89297">
                    <a:moveTo>
                      <a:pt x="0" y="35719"/>
                    </a:moveTo>
                    <a:lnTo>
                      <a:pt x="125016" y="89297"/>
                    </a:lnTo>
                    <a:lnTo>
                      <a:pt x="250031" y="35719"/>
                    </a:lnTo>
                    <a:lnTo>
                      <a:pt x="250031" y="0"/>
                    </a:lnTo>
                    <a:lnTo>
                      <a:pt x="125016" y="53578"/>
                    </a:lnTo>
                    <a:lnTo>
                      <a:pt x="0" y="0"/>
                    </a:lnTo>
                    <a:lnTo>
                      <a:pt x="0" y="3571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149465" y="32013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把页内容重组为教学节点，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49465" y="34109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形成可讲、可问、可续的单位。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62800" y="4038600"/>
              <a:ext cx="1562100" cy="400050"/>
            </a:xfrm>
            <a:prstGeom prst="roundRect">
              <a:avLst>
                <a:gd name="adj" fmla="val 2381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17858" y="41114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58433" y="42667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教学节点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67800" y="1962150"/>
            <a:ext cx="1981200" cy="2724150"/>
            <a:chOff x="9067800" y="1962150"/>
            <a:chExt cx="1981200" cy="2724150"/>
          </a:xfrm>
        </p:grpSpPr>
        <p:sp>
          <p:nvSpPr>
            <p:cNvPr id="69" name="Rectangle 69"/>
            <p:cNvSpPr/>
            <p:nvPr/>
          </p:nvSpPr>
          <p:spPr>
            <a:xfrm>
              <a:off x="9067800" y="1962150"/>
              <a:ext cx="1981200" cy="272415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CDBEF6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70" name="Rectangle 70"/>
            <p:cNvSpPr/>
            <p:nvPr/>
          </p:nvSpPr>
          <p:spPr>
            <a:xfrm>
              <a:off x="9067800" y="1962150"/>
              <a:ext cx="1981200" cy="952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64015" y="22012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步骤五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56395" y="23936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标准化校验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9277350" y="27432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61752" y="93635"/>
                  </a:moveTo>
                  <a:cubicBezTo>
                    <a:pt x="276361" y="105077"/>
                    <a:pt x="285750" y="122880"/>
                    <a:pt x="285750" y="142875"/>
                  </a:cubicBezTo>
                  <a:cubicBezTo>
                    <a:pt x="285750" y="162871"/>
                    <a:pt x="276361" y="180674"/>
                    <a:pt x="261751" y="192117"/>
                  </a:cubicBezTo>
                  <a:cubicBezTo>
                    <a:pt x="263990" y="210537"/>
                    <a:pt x="258041" y="229764"/>
                    <a:pt x="243902" y="243904"/>
                  </a:cubicBezTo>
                  <a:cubicBezTo>
                    <a:pt x="229763" y="258043"/>
                    <a:pt x="210535" y="263992"/>
                    <a:pt x="192115" y="261752"/>
                  </a:cubicBezTo>
                  <a:cubicBezTo>
                    <a:pt x="180673" y="276361"/>
                    <a:pt x="162870" y="285750"/>
                    <a:pt x="142875" y="285750"/>
                  </a:cubicBezTo>
                  <a:cubicBezTo>
                    <a:pt x="122879" y="285750"/>
                    <a:pt x="105076" y="276361"/>
                    <a:pt x="93635" y="261751"/>
                  </a:cubicBezTo>
                  <a:cubicBezTo>
                    <a:pt x="75213" y="263992"/>
                    <a:pt x="55986" y="258041"/>
                    <a:pt x="41847" y="243902"/>
                  </a:cubicBezTo>
                  <a:cubicBezTo>
                    <a:pt x="27708" y="229764"/>
                    <a:pt x="21758" y="210537"/>
                    <a:pt x="23998" y="192115"/>
                  </a:cubicBezTo>
                  <a:cubicBezTo>
                    <a:pt x="9389" y="180673"/>
                    <a:pt x="0" y="162870"/>
                    <a:pt x="0" y="142875"/>
                  </a:cubicBezTo>
                  <a:cubicBezTo>
                    <a:pt x="0" y="122879"/>
                    <a:pt x="9389" y="105076"/>
                    <a:pt x="23999" y="93635"/>
                  </a:cubicBezTo>
                  <a:cubicBezTo>
                    <a:pt x="21759" y="75213"/>
                    <a:pt x="27708" y="55986"/>
                    <a:pt x="41847" y="41847"/>
                  </a:cubicBezTo>
                  <a:cubicBezTo>
                    <a:pt x="55986" y="27708"/>
                    <a:pt x="75214" y="21758"/>
                    <a:pt x="93635" y="23998"/>
                  </a:cubicBezTo>
                  <a:cubicBezTo>
                    <a:pt x="105077" y="9389"/>
                    <a:pt x="122880" y="0"/>
                    <a:pt x="142875" y="0"/>
                  </a:cubicBezTo>
                  <a:cubicBezTo>
                    <a:pt x="162871" y="0"/>
                    <a:pt x="180674" y="9389"/>
                    <a:pt x="192117" y="23999"/>
                  </a:cubicBezTo>
                  <a:cubicBezTo>
                    <a:pt x="210537" y="21760"/>
                    <a:pt x="229764" y="27709"/>
                    <a:pt x="243904" y="41848"/>
                  </a:cubicBezTo>
                  <a:cubicBezTo>
                    <a:pt x="258043" y="55987"/>
                    <a:pt x="263992" y="75214"/>
                    <a:pt x="261752" y="93635"/>
                  </a:cubicBezTo>
                  <a:close/>
                  <a:moveTo>
                    <a:pt x="218011" y="110855"/>
                  </a:moveTo>
                  <a:lnTo>
                    <a:pt x="192754" y="85598"/>
                  </a:lnTo>
                  <a:lnTo>
                    <a:pt x="125016" y="153337"/>
                  </a:lnTo>
                  <a:lnTo>
                    <a:pt x="92996" y="121317"/>
                  </a:lnTo>
                  <a:lnTo>
                    <a:pt x="67739" y="146574"/>
                  </a:lnTo>
                  <a:lnTo>
                    <a:pt x="125016" y="203850"/>
                  </a:lnTo>
                  <a:lnTo>
                    <a:pt x="218011" y="110855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64015" y="32013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校验字段、层级和异常页，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64015" y="34109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保证后续生成和检索稳定。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277350" y="4038600"/>
              <a:ext cx="1562100" cy="400050"/>
            </a:xfrm>
            <a:prstGeom prst="roundRect">
              <a:avLst>
                <a:gd name="adj" fmla="val 23810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932408" y="41114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54591" y="4231243"/>
              <a:ext cx="60761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讲稿入口 /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805916" y="4383643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知识索引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2609850" y="3200400"/>
            <a:ext cx="6610350" cy="228600"/>
            <a:chOff x="2609850" y="3200400"/>
            <a:chExt cx="6610350" cy="228600"/>
          </a:xfrm>
        </p:grpSpPr>
        <p:sp>
          <p:nvSpPr>
            <p:cNvPr id="81" name="Freeform 81"/>
            <p:cNvSpPr/>
            <p:nvPr/>
          </p:nvSpPr>
          <p:spPr>
            <a:xfrm>
              <a:off x="2609850" y="32004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14300" y="76200"/>
                  </a:lnTo>
                  <a:lnTo>
                    <a:pt x="114300" y="0"/>
                  </a:lnTo>
                  <a:lnTo>
                    <a:pt x="266700" y="114300"/>
                  </a:lnTo>
                  <a:lnTo>
                    <a:pt x="114300" y="228600"/>
                  </a:lnTo>
                  <a:lnTo>
                    <a:pt x="1143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4724400" y="32004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14300" y="76200"/>
                  </a:lnTo>
                  <a:lnTo>
                    <a:pt x="114300" y="0"/>
                  </a:lnTo>
                  <a:lnTo>
                    <a:pt x="266700" y="114300"/>
                  </a:lnTo>
                  <a:lnTo>
                    <a:pt x="114300" y="228600"/>
                  </a:lnTo>
                  <a:lnTo>
                    <a:pt x="1143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6838950" y="32004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14300" y="76200"/>
                  </a:lnTo>
                  <a:lnTo>
                    <a:pt x="114300" y="0"/>
                  </a:lnTo>
                  <a:lnTo>
                    <a:pt x="266700" y="114300"/>
                  </a:lnTo>
                  <a:lnTo>
                    <a:pt x="114300" y="228600"/>
                  </a:lnTo>
                  <a:lnTo>
                    <a:pt x="1143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953500" y="32004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76200"/>
                  </a:moveTo>
                  <a:lnTo>
                    <a:pt x="114300" y="76200"/>
                  </a:lnTo>
                  <a:lnTo>
                    <a:pt x="114300" y="0"/>
                  </a:lnTo>
                  <a:lnTo>
                    <a:pt x="266700" y="114300"/>
                  </a:lnTo>
                  <a:lnTo>
                    <a:pt x="114300" y="228600"/>
                  </a:lnTo>
                  <a:lnTo>
                    <a:pt x="1143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609600" y="5029200"/>
            <a:ext cx="5295900" cy="1066800"/>
            <a:chOff x="609600" y="5029200"/>
            <a:chExt cx="5295900" cy="1066800"/>
          </a:xfrm>
        </p:grpSpPr>
        <p:sp>
          <p:nvSpPr>
            <p:cNvPr id="86" name="Rectangle 86"/>
            <p:cNvSpPr/>
            <p:nvPr/>
          </p:nvSpPr>
          <p:spPr>
            <a:xfrm>
              <a:off x="609600" y="5029200"/>
              <a:ext cx="52959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87" name="TextBox 87"/>
            <p:cNvSpPr txBox="1"/>
            <p:nvPr/>
          </p:nvSpPr>
          <p:spPr>
            <a:xfrm>
              <a:off x="823912" y="5212556"/>
              <a:ext cx="20054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55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不要讲成 “文本抽取 + 摘要”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19150" y="5476875"/>
              <a:ext cx="5078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真正产出的不是文本，而是后续能持续消费的教学节点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24865" y="5792152"/>
              <a:ext cx="43672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没有节点化底座，讲稿生成、问答引用和续接定位就会失去统一锚点。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286500" y="5029200"/>
            <a:ext cx="5295900" cy="1066800"/>
            <a:chOff x="6286500" y="5029200"/>
            <a:chExt cx="5295900" cy="1066800"/>
          </a:xfrm>
        </p:grpSpPr>
        <p:sp>
          <p:nvSpPr>
            <p:cNvPr id="91" name="Rectangle 91"/>
            <p:cNvSpPr/>
            <p:nvPr/>
          </p:nvSpPr>
          <p:spPr>
            <a:xfrm>
              <a:off x="6286500" y="5029200"/>
              <a:ext cx="52959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92" name="TextBox 92"/>
            <p:cNvSpPr txBox="1"/>
            <p:nvPr/>
          </p:nvSpPr>
          <p:spPr>
            <a:xfrm>
              <a:off x="6500812" y="5212556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最终交给系统下游的结构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515100" y="554355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801183" y="56192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教学节点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791450" y="5543550"/>
              <a:ext cx="800100" cy="266700"/>
            </a:xfrm>
            <a:prstGeom prst="roundRect">
              <a:avLst>
                <a:gd name="adj" fmla="val 50000"/>
              </a:avLst>
            </a:prstGeom>
            <a:solidFill>
              <a:srgbClr val="E9F8F5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042600" y="56192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讲稿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724900" y="5543550"/>
              <a:ext cx="1047750" cy="266700"/>
            </a:xfrm>
            <a:prstGeom prst="roundRect">
              <a:avLst>
                <a:gd name="adj" fmla="val 50000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963358" y="56192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音频入口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906000" y="5543550"/>
              <a:ext cx="1314450" cy="266700"/>
            </a:xfrm>
            <a:prstGeom prst="roundRect">
              <a:avLst>
                <a:gd name="adj" fmla="val 5000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277808" y="56192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知识索引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501765" y="5849302"/>
              <a:ext cx="45072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它们共同构成讲授、问答和续接都要复用的底座，而不是临时中间结果。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103" name="TextBox 103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465590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43" grpId="0"/>
      <p:bldP spid="54" grpId="0"/>
      <p:bldP spid="68" grpId="0"/>
      <p:bldP spid="80" grpId="0"/>
      <p:bldP spid="85" grpId="0"/>
      <p:bldP spid="90" grpId="0"/>
      <p:bldP spid="10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6405300" cy="507206"/>
            <a:chOff x="609600" y="1009650"/>
            <a:chExt cx="6405300" cy="507206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0572" y="1044416"/>
              <a:ext cx="624432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问答续接链：</a:t>
              </a:r>
              <a:r>
                <a:rPr lang="zh-CN" sz="232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回答问题，但不打断学习主线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581310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学生提问后，系统不只给答案，还要给出来源、理解判断和下一步学习动作。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09600" y="1962150"/>
            <a:ext cx="3200400" cy="1619250"/>
            <a:chOff x="609600" y="1962150"/>
            <a:chExt cx="3200400" cy="1619250"/>
          </a:xfrm>
        </p:grpSpPr>
        <p:sp>
          <p:nvSpPr>
            <p:cNvPr id="20" name="Rectangle 20"/>
            <p:cNvSpPr/>
            <p:nvPr/>
          </p:nvSpPr>
          <p:spPr>
            <a:xfrm>
              <a:off x="609600" y="1962150"/>
              <a:ext cx="3200400" cy="161925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1962150"/>
              <a:ext cx="3200400" cy="952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8200" y="2265759"/>
              <a:ext cx="285750" cy="266993"/>
              <a:chOff x="838200" y="2265759"/>
              <a:chExt cx="285750" cy="26699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09638" y="226575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0"/>
                    </a:moveTo>
                    <a:lnTo>
                      <a:pt x="0" y="0"/>
                    </a:lnTo>
                    <a:lnTo>
                      <a:pt x="0" y="178594"/>
                    </a:lnTo>
                    <a:lnTo>
                      <a:pt x="71438" y="178594"/>
                    </a:lnTo>
                    <a:lnTo>
                      <a:pt x="107156" y="214312"/>
                    </a:lnTo>
                    <a:lnTo>
                      <a:pt x="142875" y="178594"/>
                    </a:lnTo>
                    <a:lnTo>
                      <a:pt x="214312" y="178594"/>
                    </a:lnTo>
                    <a:lnTo>
                      <a:pt x="214312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2337197"/>
                <a:ext cx="155504" cy="195555"/>
              </a:xfrm>
              <a:custGeom>
                <a:avLst/>
                <a:gdLst/>
                <a:ahLst/>
                <a:cxnLst/>
                <a:rect l="l" t="t" r="r" b="b"/>
                <a:pathLst>
                  <a:path w="155504" h="195555">
                    <a:moveTo>
                      <a:pt x="35719" y="0"/>
                    </a:moveTo>
                    <a:lnTo>
                      <a:pt x="35719" y="142875"/>
                    </a:lnTo>
                    <a:lnTo>
                      <a:pt x="128080" y="142875"/>
                    </a:lnTo>
                    <a:lnTo>
                      <a:pt x="155504" y="170298"/>
                    </a:lnTo>
                    <a:lnTo>
                      <a:pt x="130246" y="195555"/>
                    </a:lnTo>
                    <a:lnTo>
                      <a:pt x="113285" y="178594"/>
                    </a:lnTo>
                    <a:lnTo>
                      <a:pt x="0" y="178594"/>
                    </a:lnTo>
                    <a:lnTo>
                      <a:pt x="0" y="0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43012" y="2307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输入绑定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245" y="2546032"/>
              <a:ext cx="21558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学生问题 + 学习位置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" y="2895600"/>
              <a:ext cx="2743200" cy="304800"/>
            </a:xfrm>
            <a:prstGeom prst="roundRect">
              <a:avLst>
                <a:gd name="adj" fmla="val 3125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8218" y="2990374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“分类和回归有什么区别？”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5818" y="326659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当前页 + 当前节点 + 历史上下文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95800" y="1962150"/>
            <a:ext cx="3200400" cy="1674019"/>
            <a:chOff x="4495800" y="1962150"/>
            <a:chExt cx="3200400" cy="1674019"/>
          </a:xfrm>
        </p:grpSpPr>
        <p:sp>
          <p:nvSpPr>
            <p:cNvPr id="31" name="Rectangle 31"/>
            <p:cNvSpPr/>
            <p:nvPr/>
          </p:nvSpPr>
          <p:spPr>
            <a:xfrm>
              <a:off x="4495800" y="1962150"/>
              <a:ext cx="3200400" cy="161925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4288">
              <a:solidFill>
                <a:srgbClr val="CDBEF6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4495800" y="1962150"/>
              <a:ext cx="3200400" cy="952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724400" y="2283619"/>
              <a:ext cx="285750" cy="232172"/>
            </a:xfrm>
            <a:custGeom>
              <a:avLst/>
              <a:gdLst/>
              <a:ahLst/>
              <a:cxnLst/>
              <a:rect l="l" t="t" r="r" b="b"/>
              <a:pathLst>
                <a:path w="285750" h="232172">
                  <a:moveTo>
                    <a:pt x="0" y="0"/>
                  </a:moveTo>
                  <a:lnTo>
                    <a:pt x="64040" y="0"/>
                  </a:lnTo>
                  <a:cubicBezTo>
                    <a:pt x="80212" y="0"/>
                    <a:pt x="95721" y="6424"/>
                    <a:pt x="107156" y="17859"/>
                  </a:cubicBezTo>
                  <a:cubicBezTo>
                    <a:pt x="118591" y="29295"/>
                    <a:pt x="125016" y="44804"/>
                    <a:pt x="125016" y="60976"/>
                  </a:cubicBezTo>
                  <a:lnTo>
                    <a:pt x="125016" y="160734"/>
                  </a:lnTo>
                  <a:lnTo>
                    <a:pt x="160734" y="160734"/>
                  </a:lnTo>
                  <a:lnTo>
                    <a:pt x="160734" y="60976"/>
                  </a:lnTo>
                  <a:cubicBezTo>
                    <a:pt x="160734" y="44804"/>
                    <a:pt x="167159" y="29295"/>
                    <a:pt x="178594" y="17859"/>
                  </a:cubicBezTo>
                  <a:cubicBezTo>
                    <a:pt x="190029" y="6424"/>
                    <a:pt x="205538" y="0"/>
                    <a:pt x="221710" y="0"/>
                  </a:cubicBezTo>
                  <a:lnTo>
                    <a:pt x="285750" y="0"/>
                  </a:lnTo>
                  <a:lnTo>
                    <a:pt x="285750" y="196453"/>
                  </a:lnTo>
                  <a:lnTo>
                    <a:pt x="196453" y="196453"/>
                  </a:lnTo>
                  <a:lnTo>
                    <a:pt x="160734" y="232172"/>
                  </a:lnTo>
                  <a:lnTo>
                    <a:pt x="125016" y="232172"/>
                  </a:lnTo>
                  <a:lnTo>
                    <a:pt x="89297" y="196453"/>
                  </a:lnTo>
                  <a:lnTo>
                    <a:pt x="0" y="1964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129212" y="23074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检索与回答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3445" y="2546032"/>
              <a:ext cx="261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本页优先召回 + 溯源生成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12018" y="2904649"/>
              <a:ext cx="1883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当前页 → 邻近页 → 全局知识树，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12018" y="30760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逐级放大搜索范围。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12018" y="32665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回答同时返回来源页码或来源节点，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12018" y="34380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避免退化成开放聊天。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382000" y="1962150"/>
            <a:ext cx="3200400" cy="1619250"/>
            <a:chOff x="8382000" y="1962150"/>
            <a:chExt cx="3200400" cy="1619250"/>
          </a:xfrm>
        </p:grpSpPr>
        <p:sp>
          <p:nvSpPr>
            <p:cNvPr id="41" name="Rectangle 41"/>
            <p:cNvSpPr/>
            <p:nvPr/>
          </p:nvSpPr>
          <p:spPr>
            <a:xfrm>
              <a:off x="8382000" y="1962150"/>
              <a:ext cx="3200400" cy="161925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4288">
              <a:solidFill>
                <a:srgbClr val="9FE2D7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8382000" y="1962150"/>
              <a:ext cx="3200400" cy="952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623518" y="2265759"/>
              <a:ext cx="254972" cy="250032"/>
              <a:chOff x="8623518" y="2265759"/>
              <a:chExt cx="254972" cy="25003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735615" y="2265759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35615" y="2337197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35615" y="2408634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35719"/>
                    </a:lnTo>
                    <a:lnTo>
                      <a:pt x="142875" y="35719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35615" y="2480072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628459" y="2408634"/>
                <a:ext cx="7367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3670" h="107156">
                    <a:moveTo>
                      <a:pt x="40872" y="31254"/>
                    </a:moveTo>
                    <a:lnTo>
                      <a:pt x="0" y="31254"/>
                    </a:lnTo>
                    <a:lnTo>
                      <a:pt x="0" y="0"/>
                    </a:lnTo>
                    <a:lnTo>
                      <a:pt x="40872" y="0"/>
                    </a:lnTo>
                    <a:cubicBezTo>
                      <a:pt x="58986" y="0"/>
                      <a:pt x="73670" y="14684"/>
                      <a:pt x="73670" y="32797"/>
                    </a:cubicBezTo>
                    <a:cubicBezTo>
                      <a:pt x="73670" y="41803"/>
                      <a:pt x="69967" y="50413"/>
                      <a:pt x="63429" y="56607"/>
                    </a:cubicBezTo>
                    <a:lnTo>
                      <a:pt x="43062" y="75902"/>
                    </a:lnTo>
                    <a:lnTo>
                      <a:pt x="71437" y="75902"/>
                    </a:lnTo>
                    <a:lnTo>
                      <a:pt x="71437" y="107156"/>
                    </a:lnTo>
                    <a:lnTo>
                      <a:pt x="0" y="107156"/>
                    </a:lnTo>
                    <a:lnTo>
                      <a:pt x="0" y="73645"/>
                    </a:lnTo>
                    <a:lnTo>
                      <a:pt x="41934" y="33919"/>
                    </a:lnTo>
                    <a:cubicBezTo>
                      <a:pt x="42242" y="33627"/>
                      <a:pt x="42416" y="33222"/>
                      <a:pt x="42416" y="32797"/>
                    </a:cubicBezTo>
                    <a:cubicBezTo>
                      <a:pt x="42416" y="31945"/>
                      <a:pt x="41725" y="31254"/>
                      <a:pt x="40872" y="31254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623518" y="2267992"/>
                <a:ext cx="56287" cy="104924"/>
              </a:xfrm>
              <a:custGeom>
                <a:avLst/>
                <a:gdLst/>
                <a:ahLst/>
                <a:cxnLst/>
                <a:rect l="l" t="t" r="r" b="b"/>
                <a:pathLst>
                  <a:path w="56287" h="104924">
                    <a:moveTo>
                      <a:pt x="29195" y="0"/>
                    </a:moveTo>
                    <a:lnTo>
                      <a:pt x="0" y="9732"/>
                    </a:lnTo>
                    <a:lnTo>
                      <a:pt x="9883" y="39382"/>
                    </a:lnTo>
                    <a:lnTo>
                      <a:pt x="25034" y="34332"/>
                    </a:lnTo>
                    <a:lnTo>
                      <a:pt x="25034" y="104924"/>
                    </a:lnTo>
                    <a:lnTo>
                      <a:pt x="56287" y="104924"/>
                    </a:lnTo>
                    <a:lnTo>
                      <a:pt x="56287" y="0"/>
                    </a:lnTo>
                    <a:lnTo>
                      <a:pt x="29195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015412" y="23074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结构化输出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90598" y="2554129"/>
              <a:ext cx="205783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理解判断 + 续学字段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10600" y="2952750"/>
              <a:ext cx="1295400" cy="228600"/>
            </a:xfrm>
            <a:prstGeom prst="roundRect">
              <a:avLst>
                <a:gd name="adj" fmla="val 33333"/>
              </a:avLst>
            </a:prstGeom>
            <a:solidFill>
              <a:srgbClr val="E9F8F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94838" y="30079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答案来源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982200" y="2952750"/>
              <a:ext cx="1409700" cy="228600"/>
            </a:xfrm>
            <a:prstGeom prst="roundRect">
              <a:avLst>
                <a:gd name="adj" fmla="val 33333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23588" y="30079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理解程度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10600" y="3257550"/>
              <a:ext cx="1295400" cy="228600"/>
            </a:xfrm>
            <a:prstGeom prst="roundRect">
              <a:avLst>
                <a:gd name="adj" fmla="val 33333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94838" y="33127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续接节点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982200" y="3257550"/>
              <a:ext cx="1409700" cy="228600"/>
            </a:xfrm>
            <a:prstGeom prst="roundRect">
              <a:avLst>
                <a:gd name="adj" fmla="val 33333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23588" y="33127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续接方式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29050" y="2647950"/>
            <a:ext cx="4210050" cy="266700"/>
            <a:chOff x="3829050" y="2647950"/>
            <a:chExt cx="4210050" cy="266700"/>
          </a:xfrm>
        </p:grpSpPr>
        <p:sp>
          <p:nvSpPr>
            <p:cNvPr id="61" name="Freeform 61"/>
            <p:cNvSpPr/>
            <p:nvPr/>
          </p:nvSpPr>
          <p:spPr>
            <a:xfrm>
              <a:off x="3829050" y="2647950"/>
              <a:ext cx="323850" cy="266700"/>
            </a:xfrm>
            <a:custGeom>
              <a:avLst/>
              <a:gdLst/>
              <a:ahLst/>
              <a:cxnLst/>
              <a:rect l="l" t="t" r="r" b="b"/>
              <a:pathLst>
                <a:path w="323850" h="266700">
                  <a:moveTo>
                    <a:pt x="0" y="76200"/>
                  </a:moveTo>
                  <a:lnTo>
                    <a:pt x="152400" y="76200"/>
                  </a:lnTo>
                  <a:lnTo>
                    <a:pt x="152400" y="0"/>
                  </a:lnTo>
                  <a:lnTo>
                    <a:pt x="323850" y="133350"/>
                  </a:lnTo>
                  <a:lnTo>
                    <a:pt x="152400" y="266700"/>
                  </a:lnTo>
                  <a:lnTo>
                    <a:pt x="1524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7715250" y="2647950"/>
              <a:ext cx="323850" cy="266700"/>
            </a:xfrm>
            <a:custGeom>
              <a:avLst/>
              <a:gdLst/>
              <a:ahLst/>
              <a:cxnLst/>
              <a:rect l="l" t="t" r="r" b="b"/>
              <a:pathLst>
                <a:path w="323850" h="266700">
                  <a:moveTo>
                    <a:pt x="0" y="76200"/>
                  </a:moveTo>
                  <a:lnTo>
                    <a:pt x="152400" y="76200"/>
                  </a:lnTo>
                  <a:lnTo>
                    <a:pt x="152400" y="0"/>
                  </a:lnTo>
                  <a:lnTo>
                    <a:pt x="323850" y="133350"/>
                  </a:lnTo>
                  <a:lnTo>
                    <a:pt x="152400" y="266700"/>
                  </a:lnTo>
                  <a:lnTo>
                    <a:pt x="152400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4566666" y="3778568"/>
            <a:ext cx="30586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D24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根据理解程度，选择下一步学习动作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609600" y="4171950"/>
            <a:ext cx="3505200" cy="1809750"/>
            <a:chOff x="609600" y="4171950"/>
            <a:chExt cx="3505200" cy="1809750"/>
          </a:xfrm>
        </p:grpSpPr>
        <p:sp>
          <p:nvSpPr>
            <p:cNvPr id="65" name="Rectangle 65"/>
            <p:cNvSpPr/>
            <p:nvPr/>
          </p:nvSpPr>
          <p:spPr>
            <a:xfrm>
              <a:off x="609600" y="4171950"/>
              <a:ext cx="35052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66" name="Rectangle 66"/>
            <p:cNvSpPr/>
            <p:nvPr/>
          </p:nvSpPr>
          <p:spPr>
            <a:xfrm>
              <a:off x="609600" y="417195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8200" y="44386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5" y="361950"/>
                  </a:moveTo>
                  <a:cubicBezTo>
                    <a:pt x="280925" y="361950"/>
                    <a:pt x="361950" y="280925"/>
                    <a:pt x="361950" y="180975"/>
                  </a:cubicBezTo>
                  <a:cubicBezTo>
                    <a:pt x="361950" y="81025"/>
                    <a:pt x="280925" y="0"/>
                    <a:pt x="180975" y="0"/>
                  </a:cubicBezTo>
                  <a:cubicBezTo>
                    <a:pt x="81025" y="0"/>
                    <a:pt x="0" y="81025"/>
                    <a:pt x="0" y="180975"/>
                  </a:cubicBezTo>
                  <a:cubicBezTo>
                    <a:pt x="0" y="280925"/>
                    <a:pt x="81025" y="361950"/>
                    <a:pt x="180975" y="361950"/>
                  </a:cubicBezTo>
                  <a:close/>
                  <a:moveTo>
                    <a:pt x="287458" y="129106"/>
                  </a:moveTo>
                  <a:lnTo>
                    <a:pt x="255467" y="97113"/>
                  </a:lnTo>
                  <a:lnTo>
                    <a:pt x="147042" y="205538"/>
                  </a:lnTo>
                  <a:lnTo>
                    <a:pt x="106484" y="164979"/>
                  </a:lnTo>
                  <a:lnTo>
                    <a:pt x="74491" y="196971"/>
                  </a:lnTo>
                  <a:lnTo>
                    <a:pt x="147042" y="269522"/>
                  </a:lnTo>
                  <a:lnTo>
                    <a:pt x="287458" y="129106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319212" y="44886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已理解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311592" y="46524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续讲下一节点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3912" y="50982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学生已经理解当前问题，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3912" y="5326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直接回到原路径继续讲授。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38200" y="5638800"/>
              <a:ext cx="1219200" cy="247650"/>
            </a:xfrm>
            <a:prstGeom prst="roundRect">
              <a:avLst>
                <a:gd name="adj" fmla="val 50000"/>
              </a:avLst>
            </a:prstGeom>
            <a:solidFill>
              <a:srgbClr val="E9F8F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84338" y="57130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继续推进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343400" y="4171950"/>
            <a:ext cx="3505200" cy="1809750"/>
            <a:chOff x="4343400" y="4171950"/>
            <a:chExt cx="3505200" cy="1809750"/>
          </a:xfrm>
        </p:grpSpPr>
        <p:sp>
          <p:nvSpPr>
            <p:cNvPr id="75" name="Rectangle 75"/>
            <p:cNvSpPr/>
            <p:nvPr/>
          </p:nvSpPr>
          <p:spPr>
            <a:xfrm>
              <a:off x="4343400" y="4171950"/>
              <a:ext cx="35052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76" name="Rectangle 76"/>
            <p:cNvSpPr/>
            <p:nvPr/>
          </p:nvSpPr>
          <p:spPr>
            <a:xfrm>
              <a:off x="4343400" y="417195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4572000" y="4438650"/>
              <a:ext cx="361950" cy="361950"/>
              <a:chOff x="4572000" y="4438650"/>
              <a:chExt cx="361950" cy="36195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572000" y="4438650"/>
                <a:ext cx="3619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361950">
                    <a:moveTo>
                      <a:pt x="184803" y="45297"/>
                    </a:moveTo>
                    <a:cubicBezTo>
                      <a:pt x="183531" y="45261"/>
                      <a:pt x="182255" y="45244"/>
                      <a:pt x="180975" y="45244"/>
                    </a:cubicBezTo>
                    <a:cubicBezTo>
                      <a:pt x="106013" y="45244"/>
                      <a:pt x="45244" y="106013"/>
                      <a:pt x="45244" y="180975"/>
                    </a:cubicBezTo>
                    <a:cubicBezTo>
                      <a:pt x="45244" y="255937"/>
                      <a:pt x="106013" y="316706"/>
                      <a:pt x="180975" y="316706"/>
                    </a:cubicBezTo>
                    <a:cubicBezTo>
                      <a:pt x="255937" y="316706"/>
                      <a:pt x="316706" y="255937"/>
                      <a:pt x="316706" y="180975"/>
                    </a:cubicBezTo>
                    <a:cubicBezTo>
                      <a:pt x="316706" y="179695"/>
                      <a:pt x="316688" y="178419"/>
                      <a:pt x="316654" y="177147"/>
                    </a:cubicBezTo>
                    <a:lnTo>
                      <a:pt x="356616" y="137184"/>
                    </a:lnTo>
                    <a:cubicBezTo>
                      <a:pt x="360100" y="151206"/>
                      <a:pt x="361950" y="165875"/>
                      <a:pt x="361950" y="180975"/>
                    </a:cubicBezTo>
                    <a:cubicBezTo>
                      <a:pt x="361950" y="280925"/>
                      <a:pt x="280925" y="361950"/>
                      <a:pt x="180975" y="361950"/>
                    </a:cubicBezTo>
                    <a:cubicBezTo>
                      <a:pt x="81025" y="361950"/>
                      <a:pt x="0" y="280925"/>
                      <a:pt x="0" y="180975"/>
                    </a:cubicBezTo>
                    <a:cubicBezTo>
                      <a:pt x="0" y="81025"/>
                      <a:pt x="81025" y="0"/>
                      <a:pt x="180975" y="0"/>
                    </a:cubicBezTo>
                    <a:cubicBezTo>
                      <a:pt x="196075" y="0"/>
                      <a:pt x="210744" y="1849"/>
                      <a:pt x="224766" y="5334"/>
                    </a:cubicBezTo>
                    <a:lnTo>
                      <a:pt x="184803" y="45297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4662488" y="4531987"/>
                <a:ext cx="178125" cy="178125"/>
              </a:xfrm>
              <a:custGeom>
                <a:avLst/>
                <a:gdLst/>
                <a:ahLst/>
                <a:cxnLst/>
                <a:rect l="l" t="t" r="r" b="b"/>
                <a:pathLst>
                  <a:path w="178125" h="178125">
                    <a:moveTo>
                      <a:pt x="0" y="87637"/>
                    </a:moveTo>
                    <a:cubicBezTo>
                      <a:pt x="0" y="45473"/>
                      <a:pt x="28838" y="10045"/>
                      <a:pt x="67866" y="0"/>
                    </a:cubicBezTo>
                    <a:lnTo>
                      <a:pt x="67866" y="48446"/>
                    </a:lnTo>
                    <a:cubicBezTo>
                      <a:pt x="54342" y="56269"/>
                      <a:pt x="45244" y="70890"/>
                      <a:pt x="45244" y="87637"/>
                    </a:cubicBezTo>
                    <a:cubicBezTo>
                      <a:pt x="45244" y="112624"/>
                      <a:pt x="65500" y="132880"/>
                      <a:pt x="90488" y="132880"/>
                    </a:cubicBezTo>
                    <a:cubicBezTo>
                      <a:pt x="107234" y="132880"/>
                      <a:pt x="121856" y="123782"/>
                      <a:pt x="129679" y="110259"/>
                    </a:cubicBezTo>
                    <a:lnTo>
                      <a:pt x="178125" y="110259"/>
                    </a:lnTo>
                    <a:cubicBezTo>
                      <a:pt x="168078" y="149287"/>
                      <a:pt x="132651" y="178125"/>
                      <a:pt x="90488" y="178125"/>
                    </a:cubicBezTo>
                    <a:cubicBezTo>
                      <a:pt x="40513" y="178125"/>
                      <a:pt x="0" y="137612"/>
                      <a:pt x="0" y="87637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748290" y="4438650"/>
                <a:ext cx="185660" cy="185660"/>
              </a:xfrm>
              <a:custGeom>
                <a:avLst/>
                <a:gdLst/>
                <a:ahLst/>
                <a:cxnLst/>
                <a:rect l="l" t="t" r="r" b="b"/>
                <a:pathLst>
                  <a:path w="185660" h="185660">
                    <a:moveTo>
                      <a:pt x="140416" y="45244"/>
                    </a:moveTo>
                    <a:lnTo>
                      <a:pt x="117795" y="0"/>
                    </a:lnTo>
                    <a:lnTo>
                      <a:pt x="49929" y="67866"/>
                    </a:lnTo>
                    <a:lnTo>
                      <a:pt x="49929" y="103739"/>
                    </a:lnTo>
                    <a:lnTo>
                      <a:pt x="0" y="153668"/>
                    </a:lnTo>
                    <a:lnTo>
                      <a:pt x="31992" y="185660"/>
                    </a:lnTo>
                    <a:lnTo>
                      <a:pt x="81921" y="135731"/>
                    </a:lnTo>
                    <a:lnTo>
                      <a:pt x="117795" y="135731"/>
                    </a:lnTo>
                    <a:lnTo>
                      <a:pt x="185660" y="67866"/>
                    </a:lnTo>
                    <a:lnTo>
                      <a:pt x="140416" y="45244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5053012" y="4488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部分理解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045392" y="46524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补讲后再续接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557712" y="50982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学生部分理解，系统先补充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557712" y="53268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例证或薄弱知识点，再回主线。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572000" y="5638800"/>
              <a:ext cx="1219200" cy="247650"/>
            </a:xfrm>
            <a:prstGeom prst="roundRect">
              <a:avLst>
                <a:gd name="adj" fmla="val 5000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918138" y="57130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补充讲解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077200" y="4171950"/>
            <a:ext cx="3505200" cy="1809750"/>
            <a:chOff x="8077200" y="4171950"/>
            <a:chExt cx="3505200" cy="1809750"/>
          </a:xfrm>
        </p:grpSpPr>
        <p:sp>
          <p:nvSpPr>
            <p:cNvPr id="88" name="Rectangle 88"/>
            <p:cNvSpPr/>
            <p:nvPr/>
          </p:nvSpPr>
          <p:spPr>
            <a:xfrm>
              <a:off x="8077200" y="4171950"/>
              <a:ext cx="35052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89" name="Rectangle 89"/>
            <p:cNvSpPr/>
            <p:nvPr/>
          </p:nvSpPr>
          <p:spPr>
            <a:xfrm>
              <a:off x="8077200" y="417195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E8553C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8328422" y="4461272"/>
              <a:ext cx="316707" cy="316707"/>
              <a:chOff x="8328422" y="4461272"/>
              <a:chExt cx="316707" cy="316707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8328422" y="4461272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90488" y="45244"/>
                    </a:moveTo>
                    <a:cubicBezTo>
                      <a:pt x="90488" y="70231"/>
                      <a:pt x="70231" y="90488"/>
                      <a:pt x="45244" y="90488"/>
                    </a:cubicBezTo>
                    <a:cubicBezTo>
                      <a:pt x="20256" y="90488"/>
                      <a:pt x="0" y="70231"/>
                      <a:pt x="0" y="45244"/>
                    </a:cubicBez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1" y="0"/>
                      <a:pt x="90488" y="20256"/>
                      <a:pt x="90488" y="45244"/>
                    </a:cubicBezTo>
                    <a:close/>
                  </a:path>
                </a:pathLst>
              </a:custGeom>
              <a:solidFill>
                <a:srgbClr val="E8553C"/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554641" y="4687491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90488" y="45244"/>
                    </a:moveTo>
                    <a:cubicBezTo>
                      <a:pt x="90488" y="70232"/>
                      <a:pt x="70232" y="90488"/>
                      <a:pt x="45244" y="90488"/>
                    </a:cubicBezTo>
                    <a:cubicBezTo>
                      <a:pt x="20256" y="90488"/>
                      <a:pt x="0" y="70232"/>
                      <a:pt x="0" y="45244"/>
                    </a:cubicBez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2" y="0"/>
                      <a:pt x="90488" y="20256"/>
                      <a:pt x="90488" y="45244"/>
                    </a:cubicBezTo>
                    <a:close/>
                  </a:path>
                </a:pathLst>
              </a:custGeom>
              <a:solidFill>
                <a:srgbClr val="E8553C"/>
              </a:solidFill>
              <a:ln>
                <a:noFill/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51044" y="4461272"/>
                <a:ext cx="271462" cy="316706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316706">
                    <a:moveTo>
                      <a:pt x="158353" y="79177"/>
                    </a:moveTo>
                    <a:cubicBezTo>
                      <a:pt x="158353" y="60436"/>
                      <a:pt x="173545" y="45244"/>
                      <a:pt x="192286" y="45244"/>
                    </a:cubicBezTo>
                    <a:cubicBezTo>
                      <a:pt x="211026" y="45244"/>
                      <a:pt x="226219" y="60436"/>
                      <a:pt x="226219" y="79177"/>
                    </a:cubicBezTo>
                    <a:lnTo>
                      <a:pt x="226219" y="180975"/>
                    </a:lnTo>
                    <a:lnTo>
                      <a:pt x="271462" y="180975"/>
                    </a:lnTo>
                    <a:lnTo>
                      <a:pt x="271462" y="79177"/>
                    </a:lnTo>
                    <a:cubicBezTo>
                      <a:pt x="271462" y="35448"/>
                      <a:pt x="236014" y="0"/>
                      <a:pt x="192286" y="0"/>
                    </a:cubicBezTo>
                    <a:cubicBezTo>
                      <a:pt x="148558" y="0"/>
                      <a:pt x="113109" y="35448"/>
                      <a:pt x="113109" y="79177"/>
                    </a:cubicBezTo>
                    <a:lnTo>
                      <a:pt x="113109" y="237530"/>
                    </a:lnTo>
                    <a:cubicBezTo>
                      <a:pt x="113109" y="256270"/>
                      <a:pt x="97917" y="271462"/>
                      <a:pt x="79177" y="271462"/>
                    </a:cubicBezTo>
                    <a:cubicBezTo>
                      <a:pt x="60436" y="271462"/>
                      <a:pt x="45244" y="256270"/>
                      <a:pt x="45244" y="237530"/>
                    </a:cubicBezTo>
                    <a:lnTo>
                      <a:pt x="45244" y="135731"/>
                    </a:lnTo>
                    <a:lnTo>
                      <a:pt x="0" y="135731"/>
                    </a:lnTo>
                    <a:lnTo>
                      <a:pt x="0" y="237530"/>
                    </a:lnTo>
                    <a:cubicBezTo>
                      <a:pt x="0" y="281258"/>
                      <a:pt x="35448" y="316706"/>
                      <a:pt x="79177" y="316706"/>
                    </a:cubicBezTo>
                    <a:cubicBezTo>
                      <a:pt x="122905" y="316706"/>
                      <a:pt x="158353" y="281258"/>
                      <a:pt x="158353" y="237530"/>
                    </a:cubicBezTo>
                    <a:lnTo>
                      <a:pt x="158353" y="79177"/>
                    </a:lnTo>
                    <a:close/>
                  </a:path>
                </a:pathLst>
              </a:custGeom>
              <a:solidFill>
                <a:srgbClr val="E8553C"/>
              </a:solidFill>
              <a:ln>
                <a:noFill/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8786812" y="44886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55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未理解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779192" y="4652486"/>
              <a:ext cx="19760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回退关键节点重讲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291512" y="50982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学生仍未理解，系统把学习位置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291512" y="53268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拉回关键节点重新讲解。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305800" y="5638800"/>
              <a:ext cx="1219200" cy="247650"/>
            </a:xfrm>
            <a:prstGeom prst="roundRect">
              <a:avLst>
                <a:gd name="adj" fmla="val 50000"/>
              </a:avLst>
            </a:prstGeom>
            <a:solidFill>
              <a:srgbClr val="FDEE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651938" y="571309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55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回退重讲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101" name="TextBox 101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65590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40" grpId="0"/>
      <p:bldP spid="60" grpId="0"/>
      <p:bldP spid="63" grpId="0"/>
      <p:bldP spid="74" grpId="0"/>
      <p:bldP spid="87" grpId="0"/>
      <p:bldP spid="10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2722197" cy="528638"/>
            <a:chOff x="609600" y="1009650"/>
            <a:chExt cx="272219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三大模块</a:t>
              </a:r>
              <a:r>
                <a:rPr lang="zh-CN" sz="255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全覆盖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1638300"/>
            <a:ext cx="10972800" cy="3752850"/>
            <a:chOff x="609600" y="1638300"/>
            <a:chExt cx="10972800" cy="3752850"/>
          </a:xfrm>
        </p:grpSpPr>
        <p:sp>
          <p:nvSpPr>
            <p:cNvPr id="19" name="Rectangle 19"/>
            <p:cNvSpPr/>
            <p:nvPr/>
          </p:nvSpPr>
          <p:spPr>
            <a:xfrm>
              <a:off x="609600" y="1638300"/>
              <a:ext cx="10972800" cy="3752850"/>
            </a:xfrm>
            <a:prstGeom prst="roundRect">
              <a:avLst>
                <a:gd name="adj" fmla="val 304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1638300"/>
              <a:ext cx="10972800" cy="514350"/>
            </a:xfrm>
            <a:prstGeom prst="roundRect">
              <a:avLst>
                <a:gd name="adj" fmla="val 22222"/>
              </a:avLst>
            </a:prstGeom>
            <a:solidFill>
              <a:srgbClr val="1D2A4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1981200"/>
              <a:ext cx="10972800" cy="171450"/>
            </a:xfrm>
            <a:prstGeom prst="rect">
              <a:avLst/>
            </a:prstGeom>
            <a:solidFill>
              <a:srgbClr val="1D2A4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012" y="1840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赛题模块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14612" y="1840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核心要求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5512" y="1840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05693" y="1840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400300" y="21526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8F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829300" y="21526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8F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944100" y="21526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8F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09600" y="32289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EF1F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09600" y="4305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EF1F6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38200" y="2457450"/>
              <a:ext cx="10058400" cy="526256"/>
              <a:chOff x="838200" y="2457450"/>
              <a:chExt cx="10058400" cy="526256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38200" y="2457450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AF1FE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58418" y="25469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智课生成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14612" y="2526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将静态课件智化为可讲授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614612" y="27551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的结构化教学内容。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43612" y="2526506"/>
                <a:ext cx="19788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多模态解析 + 知识点层级树 +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43612" y="2755106"/>
                <a:ext cx="19938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结构化讲稿生成 + TTS 语音。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10058400" y="2590800"/>
                <a:ext cx="8382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270581" y="2666524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覆盖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38200" y="3533775"/>
              <a:ext cx="10058400" cy="526256"/>
              <a:chOff x="838200" y="3533775"/>
              <a:chExt cx="10058400" cy="526256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38200" y="3533775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1ECFE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58418" y="3623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7B5B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实时问答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614612" y="3602831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结合上下文的精准答疑，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614612" y="3831431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秒级响应。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043612" y="360283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本页优先 RAG 检索 + 带溯源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043612" y="3831431"/>
                <a:ext cx="15437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 + SSE 流式输出。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10058400" y="3667125"/>
                <a:ext cx="8382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270581" y="3742849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覆盖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38200" y="4610100"/>
              <a:ext cx="10058400" cy="526256"/>
              <a:chOff x="838200" y="4610100"/>
              <a:chExt cx="10058400" cy="526256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38200" y="4610100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8418" y="46996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E8C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进度续接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614612" y="46791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提问打断后，自动续接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614612" y="49077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原有学习进度。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43612" y="4679156"/>
                <a:ext cx="19113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understandingLevel 判定 +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043612" y="4907756"/>
                <a:ext cx="262389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resumeMode 三态续接（续/补/重）。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10058400" y="4743450"/>
                <a:ext cx="8382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270581" y="4819174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✓ 覆盖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609600" y="5543550"/>
            <a:ext cx="10972800" cy="457200"/>
            <a:chOff x="609600" y="5543550"/>
            <a:chExt cx="10972800" cy="457200"/>
          </a:xfrm>
        </p:grpSpPr>
        <p:sp>
          <p:nvSpPr>
            <p:cNvPr id="59" name="Rectangle 59"/>
            <p:cNvSpPr/>
            <p:nvPr/>
          </p:nvSpPr>
          <p:spPr>
            <a:xfrm>
              <a:off x="609600" y="554355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rgbClr val="EAFBF8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00100" y="5657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27760" y="5690235"/>
              <a:ext cx="7322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四项硬指标（解析 ≤2min / 问答 ≤5s / 识别 ≥80% / 准确 ≥85%）均已对齐，三大模块端到端打通。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65590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8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178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5597652" cy="514350"/>
            <a:chOff x="609600" y="1009650"/>
            <a:chExt cx="5597652" cy="514350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9620" y="1036320"/>
              <a:ext cx="54376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项目进展清晰，</a:t>
              </a:r>
              <a:r>
                <a:rPr lang="zh-CN" sz="2400" b="1" dirty="0">
                  <a:solidFill>
                    <a:srgbClr val="17B3A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已进入学校推广阶段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60171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从调研到联调，再到校园试点推进，项目已经从“做出来”进入“走进去”的阶段。</a:t>
            </a:r>
          </a:p>
        </p:txBody>
      </p:sp>
      <p:sp>
        <p:nvSpPr>
          <p:cNvPr id="20" name="Line 20"/>
          <p:cNvSpPr/>
          <p:nvPr/>
        </p:nvSpPr>
        <p:spPr>
          <a:xfrm>
            <a:off x="1143000" y="22479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57150" cap="rnd">
            <a:gradFill>
              <a:gsLst>
                <a:gs pos="0">
                  <a:srgbClr val="1E6FE0"/>
                </a:gs>
                <a:gs pos="65000">
                  <a:srgbClr val="7B5BE0"/>
                </a:gs>
                <a:gs pos="100000">
                  <a:srgbClr val="17B3A3"/>
                </a:gs>
              </a:gsLst>
              <a:lin ang="0" scaled="1"/>
            </a:gradFill>
          </a:ln>
        </p:spPr>
      </p:sp>
      <p:grpSp>
        <p:nvGrpSpPr>
          <p:cNvPr id="26" name="Group 26"/>
          <p:cNvGrpSpPr/>
          <p:nvPr/>
        </p:nvGrpSpPr>
        <p:grpSpPr>
          <a:xfrm>
            <a:off x="609600" y="2114550"/>
            <a:ext cx="2019300" cy="1238250"/>
            <a:chOff x="609600" y="2114550"/>
            <a:chExt cx="2019300" cy="1238250"/>
          </a:xfrm>
        </p:grpSpPr>
        <p:sp>
          <p:nvSpPr>
            <p:cNvPr id="21" name="Ellipse 21"/>
            <p:cNvSpPr/>
            <p:nvPr/>
          </p:nvSpPr>
          <p:spPr>
            <a:xfrm>
              <a:off x="1485900" y="2114550"/>
              <a:ext cx="266700" cy="266700"/>
            </a:xfrm>
            <a:prstGeom prst="ellipse">
              <a:avLst/>
            </a:prstGeom>
            <a:solidFill>
              <a:srgbClr val="1E6FE0"/>
            </a:solidFill>
            <a:ln w="38100">
              <a:solidFill>
                <a:srgbClr val="FFFFF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2457450"/>
              <a:ext cx="201930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82296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调研需求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865" y="29156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梳理赛题目标、师生痛点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865" y="31251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与泛雅平台落地约束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33750" y="2114550"/>
            <a:ext cx="2019300" cy="1238250"/>
            <a:chOff x="3333750" y="2114550"/>
            <a:chExt cx="2019300" cy="1238250"/>
          </a:xfrm>
        </p:grpSpPr>
        <p:sp>
          <p:nvSpPr>
            <p:cNvPr id="27" name="Ellipse 27"/>
            <p:cNvSpPr/>
            <p:nvPr/>
          </p:nvSpPr>
          <p:spPr>
            <a:xfrm>
              <a:off x="4210050" y="2114550"/>
              <a:ext cx="266700" cy="266700"/>
            </a:xfrm>
            <a:prstGeom prst="ellipse">
              <a:avLst/>
            </a:prstGeom>
            <a:solidFill>
              <a:srgbClr val="7B5BE0"/>
            </a:solidFill>
            <a:ln w="38100">
              <a:solidFill>
                <a:srgbClr val="FFFFF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33750" y="2457450"/>
              <a:ext cx="201930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354711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架构设计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49015" y="29156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完成四层架构、接口路径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49015" y="3125152"/>
              <a:ext cx="1209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 AI 场景拆分方案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76950" y="2114550"/>
            <a:ext cx="2019300" cy="1238250"/>
            <a:chOff x="6076950" y="2114550"/>
            <a:chExt cx="2019300" cy="1238250"/>
          </a:xfrm>
        </p:grpSpPr>
        <p:sp>
          <p:nvSpPr>
            <p:cNvPr id="33" name="Ellipse 33"/>
            <p:cNvSpPr/>
            <p:nvPr/>
          </p:nvSpPr>
          <p:spPr>
            <a:xfrm>
              <a:off x="6953250" y="2114550"/>
              <a:ext cx="266700" cy="266700"/>
            </a:xfrm>
            <a:prstGeom prst="ellipse">
              <a:avLst/>
            </a:prstGeom>
            <a:solidFill>
              <a:srgbClr val="7B5BE0"/>
            </a:solidFill>
            <a:ln w="38100">
              <a:solidFill>
                <a:srgbClr val="FFFFF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76950" y="2457450"/>
              <a:ext cx="201930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6290310" y="2632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B5B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开发联调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92215" y="29156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打通解析、问答、续接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92215" y="3125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与教师端、学生端闭环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01100" y="2095500"/>
            <a:ext cx="2171700" cy="1445419"/>
            <a:chOff x="8801100" y="2095500"/>
            <a:chExt cx="2171700" cy="1445419"/>
          </a:xfrm>
        </p:grpSpPr>
        <p:sp>
          <p:nvSpPr>
            <p:cNvPr id="39" name="Ellipse 39"/>
            <p:cNvSpPr/>
            <p:nvPr/>
          </p:nvSpPr>
          <p:spPr>
            <a:xfrm>
              <a:off x="9658350" y="2095500"/>
              <a:ext cx="304800" cy="304800"/>
            </a:xfrm>
            <a:prstGeom prst="ellipse">
              <a:avLst/>
            </a:prstGeom>
            <a:solidFill>
              <a:srgbClr val="17B3A3"/>
            </a:solidFill>
            <a:ln w="38100">
              <a:solidFill>
                <a:srgbClr val="FFFFF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01100" y="2381250"/>
              <a:ext cx="2171700" cy="1047750"/>
            </a:xfrm>
            <a:prstGeom prst="roundRect">
              <a:avLst>
                <a:gd name="adj" fmla="val 12727"/>
              </a:avLst>
            </a:prstGeom>
            <a:solidFill>
              <a:srgbClr val="E6F7F4"/>
            </a:solidFill>
            <a:ln w="9525">
              <a:solidFill>
                <a:srgbClr val="9FE2D7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9013508" y="25865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8C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学校推广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16365" y="28965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6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当前重点阶段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6365" y="3125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6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校内试点、教师试用、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17318" y="33427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A46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教学反馈持续回流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3771900"/>
            <a:ext cx="5219700" cy="2228850"/>
            <a:chOff x="609600" y="3771900"/>
            <a:chExt cx="5219700" cy="2228850"/>
          </a:xfrm>
        </p:grpSpPr>
        <p:sp>
          <p:nvSpPr>
            <p:cNvPr id="46" name="Rectangle 46"/>
            <p:cNvSpPr/>
            <p:nvPr/>
          </p:nvSpPr>
          <p:spPr>
            <a:xfrm>
              <a:off x="609600" y="3771900"/>
              <a:ext cx="5219700" cy="2228850"/>
            </a:xfrm>
            <a:prstGeom prst="roundRect">
              <a:avLst>
                <a:gd name="adj" fmla="val 6838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609600" y="3771900"/>
              <a:ext cx="52197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51118" y="4056459"/>
              <a:ext cx="254972" cy="250032"/>
              <a:chOff x="851118" y="4056459"/>
              <a:chExt cx="254972" cy="25003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63215" y="4056459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63215" y="4127897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63215" y="4199334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35719"/>
                    </a:lnTo>
                    <a:lnTo>
                      <a:pt x="142875" y="35719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63215" y="4270772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56059" y="4199334"/>
                <a:ext cx="7367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3670" h="107156">
                    <a:moveTo>
                      <a:pt x="40872" y="31254"/>
                    </a:moveTo>
                    <a:lnTo>
                      <a:pt x="0" y="31254"/>
                    </a:lnTo>
                    <a:lnTo>
                      <a:pt x="0" y="0"/>
                    </a:lnTo>
                    <a:lnTo>
                      <a:pt x="40872" y="0"/>
                    </a:lnTo>
                    <a:cubicBezTo>
                      <a:pt x="58986" y="0"/>
                      <a:pt x="73670" y="14684"/>
                      <a:pt x="73670" y="32797"/>
                    </a:cubicBezTo>
                    <a:cubicBezTo>
                      <a:pt x="73670" y="41803"/>
                      <a:pt x="69967" y="50413"/>
                      <a:pt x="63429" y="56607"/>
                    </a:cubicBezTo>
                    <a:lnTo>
                      <a:pt x="43062" y="75902"/>
                    </a:lnTo>
                    <a:lnTo>
                      <a:pt x="71437" y="75902"/>
                    </a:lnTo>
                    <a:lnTo>
                      <a:pt x="71437" y="107156"/>
                    </a:lnTo>
                    <a:lnTo>
                      <a:pt x="0" y="107156"/>
                    </a:lnTo>
                    <a:lnTo>
                      <a:pt x="0" y="73645"/>
                    </a:lnTo>
                    <a:lnTo>
                      <a:pt x="41934" y="33919"/>
                    </a:lnTo>
                    <a:cubicBezTo>
                      <a:pt x="42242" y="33627"/>
                      <a:pt x="42416" y="33222"/>
                      <a:pt x="42416" y="32797"/>
                    </a:cubicBezTo>
                    <a:cubicBezTo>
                      <a:pt x="42416" y="31945"/>
                      <a:pt x="41725" y="31254"/>
                      <a:pt x="40872" y="31254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51118" y="4058692"/>
                <a:ext cx="56287" cy="104924"/>
              </a:xfrm>
              <a:custGeom>
                <a:avLst/>
                <a:gdLst/>
                <a:ahLst/>
                <a:cxnLst/>
                <a:rect l="l" t="t" r="r" b="b"/>
                <a:pathLst>
                  <a:path w="56287" h="104924">
                    <a:moveTo>
                      <a:pt x="29195" y="0"/>
                    </a:moveTo>
                    <a:lnTo>
                      <a:pt x="0" y="9732"/>
                    </a:lnTo>
                    <a:lnTo>
                      <a:pt x="9883" y="39382"/>
                    </a:lnTo>
                    <a:lnTo>
                      <a:pt x="25034" y="34332"/>
                    </a:lnTo>
                    <a:lnTo>
                      <a:pt x="25034" y="104924"/>
                    </a:lnTo>
                    <a:lnTo>
                      <a:pt x="56287" y="104924"/>
                    </a:lnTo>
                    <a:lnTo>
                      <a:pt x="56287" y="0"/>
                    </a:lnTo>
                    <a:lnTo>
                      <a:pt x="29195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217295" y="40509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当前已完成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23925" y="46386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0612" y="4593431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教师端、学生端原型与演示链路已打通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23925" y="49815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0612" y="4936331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课件解析、实时问答、进度续接形成完整闭环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23925" y="53244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90612" y="5279231"/>
              <a:ext cx="28939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OpenAPI 路径、签名与异步任务形态已明确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23925" y="56673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0612" y="562213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具备演示部署、接口联调与平台接入条件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362700" y="3771900"/>
            <a:ext cx="5219700" cy="2228850"/>
            <a:chOff x="6362700" y="3771900"/>
            <a:chExt cx="5219700" cy="2228850"/>
          </a:xfrm>
        </p:grpSpPr>
        <p:sp>
          <p:nvSpPr>
            <p:cNvPr id="65" name="Rectangle 65"/>
            <p:cNvSpPr/>
            <p:nvPr/>
          </p:nvSpPr>
          <p:spPr>
            <a:xfrm>
              <a:off x="6362700" y="3771900"/>
              <a:ext cx="5219700" cy="2228850"/>
            </a:xfrm>
            <a:prstGeom prst="roundRect">
              <a:avLst>
                <a:gd name="adj" fmla="val 6838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66" name="Rectangle 66"/>
            <p:cNvSpPr/>
            <p:nvPr/>
          </p:nvSpPr>
          <p:spPr>
            <a:xfrm>
              <a:off x="6362700" y="3771900"/>
              <a:ext cx="52197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591300" y="4038600"/>
              <a:ext cx="285750" cy="285750"/>
              <a:chOff x="6591300" y="4038600"/>
              <a:chExt cx="285750" cy="28575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591300" y="403860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178594" y="285750"/>
                    </a:moveTo>
                    <a:lnTo>
                      <a:pt x="214312" y="250031"/>
                    </a:lnTo>
                    <a:lnTo>
                      <a:pt x="214312" y="178594"/>
                    </a:lnTo>
                    <a:lnTo>
                      <a:pt x="243904" y="149003"/>
                    </a:lnTo>
                    <a:cubicBezTo>
                      <a:pt x="270696" y="122209"/>
                      <a:pt x="285750" y="85868"/>
                      <a:pt x="285750" y="47975"/>
                    </a:cubicBezTo>
                    <a:lnTo>
                      <a:pt x="285750" y="0"/>
                    </a:lnTo>
                    <a:lnTo>
                      <a:pt x="237774" y="0"/>
                    </a:lnTo>
                    <a:cubicBezTo>
                      <a:pt x="199882" y="0"/>
                      <a:pt x="163541" y="15053"/>
                      <a:pt x="136747" y="41847"/>
                    </a:cubicBezTo>
                    <a:lnTo>
                      <a:pt x="107156" y="71438"/>
                    </a:lnTo>
                    <a:lnTo>
                      <a:pt x="35719" y="71438"/>
                    </a:lnTo>
                    <a:lnTo>
                      <a:pt x="0" y="107156"/>
                    </a:lnTo>
                    <a:lnTo>
                      <a:pt x="178594" y="285750"/>
                    </a:lnTo>
                    <a:close/>
                    <a:moveTo>
                      <a:pt x="187523" y="125016"/>
                    </a:moveTo>
                    <a:cubicBezTo>
                      <a:pt x="202318" y="125016"/>
                      <a:pt x="214312" y="113022"/>
                      <a:pt x="214312" y="98227"/>
                    </a:cubicBezTo>
                    <a:cubicBezTo>
                      <a:pt x="214312" y="83431"/>
                      <a:pt x="202318" y="71438"/>
                      <a:pt x="187523" y="71438"/>
                    </a:cubicBezTo>
                    <a:cubicBezTo>
                      <a:pt x="172728" y="71438"/>
                      <a:pt x="160734" y="83431"/>
                      <a:pt x="160734" y="98227"/>
                    </a:cubicBezTo>
                    <a:cubicBezTo>
                      <a:pt x="160734" y="113022"/>
                      <a:pt x="172728" y="125016"/>
                      <a:pt x="187523" y="125016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91300" y="4236350"/>
                <a:ext cx="88000" cy="88000"/>
              </a:xfrm>
              <a:custGeom>
                <a:avLst/>
                <a:gdLst/>
                <a:ahLst/>
                <a:cxnLst/>
                <a:rect l="l" t="t" r="r" b="b"/>
                <a:pathLst>
                  <a:path w="88000" h="88000">
                    <a:moveTo>
                      <a:pt x="88000" y="47920"/>
                    </a:moveTo>
                    <a:lnTo>
                      <a:pt x="40081" y="0"/>
                    </a:lnTo>
                    <a:lnTo>
                      <a:pt x="0" y="70141"/>
                    </a:lnTo>
                    <a:lnTo>
                      <a:pt x="17859" y="88000"/>
                    </a:lnTo>
                    <a:lnTo>
                      <a:pt x="88000" y="4792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970395" y="40509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学校推广怎么做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77025" y="46386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43712" y="4593431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围绕高校课程场景推进校内试点与展示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677025" y="49815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43712" y="493633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推动教师试用，验证讲授脚本与编辑体验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677025" y="53244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43712" y="527923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收集问答、续接、学情反馈反哺后续优化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677025" y="56673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43712" y="5622131"/>
              <a:ext cx="29914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推广入口可对接泛雅 Web 与学习通 WebView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65590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2" grpId="0"/>
      <p:bldP spid="38" grpId="0"/>
      <p:bldP spid="45" grpId="0"/>
      <p:bldP spid="64" grpId="0"/>
      <p:bldP spid="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178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4726996" cy="521494"/>
            <a:chOff x="609600" y="1009650"/>
            <a:chExt cx="4726996" cy="521494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668" y="1028224"/>
              <a:ext cx="4567928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组织分工清晰，</a:t>
              </a:r>
              <a:r>
                <a:rPr lang="zh-CN" sz="2475" b="1" dirty="0">
                  <a:solidFill>
                    <a:srgbClr val="1E6F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推进机制闭环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64421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DeepCore 以五个核心角色协同推进，保证需求、实现、验证和推广各环节有人负责。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85800" y="1943100"/>
            <a:ext cx="1981200" cy="2476500"/>
            <a:chOff x="685800" y="1943100"/>
            <a:chExt cx="1981200" cy="2476500"/>
          </a:xfrm>
        </p:grpSpPr>
        <p:sp>
          <p:nvSpPr>
            <p:cNvPr id="20" name="Rectangle 20"/>
            <p:cNvSpPr/>
            <p:nvPr/>
          </p:nvSpPr>
          <p:spPr>
            <a:xfrm>
              <a:off x="685800" y="1943100"/>
              <a:ext cx="1981200" cy="24765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85800" y="1943100"/>
              <a:ext cx="19812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26456" y="2207419"/>
              <a:ext cx="237975" cy="233363"/>
              <a:chOff x="926456" y="2207419"/>
              <a:chExt cx="237975" cy="23336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31081" y="2207419"/>
                <a:ext cx="1333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3338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33338"/>
                    </a:lnTo>
                    <a:lnTo>
                      <a:pt x="0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31081" y="2274094"/>
                <a:ext cx="1333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3338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33338"/>
                    </a:lnTo>
                    <a:lnTo>
                      <a:pt x="0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31081" y="2340769"/>
                <a:ext cx="1333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3338">
                    <a:moveTo>
                      <a:pt x="133350" y="0"/>
                    </a:moveTo>
                    <a:lnTo>
                      <a:pt x="0" y="0"/>
                    </a:lnTo>
                    <a:lnTo>
                      <a:pt x="0" y="33338"/>
                    </a:lnTo>
                    <a:lnTo>
                      <a:pt x="133350" y="33338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31081" y="2407444"/>
                <a:ext cx="1333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3338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33338"/>
                    </a:lnTo>
                    <a:lnTo>
                      <a:pt x="0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1069" y="2340769"/>
                <a:ext cx="68759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68759" h="100012">
                    <a:moveTo>
                      <a:pt x="38147" y="29170"/>
                    </a:moveTo>
                    <a:lnTo>
                      <a:pt x="0" y="29170"/>
                    </a:lnTo>
                    <a:lnTo>
                      <a:pt x="0" y="0"/>
                    </a:lnTo>
                    <a:lnTo>
                      <a:pt x="38147" y="0"/>
                    </a:lnTo>
                    <a:cubicBezTo>
                      <a:pt x="55053" y="0"/>
                      <a:pt x="68759" y="13705"/>
                      <a:pt x="68759" y="30610"/>
                    </a:cubicBezTo>
                    <a:cubicBezTo>
                      <a:pt x="68759" y="39017"/>
                      <a:pt x="65302" y="47053"/>
                      <a:pt x="59200" y="52833"/>
                    </a:cubicBezTo>
                    <a:lnTo>
                      <a:pt x="40191" y="70842"/>
                    </a:lnTo>
                    <a:lnTo>
                      <a:pt x="66675" y="70842"/>
                    </a:lnTo>
                    <a:lnTo>
                      <a:pt x="66675" y="100012"/>
                    </a:lnTo>
                    <a:lnTo>
                      <a:pt x="0" y="100012"/>
                    </a:lnTo>
                    <a:lnTo>
                      <a:pt x="0" y="68735"/>
                    </a:lnTo>
                    <a:lnTo>
                      <a:pt x="39138" y="31657"/>
                    </a:lnTo>
                    <a:cubicBezTo>
                      <a:pt x="39426" y="31386"/>
                      <a:pt x="39588" y="31007"/>
                      <a:pt x="39588" y="30610"/>
                    </a:cubicBezTo>
                    <a:cubicBezTo>
                      <a:pt x="39588" y="29815"/>
                      <a:pt x="38943" y="29170"/>
                      <a:pt x="38147" y="2917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6456" y="2209502"/>
                <a:ext cx="52535" cy="97929"/>
              </a:xfrm>
              <a:custGeom>
                <a:avLst/>
                <a:gdLst/>
                <a:ahLst/>
                <a:cxnLst/>
                <a:rect l="l" t="t" r="r" b="b"/>
                <a:pathLst>
                  <a:path w="52535" h="97929">
                    <a:moveTo>
                      <a:pt x="27248" y="0"/>
                    </a:moveTo>
                    <a:lnTo>
                      <a:pt x="0" y="9083"/>
                    </a:lnTo>
                    <a:lnTo>
                      <a:pt x="9225" y="36756"/>
                    </a:lnTo>
                    <a:lnTo>
                      <a:pt x="23365" y="32043"/>
                    </a:lnTo>
                    <a:lnTo>
                      <a:pt x="23365" y="97929"/>
                    </a:lnTo>
                    <a:lnTo>
                      <a:pt x="52535" y="97929"/>
                    </a:lnTo>
                    <a:lnTo>
                      <a:pt x="52535" y="0"/>
                    </a:lnTo>
                    <a:lnTo>
                      <a:pt x="2724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97305" y="2216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产品统筹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923925" y="28289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72515" y="27917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需求梳理与范围取舍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23925" y="31718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2515" y="31346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版本节奏与里程碑推进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23925" y="35147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72515" y="34775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对接学校推广与试用反馈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819400" y="1943100"/>
            <a:ext cx="2093595" cy="2476500"/>
            <a:chOff x="2819400" y="1943100"/>
            <a:chExt cx="2093595" cy="2476500"/>
          </a:xfrm>
        </p:grpSpPr>
        <p:sp>
          <p:nvSpPr>
            <p:cNvPr id="37" name="Rectangle 37"/>
            <p:cNvSpPr/>
            <p:nvPr/>
          </p:nvSpPr>
          <p:spPr>
            <a:xfrm>
              <a:off x="2819400" y="1943100"/>
              <a:ext cx="1981200" cy="24765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2819400" y="1943100"/>
              <a:ext cx="19812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3048000" y="2224088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26670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266700" y="200025"/>
                  </a:lnTo>
                  <a:lnTo>
                    <a:pt x="266700" y="0"/>
                  </a:lnTo>
                  <a:close/>
                  <a:moveTo>
                    <a:pt x="50006" y="66675"/>
                  </a:moveTo>
                  <a:cubicBezTo>
                    <a:pt x="59212" y="66675"/>
                    <a:pt x="66675" y="59212"/>
                    <a:pt x="66675" y="50006"/>
                  </a:cubicBezTo>
                  <a:cubicBezTo>
                    <a:pt x="66675" y="40800"/>
                    <a:pt x="59212" y="33338"/>
                    <a:pt x="50006" y="33338"/>
                  </a:cubicBezTo>
                  <a:cubicBezTo>
                    <a:pt x="40800" y="33338"/>
                    <a:pt x="33338" y="40800"/>
                    <a:pt x="33338" y="50006"/>
                  </a:cubicBezTo>
                  <a:cubicBezTo>
                    <a:pt x="33338" y="59212"/>
                    <a:pt x="40800" y="66675"/>
                    <a:pt x="50006" y="66675"/>
                  </a:cubicBezTo>
                  <a:close/>
                  <a:moveTo>
                    <a:pt x="125016" y="50006"/>
                  </a:moveTo>
                  <a:cubicBezTo>
                    <a:pt x="125016" y="59212"/>
                    <a:pt x="117553" y="66675"/>
                    <a:pt x="108347" y="66675"/>
                  </a:cubicBezTo>
                  <a:cubicBezTo>
                    <a:pt x="99141" y="66675"/>
                    <a:pt x="91678" y="59212"/>
                    <a:pt x="91678" y="50006"/>
                  </a:cubicBezTo>
                  <a:cubicBezTo>
                    <a:pt x="91678" y="40800"/>
                    <a:pt x="99141" y="33338"/>
                    <a:pt x="108347" y="33338"/>
                  </a:cubicBezTo>
                  <a:cubicBezTo>
                    <a:pt x="117553" y="33338"/>
                    <a:pt x="125016" y="40800"/>
                    <a:pt x="125016" y="50006"/>
                  </a:cubicBezTo>
                  <a:close/>
                  <a:moveTo>
                    <a:pt x="166688" y="66675"/>
                  </a:moveTo>
                  <a:cubicBezTo>
                    <a:pt x="175894" y="66675"/>
                    <a:pt x="183356" y="59212"/>
                    <a:pt x="183356" y="50006"/>
                  </a:cubicBezTo>
                  <a:cubicBezTo>
                    <a:pt x="183356" y="40800"/>
                    <a:pt x="175894" y="33338"/>
                    <a:pt x="166688" y="33338"/>
                  </a:cubicBezTo>
                  <a:cubicBezTo>
                    <a:pt x="157482" y="33338"/>
                    <a:pt x="150019" y="40800"/>
                    <a:pt x="150019" y="50006"/>
                  </a:cubicBezTo>
                  <a:cubicBezTo>
                    <a:pt x="150019" y="59212"/>
                    <a:pt x="157482" y="66675"/>
                    <a:pt x="166688" y="66675"/>
                  </a:cubicBez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30905" y="2216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前端交互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057525" y="28289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06115" y="27917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教师端、学生端页面实现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57525" y="31718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06115" y="313467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播放、问答、续接交互体验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57525" y="35147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07068" y="34856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多端适配与演示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53000" y="1943100"/>
            <a:ext cx="1981200" cy="2476500"/>
            <a:chOff x="4953000" y="1943100"/>
            <a:chExt cx="1981200" cy="2476500"/>
          </a:xfrm>
        </p:grpSpPr>
        <p:sp>
          <p:nvSpPr>
            <p:cNvPr id="48" name="Rectangle 48"/>
            <p:cNvSpPr/>
            <p:nvPr/>
          </p:nvSpPr>
          <p:spPr>
            <a:xfrm>
              <a:off x="4953000" y="1943100"/>
              <a:ext cx="1981200" cy="24765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4953000" y="1943100"/>
              <a:ext cx="19812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181600" y="2224088"/>
              <a:ext cx="266700" cy="200025"/>
              <a:chOff x="5181600" y="2224088"/>
              <a:chExt cx="266700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181600" y="2224088"/>
                <a:ext cx="26670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83344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83344"/>
                    </a:lnTo>
                    <a:lnTo>
                      <a:pt x="266700" y="83344"/>
                    </a:lnTo>
                    <a:lnTo>
                      <a:pt x="266700" y="0"/>
                    </a:lnTo>
                    <a:close/>
                    <a:moveTo>
                      <a:pt x="66675" y="41672"/>
                    </a:moveTo>
                    <a:cubicBezTo>
                      <a:pt x="66675" y="50878"/>
                      <a:pt x="59212" y="58341"/>
                      <a:pt x="50006" y="58341"/>
                    </a:cubicBezTo>
                    <a:cubicBezTo>
                      <a:pt x="40800" y="58341"/>
                      <a:pt x="33338" y="50878"/>
                      <a:pt x="33338" y="41672"/>
                    </a:cubicBezTo>
                    <a:cubicBezTo>
                      <a:pt x="33338" y="32466"/>
                      <a:pt x="40800" y="25003"/>
                      <a:pt x="50006" y="25003"/>
                    </a:cubicBezTo>
                    <a:cubicBezTo>
                      <a:pt x="59212" y="25003"/>
                      <a:pt x="66675" y="32466"/>
                      <a:pt x="66675" y="41672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181600" y="2340769"/>
                <a:ext cx="26670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83344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83344"/>
                    </a:lnTo>
                    <a:lnTo>
                      <a:pt x="266700" y="83344"/>
                    </a:lnTo>
                    <a:lnTo>
                      <a:pt x="266700" y="0"/>
                    </a:lnTo>
                    <a:close/>
                    <a:moveTo>
                      <a:pt x="50006" y="58341"/>
                    </a:moveTo>
                    <a:cubicBezTo>
                      <a:pt x="59212" y="58341"/>
                      <a:pt x="66675" y="50878"/>
                      <a:pt x="66675" y="41672"/>
                    </a:cubicBezTo>
                    <a:cubicBezTo>
                      <a:pt x="66675" y="32466"/>
                      <a:pt x="59212" y="25003"/>
                      <a:pt x="50006" y="25003"/>
                    </a:cubicBezTo>
                    <a:cubicBezTo>
                      <a:pt x="40800" y="25003"/>
                      <a:pt x="33338" y="32466"/>
                      <a:pt x="33338" y="41672"/>
                    </a:cubicBezTo>
                    <a:cubicBezTo>
                      <a:pt x="33338" y="50878"/>
                      <a:pt x="40800" y="58341"/>
                      <a:pt x="50006" y="58341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564505" y="2216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后端编排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191125" y="282892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9715" y="2791778"/>
              <a:ext cx="15388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OpenAPI、鉴权与状态机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191125" y="317182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40668" y="31427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状态流转与流式交互能力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191125" y="351472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9715" y="34775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平台集成与接口联调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086600" y="1943100"/>
            <a:ext cx="1988582" cy="2476500"/>
            <a:chOff x="7086600" y="1943100"/>
            <a:chExt cx="1988582" cy="2476500"/>
          </a:xfrm>
        </p:grpSpPr>
        <p:sp>
          <p:nvSpPr>
            <p:cNvPr id="61" name="Rectangle 61"/>
            <p:cNvSpPr/>
            <p:nvPr/>
          </p:nvSpPr>
          <p:spPr>
            <a:xfrm>
              <a:off x="7086600" y="1943100"/>
              <a:ext cx="1981200" cy="24765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62" name="Rectangle 62"/>
            <p:cNvSpPr/>
            <p:nvPr/>
          </p:nvSpPr>
          <p:spPr>
            <a:xfrm>
              <a:off x="7086600" y="1943100"/>
              <a:ext cx="19812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7315200" y="219075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150019" y="0"/>
                  </a:moveTo>
                  <a:lnTo>
                    <a:pt x="150019" y="33338"/>
                  </a:lnTo>
                  <a:lnTo>
                    <a:pt x="216694" y="33338"/>
                  </a:lnTo>
                  <a:lnTo>
                    <a:pt x="266700" y="141684"/>
                  </a:lnTo>
                  <a:lnTo>
                    <a:pt x="216694" y="250031"/>
                  </a:lnTo>
                  <a:lnTo>
                    <a:pt x="50006" y="250031"/>
                  </a:lnTo>
                  <a:lnTo>
                    <a:pt x="0" y="141684"/>
                  </a:lnTo>
                  <a:lnTo>
                    <a:pt x="50006" y="33338"/>
                  </a:lnTo>
                  <a:lnTo>
                    <a:pt x="116681" y="33338"/>
                  </a:lnTo>
                  <a:lnTo>
                    <a:pt x="116681" y="0"/>
                  </a:lnTo>
                  <a:lnTo>
                    <a:pt x="150019" y="0"/>
                  </a:lnTo>
                  <a:close/>
                  <a:moveTo>
                    <a:pt x="76642" y="195664"/>
                  </a:moveTo>
                  <a:lnTo>
                    <a:pt x="133350" y="204389"/>
                  </a:lnTo>
                  <a:lnTo>
                    <a:pt x="190059" y="195664"/>
                  </a:lnTo>
                  <a:lnTo>
                    <a:pt x="184988" y="162714"/>
                  </a:lnTo>
                  <a:lnTo>
                    <a:pt x="133350" y="170658"/>
                  </a:lnTo>
                  <a:lnTo>
                    <a:pt x="81711" y="162714"/>
                  </a:lnTo>
                  <a:lnTo>
                    <a:pt x="76642" y="195664"/>
                  </a:lnTo>
                  <a:close/>
                  <a:moveTo>
                    <a:pt x="116681" y="112514"/>
                  </a:moveTo>
                  <a:cubicBezTo>
                    <a:pt x="116681" y="124022"/>
                    <a:pt x="107353" y="133350"/>
                    <a:pt x="95845" y="133350"/>
                  </a:cubicBezTo>
                  <a:cubicBezTo>
                    <a:pt x="84338" y="133350"/>
                    <a:pt x="75009" y="124022"/>
                    <a:pt x="75009" y="112514"/>
                  </a:cubicBezTo>
                  <a:cubicBezTo>
                    <a:pt x="75009" y="101007"/>
                    <a:pt x="84338" y="91678"/>
                    <a:pt x="95845" y="91678"/>
                  </a:cubicBezTo>
                  <a:cubicBezTo>
                    <a:pt x="107353" y="91678"/>
                    <a:pt x="116681" y="101007"/>
                    <a:pt x="116681" y="112514"/>
                  </a:cubicBezTo>
                  <a:close/>
                  <a:moveTo>
                    <a:pt x="170855" y="133350"/>
                  </a:moveTo>
                  <a:cubicBezTo>
                    <a:pt x="182363" y="133350"/>
                    <a:pt x="191691" y="124022"/>
                    <a:pt x="191691" y="112514"/>
                  </a:cubicBezTo>
                  <a:cubicBezTo>
                    <a:pt x="191691" y="101007"/>
                    <a:pt x="182363" y="91678"/>
                    <a:pt x="170855" y="91678"/>
                  </a:cubicBezTo>
                  <a:cubicBezTo>
                    <a:pt x="159347" y="91678"/>
                    <a:pt x="150019" y="101007"/>
                    <a:pt x="150019" y="112514"/>
                  </a:cubicBezTo>
                  <a:cubicBezTo>
                    <a:pt x="150019" y="124022"/>
                    <a:pt x="159347" y="133350"/>
                    <a:pt x="170855" y="13335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98105" y="2216468"/>
              <a:ext cx="629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算法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24725" y="28289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73315" y="27917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课件解析与知识点抽取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24725" y="31718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73315" y="3134678"/>
              <a:ext cx="16018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讲稿生成与 RAG 问答设计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324725" y="35147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73315" y="3477578"/>
              <a:ext cx="16018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Dify 场景编排与效果调优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220200" y="1943100"/>
            <a:ext cx="1981200" cy="2476500"/>
            <a:chOff x="9220200" y="1943100"/>
            <a:chExt cx="1981200" cy="2476500"/>
          </a:xfrm>
        </p:grpSpPr>
        <p:sp>
          <p:nvSpPr>
            <p:cNvPr id="72" name="Rectangle 72"/>
            <p:cNvSpPr/>
            <p:nvPr/>
          </p:nvSpPr>
          <p:spPr>
            <a:xfrm>
              <a:off x="9220200" y="1943100"/>
              <a:ext cx="1981200" cy="24765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73" name="Rectangle 73"/>
            <p:cNvSpPr/>
            <p:nvPr/>
          </p:nvSpPr>
          <p:spPr>
            <a:xfrm>
              <a:off x="9220200" y="1943100"/>
              <a:ext cx="19812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9465469" y="219075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31705" y="22164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测试联调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458325" y="28289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606915" y="27917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功能回归与场景验收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458325" y="31718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606915" y="31346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指标记录与问题清单闭环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458325" y="35147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606915" y="34775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试点反馈回收与迭代验证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85800" y="4762500"/>
            <a:ext cx="10515600" cy="1223962"/>
            <a:chOff x="685800" y="4762500"/>
            <a:chExt cx="10515600" cy="1223962"/>
          </a:xfrm>
        </p:grpSpPr>
        <p:sp>
          <p:nvSpPr>
            <p:cNvPr id="83" name="Rectangle 83"/>
            <p:cNvSpPr/>
            <p:nvPr/>
          </p:nvSpPr>
          <p:spPr>
            <a:xfrm>
              <a:off x="685800" y="4762500"/>
              <a:ext cx="10515600" cy="1219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85800" y="4762500"/>
              <a:ext cx="105156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5350" y="49434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协同推进机制</a:t>
              </a:r>
            </a:p>
          </p:txBody>
        </p:sp>
        <p:grpSp>
          <p:nvGrpSpPr>
            <p:cNvPr id="94" name="Group 94"/>
            <p:cNvGrpSpPr/>
            <p:nvPr/>
          </p:nvGrpSpPr>
          <p:grpSpPr>
            <a:xfrm>
              <a:off x="914400" y="5334000"/>
              <a:ext cx="9715500" cy="342900"/>
              <a:chOff x="914400" y="5334000"/>
              <a:chExt cx="9715500" cy="3429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914400" y="5334000"/>
                <a:ext cx="2286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AF1FE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728073" y="54411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需求拆解</a:t>
                </a: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3390900" y="5334000"/>
                <a:ext cx="2286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F1ECFE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4204573" y="54411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7B5B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接口联调</a:t>
                </a: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5867400" y="5334000"/>
                <a:ext cx="2286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6590499" y="5441156"/>
                <a:ext cx="8398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E8C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场景验证</a:t>
                </a:r>
              </a:p>
            </p:txBody>
          </p:sp>
          <p:sp>
            <p:nvSpPr>
              <p:cNvPr id="92" name="Rectangle 92"/>
              <p:cNvSpPr/>
              <p:nvPr/>
            </p:nvSpPr>
            <p:spPr>
              <a:xfrm>
                <a:off x="8343900" y="5334000"/>
                <a:ext cx="2286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FF4FE"/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9000053" y="54411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6FE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试点反馈闭环</a:t>
                </a:r>
              </a:p>
            </p:txBody>
          </p:sp>
        </p:grpSp>
        <p:sp>
          <p:nvSpPr>
            <p:cNvPr id="95" name="TextBox 95"/>
            <p:cNvSpPr txBox="1"/>
            <p:nvPr/>
          </p:nvSpPr>
          <p:spPr>
            <a:xfrm>
              <a:off x="901065" y="5773102"/>
              <a:ext cx="57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每一轮试用反馈都会回到产品、前端、后端、AI 和测试链路中，形成可持续的版本迭代节奏。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97" name="TextBox 97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5590" y="6570345"/>
              <a:ext cx="128240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r>
                <a:rPr lang="en-US" altLang="zh-CN" sz="900" dirty="0">
                  <a:solidFill>
                    <a:srgbClr val="9AA3B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</a:t>
              </a:r>
              <a:endParaRPr lang="zh-CN" sz="900" dirty="0">
                <a:solidFill>
                  <a:srgbClr val="9AA3B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6" grpId="0"/>
      <p:bldP spid="47" grpId="0"/>
      <p:bldP spid="60" grpId="0"/>
      <p:bldP spid="71" grpId="0"/>
      <p:bldP spid="82" grpId="0"/>
      <p:bldP spid="9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3A"/>
              </a:gs>
              <a:gs pos="55000">
                <a:srgbClr val="13245C"/>
              </a:gs>
              <a:gs pos="100000">
                <a:srgbClr val="3A1F6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BFF">
                  <a:alpha val="30000"/>
                </a:srgbClr>
              </a:gs>
              <a:gs pos="100000">
                <a:srgbClr val="3B8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191500" y="-666750"/>
            <a:ext cx="4191000" cy="4191000"/>
          </a:xfrm>
          <a:prstGeom prst="ellipse">
            <a:avLst/>
          </a:prstGeom>
          <a:solidFill>
            <a:srgbClr val="7B5BE0">
              <a:alpha val="1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0" y="3810000"/>
            <a:ext cx="3810000" cy="3810000"/>
          </a:xfrm>
          <a:prstGeom prst="ellipse">
            <a:avLst/>
          </a:prstGeom>
          <a:solidFill>
            <a:srgbClr val="1E6FE0">
              <a:alpha val="12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43500" y="1428750"/>
            <a:ext cx="2198601" cy="547688"/>
            <a:chOff x="5143500" y="1428750"/>
            <a:chExt cx="2198601" cy="547688"/>
          </a:xfrm>
        </p:grpSpPr>
        <p:sp>
          <p:nvSpPr>
            <p:cNvPr id="6" name="Rectangle 6"/>
            <p:cNvSpPr/>
            <p:nvPr/>
          </p:nvSpPr>
          <p:spPr>
            <a:xfrm>
              <a:off x="5143500" y="1428750"/>
              <a:ext cx="533400" cy="533400"/>
            </a:xfrm>
            <a:prstGeom prst="roundRect">
              <a:avLst>
                <a:gd name="adj" fmla="val 26786"/>
              </a:avLst>
            </a:prstGeom>
            <a:gradFill>
              <a:gsLst>
                <a:gs pos="0">
                  <a:srgbClr val="3B8BFF"/>
                </a:gs>
                <a:gs pos="100000">
                  <a:srgbClr val="9B7B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257800" y="1543050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171450" y="0"/>
                  </a:moveTo>
                  <a:lnTo>
                    <a:pt x="171450" y="38100"/>
                  </a:lnTo>
                  <a:lnTo>
                    <a:pt x="247650" y="38100"/>
                  </a:lnTo>
                  <a:lnTo>
                    <a:pt x="304800" y="161925"/>
                  </a:lnTo>
                  <a:lnTo>
                    <a:pt x="247650" y="285750"/>
                  </a:lnTo>
                  <a:lnTo>
                    <a:pt x="57150" y="285750"/>
                  </a:lnTo>
                  <a:lnTo>
                    <a:pt x="0" y="161925"/>
                  </a:lnTo>
                  <a:lnTo>
                    <a:pt x="57150" y="38100"/>
                  </a:lnTo>
                  <a:lnTo>
                    <a:pt x="133350" y="38100"/>
                  </a:lnTo>
                  <a:lnTo>
                    <a:pt x="133350" y="0"/>
                  </a:lnTo>
                  <a:lnTo>
                    <a:pt x="171450" y="0"/>
                  </a:lnTo>
                  <a:close/>
                  <a:moveTo>
                    <a:pt x="87591" y="223617"/>
                  </a:moveTo>
                  <a:lnTo>
                    <a:pt x="152400" y="233587"/>
                  </a:lnTo>
                  <a:lnTo>
                    <a:pt x="217210" y="223617"/>
                  </a:lnTo>
                  <a:lnTo>
                    <a:pt x="211415" y="185959"/>
                  </a:lnTo>
                  <a:lnTo>
                    <a:pt x="152400" y="195038"/>
                  </a:lnTo>
                  <a:lnTo>
                    <a:pt x="93384" y="185959"/>
                  </a:lnTo>
                  <a:lnTo>
                    <a:pt x="87591" y="223617"/>
                  </a:lnTo>
                  <a:close/>
                  <a:moveTo>
                    <a:pt x="133350" y="128588"/>
                  </a:moveTo>
                  <a:cubicBezTo>
                    <a:pt x="133350" y="141739"/>
                    <a:pt x="122689" y="152400"/>
                    <a:pt x="109538" y="152400"/>
                  </a:cubicBezTo>
                  <a:cubicBezTo>
                    <a:pt x="96386" y="152400"/>
                    <a:pt x="85725" y="141739"/>
                    <a:pt x="85725" y="128588"/>
                  </a:cubicBezTo>
                  <a:cubicBezTo>
                    <a:pt x="85725" y="115436"/>
                    <a:pt x="96386" y="104775"/>
                    <a:pt x="109538" y="104775"/>
                  </a:cubicBezTo>
                  <a:cubicBezTo>
                    <a:pt x="122689" y="104775"/>
                    <a:pt x="133350" y="115436"/>
                    <a:pt x="133350" y="128588"/>
                  </a:cubicBezTo>
                  <a:close/>
                  <a:moveTo>
                    <a:pt x="195262" y="152400"/>
                  </a:moveTo>
                  <a:cubicBezTo>
                    <a:pt x="208415" y="152400"/>
                    <a:pt x="219075" y="141739"/>
                    <a:pt x="219075" y="128588"/>
                  </a:cubicBezTo>
                  <a:cubicBezTo>
                    <a:pt x="219075" y="115436"/>
                    <a:pt x="208415" y="104775"/>
                    <a:pt x="195262" y="104775"/>
                  </a:cubicBezTo>
                  <a:cubicBezTo>
                    <a:pt x="182111" y="104775"/>
                    <a:pt x="171450" y="115436"/>
                    <a:pt x="171450" y="128588"/>
                  </a:cubicBezTo>
                  <a:cubicBezTo>
                    <a:pt x="171450" y="141739"/>
                    <a:pt x="182111" y="152400"/>
                    <a:pt x="195262" y="152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04535" y="1580198"/>
              <a:ext cx="15375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智课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88308" y="2651760"/>
            <a:ext cx="4215384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谢谢观看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762500" y="3790950"/>
            <a:ext cx="2667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BFF"/>
              </a:gs>
              <a:gs pos="100000">
                <a:srgbClr val="9B7BFF"/>
              </a:gs>
            </a:gsLst>
            <a:lin ang="270000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740023" y="4187190"/>
            <a:ext cx="67119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D2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让每一页课件，都成为一位会讲、会答、会续接的 AI 老师。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095750" y="5029200"/>
            <a:ext cx="4000500" cy="533400"/>
            <a:chOff x="4095750" y="5029200"/>
            <a:chExt cx="4000500" cy="533400"/>
          </a:xfrm>
        </p:grpSpPr>
        <p:sp>
          <p:nvSpPr>
            <p:cNvPr id="13" name="Rectangle 13"/>
            <p:cNvSpPr/>
            <p:nvPr/>
          </p:nvSpPr>
          <p:spPr>
            <a:xfrm>
              <a:off x="4095750" y="5029200"/>
              <a:ext cx="4000500" cy="5334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8000"/>
                </a:srgbClr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457700" y="5181600"/>
              <a:ext cx="228600" cy="228600"/>
              <a:chOff x="4457700" y="5181600"/>
              <a:chExt cx="228600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572000" y="518160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42862"/>
                    </a:moveTo>
                    <a:lnTo>
                      <a:pt x="35719" y="35719"/>
                    </a:lnTo>
                    <a:lnTo>
                      <a:pt x="42862" y="0"/>
                    </a:lnTo>
                    <a:lnTo>
                      <a:pt x="57150" y="0"/>
                    </a:lnTo>
                    <a:lnTo>
                      <a:pt x="64294" y="35719"/>
                    </a:lnTo>
                    <a:lnTo>
                      <a:pt x="100012" y="42862"/>
                    </a:lnTo>
                    <a:lnTo>
                      <a:pt x="100012" y="57150"/>
                    </a:lnTo>
                    <a:lnTo>
                      <a:pt x="64294" y="64294"/>
                    </a:lnTo>
                    <a:lnTo>
                      <a:pt x="57150" y="100012"/>
                    </a:lnTo>
                    <a:lnTo>
                      <a:pt x="42862" y="100012"/>
                    </a:lnTo>
                    <a:lnTo>
                      <a:pt x="35719" y="64294"/>
                    </a:lnTo>
                    <a:lnTo>
                      <a:pt x="0" y="5715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57700" y="5253038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85725"/>
                    </a:moveTo>
                    <a:lnTo>
                      <a:pt x="0" y="71438"/>
                    </a:lnTo>
                    <a:lnTo>
                      <a:pt x="57150" y="57150"/>
                    </a:lnTo>
                    <a:lnTo>
                      <a:pt x="71438" y="0"/>
                    </a:lnTo>
                    <a:lnTo>
                      <a:pt x="85725" y="0"/>
                    </a:lnTo>
                    <a:lnTo>
                      <a:pt x="100012" y="57150"/>
                    </a:lnTo>
                    <a:lnTo>
                      <a:pt x="157162" y="71438"/>
                    </a:lnTo>
                    <a:lnTo>
                      <a:pt x="157162" y="85725"/>
                    </a:lnTo>
                    <a:lnTo>
                      <a:pt x="100012" y="100012"/>
                    </a:lnTo>
                    <a:lnTo>
                      <a:pt x="85725" y="157162"/>
                    </a:lnTo>
                    <a:lnTo>
                      <a:pt x="71438" y="157162"/>
                    </a:lnTo>
                    <a:lnTo>
                      <a:pt x="57150" y="100012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471988" y="5188744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lnTo>
                      <a:pt x="21431" y="0"/>
                    </a:lnTo>
                    <a:lnTo>
                      <a:pt x="42862" y="21431"/>
                    </a:lnTo>
                    <a:lnTo>
                      <a:pt x="21431" y="42862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14862" y="5353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lnTo>
                      <a:pt x="28575" y="0"/>
                    </a:lnTo>
                    <a:lnTo>
                      <a:pt x="0" y="28575"/>
                    </a:lnTo>
                    <a:lnTo>
                      <a:pt x="28575" y="57150"/>
                    </a:lnTo>
                    <a:lnTo>
                      <a:pt x="57150" y="28575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57725" y="52959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14288" y="28575"/>
                    </a:move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  <a:cubicBezTo>
                      <a:pt x="0" y="22178"/>
                      <a:pt x="6397" y="28575"/>
                      <a:pt x="14288" y="28575"/>
                    </a:cubicBez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415447" y="5226368"/>
              <a:ext cx="33611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泛雅 AI 互动智课系统 · 欢迎交流与试用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445585" y="6249352"/>
            <a:ext cx="13008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86A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参赛作品演示 |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4314</Words>
  <Application>Microsoft Office PowerPoint</Application>
  <PresentationFormat>宽屏</PresentationFormat>
  <Paragraphs>533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 s</cp:lastModifiedBy>
  <cp:revision>4</cp:revision>
  <dcterms:created xsi:type="dcterms:W3CDTF">2013-01-27T09:14:00Z</dcterms:created>
  <dcterms:modified xsi:type="dcterms:W3CDTF">2026-05-31T12:49:58Z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705D112DCE2A4F4BB41C41C4629A86F3_12</vt:lpwstr>
  </property>
  <property fmtid="{D5CDD505-2E9C-101B-9397-08002B2CF9AE}" pid="3" name="KSOProductBuildVer">
    <vt:lpwstr>2052-12.1.0.26895</vt:lpwstr>
  </property>
</Properties>
</file>